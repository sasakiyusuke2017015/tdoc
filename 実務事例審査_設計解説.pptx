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はじめに" id="{e75a4cb4-bb0b-1085-2f7c-78ee0c41826d}">
          <p14:sldIdLst>
            <p14:sldId id="256"/>
            <p14:sldId id="257"/>
          </p14:sldIdLst>
        </p14:section>
        <p14:section name="1 制度の全体像" id="{d5137be3-28b6-a007-bd00-855ad06369f1}">
          <p14:sldIdLst>
            <p14:sldId id="258"/>
            <p14:sldId id="259"/>
            <p14:sldId id="260"/>
            <p14:sldId id="261"/>
            <p14:sldId id="262"/>
          </p14:sldIdLst>
        </p14:section>
        <p14:section name="2 審査の仕組み" id="{0218ec43-8010-afd1-2168-f9f161ef70fc}">
          <p14:sldIdLst>
            <p14:sldId id="263"/>
            <p14:sldId id="264"/>
            <p14:sldId id="265"/>
            <p14:sldId id="266"/>
            <p14:sldId id="267"/>
            <p14:sldId id="268"/>
            <p14:sldId id="269"/>
          </p14:sldIdLst>
        </p14:section>
        <p14:section name="3 申請フォーム" id="{bd05b9ca-32d9-fa62-f590-33a6020ebe2f}">
          <p14:sldIdLst>
            <p14:sldId id="270"/>
            <p14:sldId id="271"/>
          </p14:sldIdLst>
        </p14:section>
        <p14:section name="4 合格事例の公開" id="{c4bc017c-e11c-b52a-f0f6-ad3ac829c9a5}">
          <p14:sldIdLst>
            <p14:sldId id="272"/>
          </p14:sldIdLst>
        </p14:section>
        <p14:section name="5 採点エージェントの検証" id="{8e62b57b-2481-d1cc-cadb-51c3dfa4184c}">
          <p14:sldIdLst>
            <p14:sldId id="273"/>
            <p14:sldId id="274"/>
            <p14:sldId id="275"/>
            <p14:sldId id="276"/>
            <p14:sldId id="277"/>
            <p14:sldId id="278"/>
          </p14:sldIdLst>
        </p14:section>
        <p14:section name="付録" id="{f221259c-1699-1f8e-44f5-9bc165eee198}">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3D3E"/>
                </a:solidFill>
                <a:latin typeface="+mn-lt"/>
              </a:defRPr>
            </a:pPr>
            <a:r>
              <a:rPr sz="1400" b="0" i="0" u="none" strike="noStrike">
                <a:solidFill>
                  <a:srgbClr val="0F3D3E"/>
                </a:solidFill>
                <a:latin typeface="+mn-lt"/>
              </a:rPr>
              <a:t>レベル別の重み</a:t>
            </a:r>
          </a:p>
        </c:rich>
      </c:tx>
      <c:layout/>
      <c:overlay val="0"/>
    </c:title>
    <c:autoTitleDeleted val="0"/>
    <c:plotArea>
      <c:layout/>
      <c:barChart>
        <c:barDir val="bar"/>
        <c:grouping val="percentStacked"/>
        <c:varyColors val="0"/>
        <c:ser>
          <c:idx val="0"/>
          <c:order val="0"/>
          <c:tx>
            <c:strRef>
              <c:f>Sheet1!$B$1</c:f>
              <c:strCache>
                <c:ptCount val="1"/>
                <c:pt idx="0">
                  <c:v>AI活用・品質</c:v>
                </c:pt>
              </c:strCache>
            </c:strRef>
          </c:tx>
          <c:spPr>
            <a:solidFill>
              <a:srgbClr val="5FA89A"/>
            </a:solidFill>
            <a:effectLst/>
          </c:spPr>
          <c:invertIfNegative val="0"/>
          <c:dLbls>
            <c:numFmt formatCode="0&quot;%&quot;"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Lv.2</c:v>
                  </c:pt>
                  <c:pt idx="1">
                    <c:v>Lv.3</c:v>
                  </c:pt>
                  <c:pt idx="2">
                    <c:v>Lv.4</c:v>
                  </c:pt>
                </c:lvl>
              </c:multiLvlStrCache>
            </c:multiLvlStrRef>
          </c:cat>
          <c:val>
            <c:numRef>
              <c:f>Sheet1!$B$2:$B$4</c:f>
              <c:numCache>
                <c:formatCode>General</c:formatCode>
                <c:ptCount val="3"/>
                <c:pt idx="0">
                  <c:v>40</c:v>
                </c:pt>
                <c:pt idx="1">
                  <c:v>30</c:v>
                </c:pt>
                <c:pt idx="2">
                  <c:v>20</c:v>
                </c:pt>
              </c:numCache>
            </c:numRef>
          </c:val>
        </c:ser>
        <c:ser>
          <c:idx val="1"/>
          <c:order val="1"/>
          <c:tx>
            <c:strRef>
              <c:f>Sheet1!$C$1</c:f>
              <c:strCache>
                <c:ptCount val="1"/>
                <c:pt idx="0">
                  <c:v>成果・実運用</c:v>
                </c:pt>
              </c:strCache>
            </c:strRef>
          </c:tx>
          <c:spPr>
            <a:solidFill>
              <a:srgbClr val="1F6E6B"/>
            </a:solidFill>
            <a:effectLst/>
          </c:spPr>
          <c:invertIfNegative val="0"/>
          <c:dLbls>
            <c:numFmt formatCode="0&quot;%&quot;"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Lv.2</c:v>
                  </c:pt>
                  <c:pt idx="1">
                    <c:v>Lv.3</c:v>
                  </c:pt>
                  <c:pt idx="2">
                    <c:v>Lv.4</c:v>
                  </c:pt>
                </c:lvl>
              </c:multiLvlStrCache>
            </c:multiLvlStrRef>
          </c:cat>
          <c:val>
            <c:numRef>
              <c:f>Sheet1!$C$2:$C$4</c:f>
              <c:numCache>
                <c:formatCode>General</c:formatCode>
                <c:ptCount val="3"/>
                <c:pt idx="0">
                  <c:v>40</c:v>
                </c:pt>
                <c:pt idx="1">
                  <c:v>40</c:v>
                </c:pt>
                <c:pt idx="2">
                  <c:v>30</c:v>
                </c:pt>
              </c:numCache>
            </c:numRef>
          </c:val>
        </c:ser>
        <c:ser>
          <c:idx val="2"/>
          <c:order val="2"/>
          <c:tx>
            <c:strRef>
              <c:f>Sheet1!$D$1</c:f>
              <c:strCache>
                <c:ptCount val="1"/>
                <c:pt idx="0">
                  <c:v>再利用・展開・定着</c:v>
                </c:pt>
              </c:strCache>
            </c:strRef>
          </c:tx>
          <c:spPr>
            <a:solidFill>
              <a:srgbClr val="D98A1E"/>
            </a:solidFill>
            <a:effectLst/>
          </c:spPr>
          <c:invertIfNegative val="0"/>
          <c:dLbls>
            <c:numFmt formatCode="0&quot;%&quot;"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Lv.2</c:v>
                  </c:pt>
                  <c:pt idx="1">
                    <c:v>Lv.3</c:v>
                  </c:pt>
                  <c:pt idx="2">
                    <c:v>Lv.4</c:v>
                  </c:pt>
                </c:lvl>
              </c:multiLvlStrCache>
            </c:multiLvlStrRef>
          </c:cat>
          <c:val>
            <c:numRef>
              <c:f>Sheet1!$D$2:$D$4</c:f>
              <c:numCache>
                <c:formatCode>General</c:formatCode>
                <c:ptCount val="3"/>
                <c:pt idx="0">
                  <c:v>20</c:v>
                </c:pt>
                <c:pt idx="1">
                  <c:v>30</c:v>
                </c:pt>
                <c:pt idx="2">
                  <c:v>50</c:v>
                </c:pt>
              </c:numCache>
            </c:numRef>
          </c:val>
        </c:ser>
        <c:dLbls>
          <c:numFmt formatCode="0&quot;%&quot;" sourceLinked="0"/>
          <c:txPr>
            <a:bodyPr/>
            <a:lstStyle/>
            <a:p>
              <a:pPr>
                <a:defRPr b="1" i="0" strike="noStrike" sz="14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本資料は、実務事例審査制度の設計を初見の方が理解できるよう要約したものです。詳細は各設計資料を参照してください。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1828800"/>
            <a:ext cx="10058400" cy="118872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4" type="body" hasCustomPrompt="1"/>
          </p:nvPr>
        </p:nvSpPr>
        <p:spPr>
          <a:xfrm>
            <a:off x="731520" y="3154680"/>
            <a:ext cx="10058400" cy="6400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4" name="Text 0"/>
          <p:cNvSpPr/>
          <p:nvPr>
            <p:ph idx="105" type="body" hasCustomPrompt="1"/>
          </p:nvPr>
        </p:nvSpPr>
        <p:spPr>
          <a:xfrm>
            <a:off x="731520" y="5394960"/>
            <a:ext cx="7772400" cy="548640"/>
          </a:xfrm>
          <a:prstGeom prst="rect">
            <a:avLst/>
          </a:prstGeom>
          <a:noFill/>
          <a:ln/>
        </p:spPr>
        <p:txBody>
          <a:bodyPr wrap="square" rtlCol="0"/>
          <a:lstStyle>
            <a:lvl1pPr indent="0" marL="0">
              <a:buNone/>
              <a:defRPr lang="en-US" sz="1200" dirty="0">
                <a:solidFill>
                  <a:schemeClr val="accent3"/>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4" name="Text 0"/>
          <p:cNvSpPr/>
          <p:nvPr/>
        </p:nvSpPr>
        <p:spPr>
          <a:xfrm>
            <a:off x="548640" y="6473952"/>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AI認定制度 実務事例審査 設計解説</a:t>
            </a:r>
            <a:endParaRPr lang="en-US" sz="9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3" type="title" hasCustomPrompt="1"/>
          </p:nvPr>
        </p:nvSpPr>
        <p:spPr>
          <a:xfrm>
            <a:off x="731520" y="1828800"/>
            <a:ext cx="10058400" cy="1188720"/>
          </a:xfrm>
          <a:prstGeom prst="rect">
            <a:avLst/>
          </a:prstGeom>
          <a:noFill/>
          <a:ln/>
        </p:spPr>
        <p:txBody>
          <a:bodyPr wrap="square" rtlCol="0" anchor="b"/>
          <a:lstStyle/>
          <a:p>
            <a:pPr indent="0" marL="0">
              <a:buNone/>
            </a:pPr>
            <a:r>
              <a:rPr lang="en-US" sz="4000" b="1" dirty="0">
                <a:solidFill>
                  <a:schemeClr val="bg1"/>
                </a:solidFill>
              </a:rPr>
              <a:t>AI認定制度 実務事例審査 設計解説</a:t>
            </a:r>
            <a:endParaRPr lang="en-US" sz="4000" dirty="0"/>
          </a:p>
        </p:txBody>
      </p:sp>
      <p:sp>
        <p:nvSpPr>
          <p:cNvPr id="3" name="Text 0"/>
          <p:cNvSpPr/>
          <p:nvPr>
            <p:ph idx="104" type="body" hasCustomPrompt="1"/>
          </p:nvPr>
        </p:nvSpPr>
        <p:spPr>
          <a:xfrm>
            <a:off x="731520" y="3154680"/>
            <a:ext cx="10058400" cy="640080"/>
          </a:xfrm>
          <a:prstGeom prst="rect">
            <a:avLst/>
          </a:prstGeom>
          <a:noFill/>
          <a:ln/>
        </p:spPr>
        <p:txBody>
          <a:bodyPr wrap="square" rtlCol="0" anchor="t"/>
          <a:lstStyle/>
          <a:p>
            <a:pPr indent="0" marL="0">
              <a:buNone/>
            </a:pPr>
            <a:r>
              <a:rPr lang="en-US" sz="2000" dirty="0">
                <a:solidFill>
                  <a:schemeClr val="bg2"/>
                </a:solidFill>
              </a:rPr>
              <a:t>Lv.2〜Lv.4 ― はじめて担当する方のための全体ガイド</a:t>
            </a:r>
            <a:endParaRPr lang="en-US" sz="2000" dirty="0"/>
          </a:p>
        </p:txBody>
      </p:sp>
      <p:sp>
        <p:nvSpPr>
          <p:cNvPr id="4" name="Text 0"/>
          <p:cNvSpPr/>
          <p:nvPr>
            <p:ph idx="105" type="body" hasCustomPrompt="1"/>
          </p:nvPr>
        </p:nvSpPr>
        <p:spPr>
          <a:xfrm>
            <a:off x="731520" y="5394960"/>
            <a:ext cx="7772400" cy="548640"/>
          </a:xfrm>
          <a:prstGeom prst="rect">
            <a:avLst/>
          </a:prstGeom>
          <a:noFill/>
          <a:ln/>
        </p:spPr>
        <p:txBody>
          <a:bodyPr wrap="square" rtlCol="0" anchor="t"/>
          <a:lstStyle/>
          <a:p>
            <a:pPr indent="0" marL="0">
              <a:buNone/>
            </a:pPr>
            <a:r>
              <a:rPr lang="en-US" sz="1200" dirty="0">
                <a:solidFill>
                  <a:schemeClr val="accent3"/>
                </a:solidFill>
              </a:rPr>
              <a:t>業務引継ぎ資料｜2026年10月</a:t>
            </a:r>
            <a:endParaRPr lang="en-US" sz="1200" dirty="0"/>
          </a:p>
          <a:p>
            <a:pPr indent="0" marL="0">
              <a:buNone/>
            </a:pPr>
            <a:r>
              <a:rPr lang="en-US" sz="1200" dirty="0">
                <a:solidFill>
                  <a:schemeClr val="accent3"/>
                </a:solidFill>
              </a:rPr>
              <a:t>基準資料：AI認定制度 確定案（Lv.2〜Lv.4）／設計資料01〜04（v1.0・2026年9月5日）</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はじめに</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この資料のゴールと、参照する5つの資料</a:t>
            </a:r>
            <a:endParaRPr lang="en-US" sz="2400" dirty="0"/>
          </a:p>
        </p:txBody>
      </p:sp>
      <p:sp>
        <p:nvSpPr>
          <p:cNvPr id="4" name="Text 2"/>
          <p:cNvSpPr txBox="1"/>
          <p:nvPr/>
        </p:nvSpPr>
        <p:spPr>
          <a:xfrm>
            <a:off x="548640" y="1508760"/>
            <a:ext cx="4206240" cy="365760"/>
          </a:xfrm>
          <a:prstGeom prst="rect">
            <a:avLst/>
          </a:prstGeom>
          <a:noFill/>
          <a:ln/>
        </p:spPr>
        <p:txBody>
          <a:bodyPr wrap="square" lIns="0" tIns="0" rIns="0" bIns="0" rtlCol="0" anchor="t"/>
          <a:lstStyle/>
          <a:p>
            <a:pPr indent="0" marL="0">
              <a:buNone/>
            </a:pPr>
            <a:r>
              <a:rPr lang="en-US" sz="1800" b="1" dirty="0">
                <a:solidFill>
                  <a:schemeClr val="tx2"/>
                </a:solidFill>
              </a:rPr>
              <a:t>この資料でわかること</a:t>
            </a:r>
            <a:endParaRPr lang="en-US" sz="1800" dirty="0"/>
          </a:p>
        </p:txBody>
      </p:sp>
      <p:sp>
        <p:nvSpPr>
          <p:cNvPr id="5" name="Shape 3"/>
          <p:cNvSpPr/>
          <p:nvPr/>
        </p:nvSpPr>
        <p:spPr>
          <a:xfrm>
            <a:off x="548640" y="2011680"/>
            <a:ext cx="457200" cy="457200"/>
          </a:xfrm>
          <a:prstGeom prst="ellipse">
            <a:avLst/>
          </a:prstGeom>
          <a:solidFill>
            <a:schemeClr val="accent1"/>
          </a:solidFill>
          <a:ln w="6350">
            <a:solidFill>
              <a:schemeClr val="accent1"/>
            </a:solidFill>
            <a:prstDash val="solid"/>
          </a:ln>
        </p:spPr>
      </p:sp>
      <p:sp>
        <p:nvSpPr>
          <p:cNvPr id="6" name="Text 4"/>
          <p:cNvSpPr txBox="1"/>
          <p:nvPr/>
        </p:nvSpPr>
        <p:spPr>
          <a:xfrm>
            <a:off x="54864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188720" y="1993392"/>
            <a:ext cx="3566160" cy="731520"/>
          </a:xfrm>
          <a:prstGeom prst="rect">
            <a:avLst/>
          </a:prstGeom>
          <a:noFill/>
          <a:ln/>
        </p:spPr>
        <p:txBody>
          <a:bodyPr wrap="square" lIns="0" tIns="0" rIns="0" bIns="0" rtlCol="0" anchor="ctr"/>
          <a:lstStyle/>
          <a:p>
            <a:pPr indent="0" marL="0">
              <a:buNone/>
            </a:pPr>
            <a:r>
              <a:rPr lang="en-US" sz="1500" dirty="0">
                <a:solidFill>
                  <a:schemeClr val="tx1"/>
                </a:solidFill>
              </a:rPr>
              <a:t>制度の目的と全体像を、自分の言葉で説明できる</a:t>
            </a:r>
            <a:endParaRPr lang="en-US" sz="1500" dirty="0"/>
          </a:p>
        </p:txBody>
      </p:sp>
      <p:sp>
        <p:nvSpPr>
          <p:cNvPr id="8" name="Shape 6"/>
          <p:cNvSpPr/>
          <p:nvPr/>
        </p:nvSpPr>
        <p:spPr>
          <a:xfrm>
            <a:off x="548640" y="2926080"/>
            <a:ext cx="457200" cy="457200"/>
          </a:xfrm>
          <a:prstGeom prst="ellipse">
            <a:avLst/>
          </a:prstGeom>
          <a:solidFill>
            <a:schemeClr val="accent1"/>
          </a:solidFill>
          <a:ln w="6350">
            <a:solidFill>
              <a:schemeClr val="accent1"/>
            </a:solidFill>
            <a:prstDash val="solid"/>
          </a:ln>
        </p:spPr>
      </p:sp>
      <p:sp>
        <p:nvSpPr>
          <p:cNvPr id="9" name="Text 7"/>
          <p:cNvSpPr txBox="1"/>
          <p:nvPr/>
        </p:nvSpPr>
        <p:spPr>
          <a:xfrm>
            <a:off x="54864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188720" y="2907792"/>
            <a:ext cx="3566160" cy="731520"/>
          </a:xfrm>
          <a:prstGeom prst="rect">
            <a:avLst/>
          </a:prstGeom>
          <a:noFill/>
          <a:ln/>
        </p:spPr>
        <p:txBody>
          <a:bodyPr wrap="square" lIns="0" tIns="0" rIns="0" bIns="0" rtlCol="0" anchor="ctr"/>
          <a:lstStyle/>
          <a:p>
            <a:pPr indent="0" marL="0">
              <a:buNone/>
            </a:pPr>
            <a:r>
              <a:rPr lang="en-US" sz="1500" dirty="0">
                <a:solidFill>
                  <a:schemeClr val="tx1"/>
                </a:solidFill>
              </a:rPr>
              <a:t>申請から合否・公開、採点AIの検証までの流れを追える</a:t>
            </a:r>
            <a:endParaRPr lang="en-US" sz="1500" dirty="0"/>
          </a:p>
        </p:txBody>
      </p:sp>
      <p:sp>
        <p:nvSpPr>
          <p:cNvPr id="11" name="Shape 9"/>
          <p:cNvSpPr/>
          <p:nvPr/>
        </p:nvSpPr>
        <p:spPr>
          <a:xfrm>
            <a:off x="548640" y="3840480"/>
            <a:ext cx="457200" cy="457200"/>
          </a:xfrm>
          <a:prstGeom prst="ellipse">
            <a:avLst/>
          </a:prstGeom>
          <a:solidFill>
            <a:schemeClr val="accent1"/>
          </a:solidFill>
          <a:ln w="6350">
            <a:solidFill>
              <a:schemeClr val="accent1"/>
            </a:solidFill>
            <a:prstDash val="solid"/>
          </a:ln>
        </p:spPr>
      </p:sp>
      <p:sp>
        <p:nvSpPr>
          <p:cNvPr id="12" name="Text 10"/>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3822192"/>
            <a:ext cx="3566160" cy="731520"/>
          </a:xfrm>
          <a:prstGeom prst="rect">
            <a:avLst/>
          </a:prstGeom>
          <a:noFill/>
          <a:ln/>
        </p:spPr>
        <p:txBody>
          <a:bodyPr wrap="square" lIns="0" tIns="0" rIns="0" bIns="0" rtlCol="0" anchor="ctr"/>
          <a:lstStyle/>
          <a:p>
            <a:pPr indent="0" marL="0">
              <a:buNone/>
            </a:pPr>
            <a:r>
              <a:rPr lang="en-US" sz="1500" dirty="0">
                <a:solidFill>
                  <a:schemeClr val="tx1"/>
                </a:solidFill>
              </a:rPr>
              <a:t>詳細を調べるとき、どの資料を見ればよいか分かる</a:t>
            </a:r>
            <a:endParaRPr lang="en-US" sz="1500" dirty="0"/>
          </a:p>
        </p:txBody>
      </p:sp>
      <p:sp>
        <p:nvSpPr>
          <p:cNvPr id="14" name="Shape 12"/>
          <p:cNvSpPr/>
          <p:nvPr/>
        </p:nvSpPr>
        <p:spPr>
          <a:xfrm>
            <a:off x="548640" y="4983480"/>
            <a:ext cx="4206240" cy="1051560"/>
          </a:xfrm>
          <a:prstGeom prst="roundRect">
            <a:avLst>
              <a:gd name="adj" fmla="val 6957"/>
            </a:avLst>
          </a:prstGeom>
          <a:solidFill>
            <a:schemeClr val="accent2">
              <a:alpha val="12000"/>
            </a:schemeClr>
          </a:solidFill>
          <a:ln w="9525">
            <a:solidFill>
              <a:schemeClr val="accent2">
                <a:alpha val="50000"/>
              </a:schemeClr>
            </a:solidFill>
            <a:prstDash val="solid"/>
          </a:ln>
        </p:spPr>
      </p:sp>
      <p:sp>
        <p:nvSpPr>
          <p:cNvPr id="15" name="Text 13"/>
          <p:cNvSpPr txBox="1"/>
          <p:nvPr/>
        </p:nvSpPr>
        <p:spPr>
          <a:xfrm>
            <a:off x="731520" y="5102352"/>
            <a:ext cx="3840480" cy="274320"/>
          </a:xfrm>
          <a:prstGeom prst="rect">
            <a:avLst/>
          </a:prstGeom>
          <a:noFill/>
          <a:ln/>
        </p:spPr>
        <p:txBody>
          <a:bodyPr wrap="square" lIns="0" tIns="0" rIns="0" bIns="0" rtlCol="0" anchor="t"/>
          <a:lstStyle/>
          <a:p>
            <a:pPr indent="0" marL="0">
              <a:buNone/>
            </a:pPr>
            <a:r>
              <a:rPr lang="en-US" sz="1400" b="1" dirty="0">
                <a:solidFill>
                  <a:schemeClr val="tx2"/>
                </a:solidFill>
              </a:rPr>
              <a:t>用語に迷ったら</a:t>
            </a:r>
            <a:endParaRPr lang="en-US" sz="1400" dirty="0"/>
          </a:p>
        </p:txBody>
      </p:sp>
      <p:sp>
        <p:nvSpPr>
          <p:cNvPr id="16" name="Text 14"/>
          <p:cNvSpPr txBox="1"/>
          <p:nvPr/>
        </p:nvSpPr>
        <p:spPr>
          <a:xfrm>
            <a:off x="731520" y="5394960"/>
            <a:ext cx="3840480" cy="548640"/>
          </a:xfrm>
          <a:prstGeom prst="rect">
            <a:avLst/>
          </a:prstGeom>
          <a:noFill/>
          <a:ln/>
        </p:spPr>
        <p:txBody>
          <a:bodyPr wrap="square" lIns="0" tIns="0" rIns="0" bIns="0" rtlCol="0" anchor="t"/>
          <a:lstStyle/>
          <a:p>
            <a:pPr indent="0" marL="0">
              <a:buNone/>
            </a:pPr>
            <a:r>
              <a:rPr lang="en-US" sz="1300" dirty="0">
                <a:solidFill>
                  <a:schemeClr val="tx1"/>
                </a:solidFill>
              </a:rPr>
              <a:t>巻末の「付録3 用語集」に、Gate・Evidenceなどの意味をまとめています</a:t>
            </a:r>
            <a:endParaRPr lang="en-US" sz="1300" dirty="0"/>
          </a:p>
        </p:txBody>
      </p:sp>
      <p:sp>
        <p:nvSpPr>
          <p:cNvPr id="17" name="Text 15"/>
          <p:cNvSpPr txBox="1"/>
          <p:nvPr/>
        </p:nvSpPr>
        <p:spPr>
          <a:xfrm>
            <a:off x="5212080" y="1508760"/>
            <a:ext cx="6400800" cy="365760"/>
          </a:xfrm>
          <a:prstGeom prst="rect">
            <a:avLst/>
          </a:prstGeom>
          <a:noFill/>
          <a:ln/>
        </p:spPr>
        <p:txBody>
          <a:bodyPr wrap="square" lIns="0" tIns="0" rIns="0" bIns="0" rtlCol="0" anchor="t"/>
          <a:lstStyle/>
          <a:p>
            <a:pPr indent="0" marL="0">
              <a:buNone/>
            </a:pPr>
            <a:r>
              <a:rPr lang="en-US" sz="1800" b="1" dirty="0">
                <a:solidFill>
                  <a:schemeClr val="tx2"/>
                </a:solidFill>
              </a:rPr>
              <a:t>参照する資料</a:t>
            </a:r>
            <a:endParaRPr lang="en-US" sz="1800" dirty="0"/>
          </a:p>
        </p:txBody>
      </p:sp>
      <p:sp>
        <p:nvSpPr>
          <p:cNvPr id="18" name="Shape 16"/>
          <p:cNvSpPr/>
          <p:nvPr/>
        </p:nvSpPr>
        <p:spPr>
          <a:xfrm>
            <a:off x="5212080" y="1965960"/>
            <a:ext cx="6428232" cy="713232"/>
          </a:xfrm>
          <a:prstGeom prst="roundRect">
            <a:avLst>
              <a:gd name="adj" fmla="val 10256"/>
            </a:avLst>
          </a:prstGeom>
          <a:solidFill>
            <a:schemeClr val="bg2"/>
          </a:solidFill>
          <a:ln w="6350">
            <a:solidFill>
              <a:schemeClr val="bg2"/>
            </a:solidFill>
            <a:prstDash val="solid"/>
          </a:ln>
        </p:spPr>
      </p:sp>
      <p:sp>
        <p:nvSpPr>
          <p:cNvPr id="19" name="Shape 17"/>
          <p:cNvSpPr/>
          <p:nvPr/>
        </p:nvSpPr>
        <p:spPr>
          <a:xfrm>
            <a:off x="5303520" y="2093976"/>
            <a:ext cx="914400" cy="457200"/>
          </a:xfrm>
          <a:prstGeom prst="roundRect">
            <a:avLst>
              <a:gd name="adj" fmla="val 16000"/>
            </a:avLst>
          </a:prstGeom>
          <a:solidFill>
            <a:schemeClr val="tx2"/>
          </a:solidFill>
          <a:ln w="6350">
            <a:solidFill>
              <a:schemeClr val="tx2"/>
            </a:solidFill>
            <a:prstDash val="solid"/>
          </a:ln>
        </p:spPr>
      </p:sp>
      <p:sp>
        <p:nvSpPr>
          <p:cNvPr id="20" name="Text 18"/>
          <p:cNvSpPr txBox="1"/>
          <p:nvPr/>
        </p:nvSpPr>
        <p:spPr>
          <a:xfrm>
            <a:off x="5303520" y="2093976"/>
            <a:ext cx="914400" cy="457200"/>
          </a:xfrm>
          <a:prstGeom prst="rect">
            <a:avLst/>
          </a:prstGeom>
          <a:noFill/>
          <a:ln/>
        </p:spPr>
        <p:txBody>
          <a:bodyPr wrap="square" lIns="0" tIns="0" rIns="0" bIns="0" rtlCol="0" anchor="ctr"/>
          <a:lstStyle/>
          <a:p>
            <a:pPr algn="ctr" indent="0" marL="0">
              <a:buNone/>
            </a:pPr>
            <a:r>
              <a:rPr lang="en-US" sz="1400" b="1" dirty="0">
                <a:solidFill>
                  <a:schemeClr val="bg1"/>
                </a:solidFill>
              </a:rPr>
              <a:t>確定案</a:t>
            </a:r>
            <a:endParaRPr lang="en-US" sz="1400" dirty="0"/>
          </a:p>
        </p:txBody>
      </p:sp>
      <p:sp>
        <p:nvSpPr>
          <p:cNvPr id="21" name="Text 19"/>
          <p:cNvSpPr txBox="1"/>
          <p:nvPr/>
        </p:nvSpPr>
        <p:spPr>
          <a:xfrm>
            <a:off x="6400800" y="2039112"/>
            <a:ext cx="5120640" cy="310896"/>
          </a:xfrm>
          <a:prstGeom prst="rect">
            <a:avLst/>
          </a:prstGeom>
          <a:noFill/>
          <a:ln/>
        </p:spPr>
        <p:txBody>
          <a:bodyPr wrap="square" lIns="0" tIns="0" rIns="0" bIns="0" rtlCol="0" anchor="t"/>
          <a:lstStyle/>
          <a:p>
            <a:pPr indent="0" marL="0">
              <a:buNone/>
            </a:pPr>
            <a:r>
              <a:rPr lang="en-US" sz="1400" b="1" dirty="0">
                <a:solidFill>
                  <a:schemeClr val="tx2"/>
                </a:solidFill>
              </a:rPr>
              <a:t>AI認定制度 確定案（Lv.2〜Lv.4）</a:t>
            </a:r>
            <a:endParaRPr lang="en-US" sz="1400" dirty="0"/>
          </a:p>
        </p:txBody>
      </p:sp>
      <p:sp>
        <p:nvSpPr>
          <p:cNvPr id="22" name="Text 20"/>
          <p:cNvSpPr txBox="1"/>
          <p:nvPr/>
        </p:nvSpPr>
        <p:spPr>
          <a:xfrm>
            <a:off x="6400800" y="2350008"/>
            <a:ext cx="5120640" cy="274320"/>
          </a:xfrm>
          <a:prstGeom prst="rect">
            <a:avLst/>
          </a:prstGeom>
          <a:noFill/>
          <a:ln/>
        </p:spPr>
        <p:txBody>
          <a:bodyPr wrap="square" lIns="0" tIns="0" rIns="0" bIns="0" rtlCol="0" anchor="t"/>
          <a:lstStyle/>
          <a:p>
            <a:pPr indent="0" marL="0">
              <a:buNone/>
            </a:pPr>
            <a:r>
              <a:rPr lang="en-US" sz="1200" dirty="0">
                <a:solidFill>
                  <a:schemeClr val="tx1"/>
                </a:solidFill>
              </a:rPr>
              <a:t>関係者で合意済みの上位ルール。すべての設計の前提</a:t>
            </a:r>
            <a:endParaRPr lang="en-US" sz="1200" dirty="0"/>
          </a:p>
        </p:txBody>
      </p:sp>
      <p:sp>
        <p:nvSpPr>
          <p:cNvPr id="23" name="Shape 21"/>
          <p:cNvSpPr/>
          <p:nvPr/>
        </p:nvSpPr>
        <p:spPr>
          <a:xfrm>
            <a:off x="5212080" y="2788920"/>
            <a:ext cx="6428232" cy="713232"/>
          </a:xfrm>
          <a:prstGeom prst="roundRect">
            <a:avLst>
              <a:gd name="adj" fmla="val 10256"/>
            </a:avLst>
          </a:prstGeom>
          <a:solidFill>
            <a:schemeClr val="bg2"/>
          </a:solidFill>
          <a:ln w="6350">
            <a:solidFill>
              <a:schemeClr val="bg2"/>
            </a:solidFill>
            <a:prstDash val="solid"/>
          </a:ln>
        </p:spPr>
      </p:sp>
      <p:sp>
        <p:nvSpPr>
          <p:cNvPr id="24" name="Shape 22"/>
          <p:cNvSpPr/>
          <p:nvPr/>
        </p:nvSpPr>
        <p:spPr>
          <a:xfrm>
            <a:off x="5303520" y="2916936"/>
            <a:ext cx="914400" cy="457200"/>
          </a:xfrm>
          <a:prstGeom prst="roundRect">
            <a:avLst>
              <a:gd name="adj" fmla="val 16000"/>
            </a:avLst>
          </a:prstGeom>
          <a:solidFill>
            <a:schemeClr val="accent1"/>
          </a:solidFill>
          <a:ln w="6350">
            <a:solidFill>
              <a:schemeClr val="accent1"/>
            </a:solidFill>
            <a:prstDash val="solid"/>
          </a:ln>
        </p:spPr>
      </p:sp>
      <p:sp>
        <p:nvSpPr>
          <p:cNvPr id="25" name="Text 23"/>
          <p:cNvSpPr txBox="1"/>
          <p:nvPr/>
        </p:nvSpPr>
        <p:spPr>
          <a:xfrm>
            <a:off x="5303520" y="2916936"/>
            <a:ext cx="914400" cy="457200"/>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26" name="Text 24"/>
          <p:cNvSpPr txBox="1"/>
          <p:nvPr/>
        </p:nvSpPr>
        <p:spPr>
          <a:xfrm>
            <a:off x="6400800" y="2862072"/>
            <a:ext cx="5120640" cy="310896"/>
          </a:xfrm>
          <a:prstGeom prst="rect">
            <a:avLst/>
          </a:prstGeom>
          <a:noFill/>
          <a:ln/>
        </p:spPr>
        <p:txBody>
          <a:bodyPr wrap="square" lIns="0" tIns="0" rIns="0" bIns="0" rtlCol="0" anchor="t"/>
          <a:lstStyle/>
          <a:p>
            <a:pPr indent="0" marL="0">
              <a:buNone/>
            </a:pPr>
            <a:r>
              <a:rPr lang="en-US" sz="1400" b="1" dirty="0">
                <a:solidFill>
                  <a:schemeClr val="tx2"/>
                </a:solidFill>
              </a:rPr>
              <a:t>実務事例審査設計書</a:t>
            </a:r>
            <a:endParaRPr lang="en-US" sz="1400" dirty="0"/>
          </a:p>
        </p:txBody>
      </p:sp>
      <p:sp>
        <p:nvSpPr>
          <p:cNvPr id="27" name="Text 25"/>
          <p:cNvSpPr txBox="1"/>
          <p:nvPr/>
        </p:nvSpPr>
        <p:spPr>
          <a:xfrm>
            <a:off x="6400800" y="3172968"/>
            <a:ext cx="5120640" cy="274320"/>
          </a:xfrm>
          <a:prstGeom prst="rect">
            <a:avLst/>
          </a:prstGeom>
          <a:noFill/>
          <a:ln/>
        </p:spPr>
        <p:txBody>
          <a:bodyPr wrap="square" lIns="0" tIns="0" rIns="0" bIns="0" rtlCol="0" anchor="t"/>
          <a:lstStyle/>
          <a:p>
            <a:pPr indent="0" marL="0">
              <a:buNone/>
            </a:pPr>
            <a:r>
              <a:rPr lang="en-US" sz="1200" dirty="0">
                <a:solidFill>
                  <a:schemeClr val="tx1"/>
                </a:solidFill>
              </a:rPr>
              <a:t>審査の考え方・全体の流れ・重要決定事項（親資料）</a:t>
            </a:r>
            <a:endParaRPr lang="en-US" sz="1200" dirty="0"/>
          </a:p>
        </p:txBody>
      </p:sp>
      <p:sp>
        <p:nvSpPr>
          <p:cNvPr id="28" name="Shape 26"/>
          <p:cNvSpPr/>
          <p:nvPr/>
        </p:nvSpPr>
        <p:spPr>
          <a:xfrm>
            <a:off x="5212080" y="3611880"/>
            <a:ext cx="6428232" cy="713232"/>
          </a:xfrm>
          <a:prstGeom prst="roundRect">
            <a:avLst>
              <a:gd name="adj" fmla="val 10256"/>
            </a:avLst>
          </a:prstGeom>
          <a:solidFill>
            <a:schemeClr val="bg2"/>
          </a:solidFill>
          <a:ln w="6350">
            <a:solidFill>
              <a:schemeClr val="bg2"/>
            </a:solidFill>
            <a:prstDash val="solid"/>
          </a:ln>
        </p:spPr>
      </p:sp>
      <p:sp>
        <p:nvSpPr>
          <p:cNvPr id="29" name="Shape 27"/>
          <p:cNvSpPr/>
          <p:nvPr/>
        </p:nvSpPr>
        <p:spPr>
          <a:xfrm>
            <a:off x="5303520" y="3739896"/>
            <a:ext cx="914400" cy="457200"/>
          </a:xfrm>
          <a:prstGeom prst="roundRect">
            <a:avLst>
              <a:gd name="adj" fmla="val 16000"/>
            </a:avLst>
          </a:prstGeom>
          <a:solidFill>
            <a:schemeClr val="accent1"/>
          </a:solidFill>
          <a:ln w="6350">
            <a:solidFill>
              <a:schemeClr val="accent1"/>
            </a:solidFill>
            <a:prstDash val="solid"/>
          </a:ln>
        </p:spPr>
      </p:sp>
      <p:sp>
        <p:nvSpPr>
          <p:cNvPr id="30" name="Text 28"/>
          <p:cNvSpPr txBox="1"/>
          <p:nvPr/>
        </p:nvSpPr>
        <p:spPr>
          <a:xfrm>
            <a:off x="5303520" y="3739896"/>
            <a:ext cx="914400" cy="457200"/>
          </a:xfrm>
          <a:prstGeom prst="rect">
            <a:avLst/>
          </a:prstGeom>
          <a:no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31" name="Text 29"/>
          <p:cNvSpPr txBox="1"/>
          <p:nvPr/>
        </p:nvSpPr>
        <p:spPr>
          <a:xfrm>
            <a:off x="6400800" y="3685032"/>
            <a:ext cx="5120640" cy="310896"/>
          </a:xfrm>
          <a:prstGeom prst="rect">
            <a:avLst/>
          </a:prstGeom>
          <a:noFill/>
          <a:ln/>
        </p:spPr>
        <p:txBody>
          <a:bodyPr wrap="square" lIns="0" tIns="0" rIns="0" bIns="0" rtlCol="0" anchor="t"/>
          <a:lstStyle/>
          <a:p>
            <a:pPr indent="0" marL="0">
              <a:buNone/>
            </a:pPr>
            <a:r>
              <a:rPr lang="en-US" sz="1400" b="1" dirty="0">
                <a:solidFill>
                  <a:schemeClr val="tx2"/>
                </a:solidFill>
              </a:rPr>
              <a:t>審査基準・ルーブリック</a:t>
            </a:r>
            <a:endParaRPr lang="en-US" sz="1400" dirty="0"/>
          </a:p>
        </p:txBody>
      </p:sp>
      <p:sp>
        <p:nvSpPr>
          <p:cNvPr id="32" name="Text 30"/>
          <p:cNvSpPr txBox="1"/>
          <p:nvPr/>
        </p:nvSpPr>
        <p:spPr>
          <a:xfrm>
            <a:off x="6400800" y="3995928"/>
            <a:ext cx="5120640" cy="274320"/>
          </a:xfrm>
          <a:prstGeom prst="rect">
            <a:avLst/>
          </a:prstGeom>
          <a:noFill/>
          <a:ln/>
        </p:spPr>
        <p:txBody>
          <a:bodyPr wrap="square" lIns="0" tIns="0" rIns="0" bIns="0" rtlCol="0" anchor="t"/>
          <a:lstStyle/>
          <a:p>
            <a:pPr indent="0" marL="0">
              <a:buNone/>
            </a:pPr>
            <a:r>
              <a:rPr lang="en-US" sz="1200" dirty="0">
                <a:solidFill>
                  <a:schemeClr val="tx1"/>
                </a:solidFill>
              </a:rPr>
              <a:t>採点基準（0〜3点）・Gate・判定例</a:t>
            </a:r>
            <a:endParaRPr lang="en-US" sz="1200" dirty="0"/>
          </a:p>
        </p:txBody>
      </p:sp>
      <p:sp>
        <p:nvSpPr>
          <p:cNvPr id="33" name="Shape 31"/>
          <p:cNvSpPr/>
          <p:nvPr/>
        </p:nvSpPr>
        <p:spPr>
          <a:xfrm>
            <a:off x="5212080" y="4434840"/>
            <a:ext cx="6428232" cy="713232"/>
          </a:xfrm>
          <a:prstGeom prst="roundRect">
            <a:avLst>
              <a:gd name="adj" fmla="val 10256"/>
            </a:avLst>
          </a:prstGeom>
          <a:solidFill>
            <a:schemeClr val="bg2"/>
          </a:solidFill>
          <a:ln w="6350">
            <a:solidFill>
              <a:schemeClr val="bg2"/>
            </a:solidFill>
            <a:prstDash val="solid"/>
          </a:ln>
        </p:spPr>
      </p:sp>
      <p:sp>
        <p:nvSpPr>
          <p:cNvPr id="34" name="Shape 32"/>
          <p:cNvSpPr/>
          <p:nvPr/>
        </p:nvSpPr>
        <p:spPr>
          <a:xfrm>
            <a:off x="5303520" y="4562856"/>
            <a:ext cx="914400" cy="457200"/>
          </a:xfrm>
          <a:prstGeom prst="roundRect">
            <a:avLst>
              <a:gd name="adj" fmla="val 16000"/>
            </a:avLst>
          </a:prstGeom>
          <a:solidFill>
            <a:schemeClr val="accent1"/>
          </a:solidFill>
          <a:ln w="6350">
            <a:solidFill>
              <a:schemeClr val="accent1"/>
            </a:solidFill>
            <a:prstDash val="solid"/>
          </a:ln>
        </p:spPr>
      </p:sp>
      <p:sp>
        <p:nvSpPr>
          <p:cNvPr id="35" name="Text 33"/>
          <p:cNvSpPr txBox="1"/>
          <p:nvPr/>
        </p:nvSpPr>
        <p:spPr>
          <a:xfrm>
            <a:off x="5303520" y="4562856"/>
            <a:ext cx="914400" cy="457200"/>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36" name="Text 34"/>
          <p:cNvSpPr txBox="1"/>
          <p:nvPr/>
        </p:nvSpPr>
        <p:spPr>
          <a:xfrm>
            <a:off x="6400800" y="4507992"/>
            <a:ext cx="5120640" cy="310896"/>
          </a:xfrm>
          <a:prstGeom prst="rect">
            <a:avLst/>
          </a:prstGeom>
          <a:noFill/>
          <a:ln/>
        </p:spPr>
        <p:txBody>
          <a:bodyPr wrap="square" lIns="0" tIns="0" rIns="0" bIns="0" rtlCol="0" anchor="t"/>
          <a:lstStyle/>
          <a:p>
            <a:pPr indent="0" marL="0">
              <a:buNone/>
            </a:pPr>
            <a:r>
              <a:rPr lang="en-US" sz="1400" b="1" dirty="0">
                <a:solidFill>
                  <a:schemeClr val="tx2"/>
                </a:solidFill>
              </a:rPr>
              <a:t>申請フォーム・審査フロー設計書</a:t>
            </a:r>
            <a:endParaRPr lang="en-US" sz="1400" dirty="0"/>
          </a:p>
        </p:txBody>
      </p:sp>
      <p:sp>
        <p:nvSpPr>
          <p:cNvPr id="37" name="Text 35"/>
          <p:cNvSpPr txBox="1"/>
          <p:nvPr/>
        </p:nvSpPr>
        <p:spPr>
          <a:xfrm>
            <a:off x="6400800" y="4818888"/>
            <a:ext cx="5120640" cy="274320"/>
          </a:xfrm>
          <a:prstGeom prst="rect">
            <a:avLst/>
          </a:prstGeom>
          <a:noFill/>
          <a:ln/>
        </p:spPr>
        <p:txBody>
          <a:bodyPr wrap="square" lIns="0" tIns="0" rIns="0" bIns="0" rtlCol="0" anchor="t"/>
          <a:lstStyle/>
          <a:p>
            <a:pPr indent="0" marL="0">
              <a:buNone/>
            </a:pPr>
            <a:r>
              <a:rPr lang="en-US" sz="1200" dirty="0">
                <a:solidFill>
                  <a:schemeClr val="tx1"/>
                </a:solidFill>
              </a:rPr>
              <a:t>質問項目・条件分岐・画面・保存データ</a:t>
            </a:r>
            <a:endParaRPr lang="en-US" sz="1200" dirty="0"/>
          </a:p>
        </p:txBody>
      </p:sp>
      <p:sp>
        <p:nvSpPr>
          <p:cNvPr id="38" name="Shape 36"/>
          <p:cNvSpPr/>
          <p:nvPr/>
        </p:nvSpPr>
        <p:spPr>
          <a:xfrm>
            <a:off x="5212080" y="5257800"/>
            <a:ext cx="6428232" cy="713232"/>
          </a:xfrm>
          <a:prstGeom prst="roundRect">
            <a:avLst>
              <a:gd name="adj" fmla="val 10256"/>
            </a:avLst>
          </a:prstGeom>
          <a:solidFill>
            <a:schemeClr val="bg2"/>
          </a:solidFill>
          <a:ln w="6350">
            <a:solidFill>
              <a:schemeClr val="bg2"/>
            </a:solidFill>
            <a:prstDash val="solid"/>
          </a:ln>
        </p:spPr>
      </p:sp>
      <p:sp>
        <p:nvSpPr>
          <p:cNvPr id="39" name="Shape 37"/>
          <p:cNvSpPr/>
          <p:nvPr/>
        </p:nvSpPr>
        <p:spPr>
          <a:xfrm>
            <a:off x="5303520" y="5385816"/>
            <a:ext cx="914400" cy="457200"/>
          </a:xfrm>
          <a:prstGeom prst="roundRect">
            <a:avLst>
              <a:gd name="adj" fmla="val 16000"/>
            </a:avLst>
          </a:prstGeom>
          <a:solidFill>
            <a:schemeClr val="accent1"/>
          </a:solidFill>
          <a:ln w="6350">
            <a:solidFill>
              <a:schemeClr val="accent1"/>
            </a:solidFill>
            <a:prstDash val="solid"/>
          </a:ln>
        </p:spPr>
      </p:sp>
      <p:sp>
        <p:nvSpPr>
          <p:cNvPr id="40" name="Text 38"/>
          <p:cNvSpPr txBox="1"/>
          <p:nvPr/>
        </p:nvSpPr>
        <p:spPr>
          <a:xfrm>
            <a:off x="5303520" y="5385816"/>
            <a:ext cx="914400" cy="457200"/>
          </a:xfrm>
          <a:prstGeom prst="rect">
            <a:avLst/>
          </a:prstGeom>
          <a:no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41" name="Text 39"/>
          <p:cNvSpPr txBox="1"/>
          <p:nvPr/>
        </p:nvSpPr>
        <p:spPr>
          <a:xfrm>
            <a:off x="6400800" y="5330952"/>
            <a:ext cx="5120640" cy="310896"/>
          </a:xfrm>
          <a:prstGeom prst="rect">
            <a:avLst/>
          </a:prstGeom>
          <a:noFill/>
          <a:ln/>
        </p:spPr>
        <p:txBody>
          <a:bodyPr wrap="square" lIns="0" tIns="0" rIns="0" bIns="0" rtlCol="0" anchor="t"/>
          <a:lstStyle/>
          <a:p>
            <a:pPr indent="0" marL="0">
              <a:buNone/>
            </a:pPr>
            <a:r>
              <a:rPr lang="en-US" sz="1400" b="1" dirty="0">
                <a:solidFill>
                  <a:schemeClr val="tx2"/>
                </a:solidFill>
              </a:rPr>
              <a:t>公開・匿名化ガイドライン</a:t>
            </a:r>
            <a:endParaRPr lang="en-US" sz="1400" dirty="0"/>
          </a:p>
        </p:txBody>
      </p:sp>
      <p:sp>
        <p:nvSpPr>
          <p:cNvPr id="42" name="Text 40"/>
          <p:cNvSpPr txBox="1"/>
          <p:nvPr/>
        </p:nvSpPr>
        <p:spPr>
          <a:xfrm>
            <a:off x="6400800" y="5641848"/>
            <a:ext cx="5120640" cy="274320"/>
          </a:xfrm>
          <a:prstGeom prst="rect">
            <a:avLst/>
          </a:prstGeom>
          <a:noFill/>
          <a:ln/>
        </p:spPr>
        <p:txBody>
          <a:bodyPr wrap="square" lIns="0" tIns="0" rIns="0" bIns="0" rtlCol="0" anchor="t"/>
          <a:lstStyle/>
          <a:p>
            <a:pPr indent="0" marL="0">
              <a:buNone/>
            </a:pPr>
            <a:r>
              <a:rPr lang="en-US" sz="1200" dirty="0">
                <a:solidFill>
                  <a:schemeClr val="tx1"/>
                </a:solidFill>
              </a:rPr>
              <a:t>合格事例の匿名化・公開フロー・事例ライブラリ</a:t>
            </a:r>
            <a:endParaRPr lang="en-US" sz="12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1　制度の全体像</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認定は「知識」ではなく「実務でAIを使って出した成果」で決まる</a:t>
            </a:r>
            <a:endParaRPr lang="en-US" sz="2400" dirty="0"/>
          </a:p>
        </p:txBody>
      </p:sp>
      <p:sp>
        <p:nvSpPr>
          <p:cNvPr id="4" name="Shape 2"/>
          <p:cNvSpPr/>
          <p:nvPr/>
        </p:nvSpPr>
        <p:spPr>
          <a:xfrm>
            <a:off x="548640" y="1600200"/>
            <a:ext cx="3291840" cy="2103120"/>
          </a:xfrm>
          <a:prstGeom prst="roundRect">
            <a:avLst>
              <a:gd name="adj" fmla="val 3478"/>
            </a:avLst>
          </a:prstGeom>
          <a:solidFill>
            <a:schemeClr val="bg2"/>
          </a:solidFill>
          <a:ln w="6350">
            <a:solidFill>
              <a:schemeClr val="bg2"/>
            </a:solidFill>
            <a:prstDash val="solid"/>
          </a:ln>
        </p:spPr>
      </p:sp>
      <p:sp>
        <p:nvSpPr>
          <p:cNvPr id="5" name="Text 3"/>
          <p:cNvSpPr txBox="1"/>
          <p:nvPr/>
        </p:nvSpPr>
        <p:spPr>
          <a:xfrm>
            <a:off x="822960" y="1783080"/>
            <a:ext cx="2743200" cy="320040"/>
          </a:xfrm>
          <a:prstGeom prst="rect">
            <a:avLst/>
          </a:prstGeom>
          <a:noFill/>
          <a:ln/>
        </p:spPr>
        <p:txBody>
          <a:bodyPr wrap="square" lIns="0" tIns="0" rIns="0" bIns="0" rtlCol="0" anchor="t"/>
          <a:lstStyle/>
          <a:p>
            <a:pPr indent="0" marL="0">
              <a:buNone/>
            </a:pPr>
            <a:r>
              <a:rPr lang="en-US" sz="1300" b="1" dirty="0">
                <a:solidFill>
                  <a:schemeClr val="accent1"/>
                </a:solidFill>
              </a:rPr>
              <a:t>知識の確認</a:t>
            </a:r>
            <a:endParaRPr lang="en-US" sz="1300" dirty="0"/>
          </a:p>
        </p:txBody>
      </p:sp>
      <p:sp>
        <p:nvSpPr>
          <p:cNvPr id="6" name="Text 4"/>
          <p:cNvSpPr txBox="1"/>
          <p:nvPr/>
        </p:nvSpPr>
        <p:spPr>
          <a:xfrm>
            <a:off x="822960" y="2103120"/>
            <a:ext cx="2743200" cy="548640"/>
          </a:xfrm>
          <a:prstGeom prst="rect">
            <a:avLst/>
          </a:prstGeom>
          <a:noFill/>
          <a:ln/>
        </p:spPr>
        <p:txBody>
          <a:bodyPr wrap="square" lIns="0" tIns="0" rIns="0" bIns="0" rtlCol="0" anchor="t"/>
          <a:lstStyle/>
          <a:p>
            <a:pPr indent="0" marL="0">
              <a:buNone/>
            </a:pPr>
            <a:r>
              <a:rPr lang="en-US" sz="2400" b="1" dirty="0">
                <a:solidFill>
                  <a:schemeClr val="tx2"/>
                </a:solidFill>
              </a:rPr>
              <a:t>共通テスト</a:t>
            </a:r>
            <a:endParaRPr lang="en-US" sz="2400" dirty="0"/>
          </a:p>
        </p:txBody>
      </p:sp>
      <p:sp>
        <p:nvSpPr>
          <p:cNvPr id="7" name="Text 5"/>
          <p:cNvSpPr txBox="1"/>
          <p:nvPr/>
        </p:nvSpPr>
        <p:spPr>
          <a:xfrm>
            <a:off x="822960" y="2743200"/>
            <a:ext cx="2743200" cy="822960"/>
          </a:xfrm>
          <a:prstGeom prst="rect">
            <a:avLst/>
          </a:prstGeom>
          <a:noFill/>
          <a:ln/>
        </p:spPr>
        <p:txBody>
          <a:bodyPr wrap="square" lIns="0" tIns="0" rIns="0" bIns="0" rtlCol="0" anchor="t"/>
          <a:lstStyle/>
          <a:p>
            <a:pPr indent="0" marL="0">
              <a:buNone/>
            </a:pPr>
            <a:r>
              <a:rPr lang="en-US" sz="1400" dirty="0">
                <a:solidFill>
                  <a:schemeClr val="tx1"/>
                </a:solidFill>
              </a:rPr>
              <a:t>実務事例審査を申請するための前提条件</a:t>
            </a:r>
            <a:endParaRPr lang="en-US" sz="1400" dirty="0"/>
          </a:p>
        </p:txBody>
      </p:sp>
      <p:sp>
        <p:nvSpPr>
          <p:cNvPr id="8" name="Shape 6"/>
          <p:cNvSpPr/>
          <p:nvPr/>
        </p:nvSpPr>
        <p:spPr>
          <a:xfrm>
            <a:off x="3950208" y="2468880"/>
            <a:ext cx="384048" cy="384048"/>
          </a:xfrm>
          <a:prstGeom prst="rightArrow">
            <a:avLst/>
          </a:prstGeom>
          <a:solidFill>
            <a:schemeClr val="accent3"/>
          </a:solidFill>
          <a:ln w="6350">
            <a:solidFill>
              <a:schemeClr val="accent3"/>
            </a:solidFill>
            <a:prstDash val="solid"/>
          </a:ln>
        </p:spPr>
      </p:sp>
      <p:sp>
        <p:nvSpPr>
          <p:cNvPr id="9" name="Shape 7"/>
          <p:cNvSpPr/>
          <p:nvPr/>
        </p:nvSpPr>
        <p:spPr>
          <a:xfrm>
            <a:off x="4389120" y="1600200"/>
            <a:ext cx="3291840" cy="2103120"/>
          </a:xfrm>
          <a:prstGeom prst="roundRect">
            <a:avLst>
              <a:gd name="adj" fmla="val 3478"/>
            </a:avLst>
          </a:prstGeom>
          <a:solidFill>
            <a:schemeClr val="tx2"/>
          </a:solidFill>
          <a:ln w="6350">
            <a:solidFill>
              <a:schemeClr val="tx2"/>
            </a:solidFill>
            <a:prstDash val="solid"/>
          </a:ln>
        </p:spPr>
      </p:sp>
      <p:sp>
        <p:nvSpPr>
          <p:cNvPr id="10" name="Text 8"/>
          <p:cNvSpPr txBox="1"/>
          <p:nvPr/>
        </p:nvSpPr>
        <p:spPr>
          <a:xfrm>
            <a:off x="4663440" y="1783080"/>
            <a:ext cx="2743200" cy="320040"/>
          </a:xfrm>
          <a:prstGeom prst="rect">
            <a:avLst/>
          </a:prstGeom>
          <a:noFill/>
          <a:ln/>
        </p:spPr>
        <p:txBody>
          <a:bodyPr wrap="square" lIns="0" tIns="0" rIns="0" bIns="0" rtlCol="0" anchor="t"/>
          <a:lstStyle/>
          <a:p>
            <a:pPr indent="0" marL="0">
              <a:buNone/>
            </a:pPr>
            <a:r>
              <a:rPr lang="en-US" sz="1300" b="1" dirty="0">
                <a:solidFill>
                  <a:schemeClr val="accent2"/>
                </a:solidFill>
              </a:rPr>
              <a:t>主判定</a:t>
            </a:r>
            <a:endParaRPr lang="en-US" sz="1300" dirty="0"/>
          </a:p>
        </p:txBody>
      </p:sp>
      <p:sp>
        <p:nvSpPr>
          <p:cNvPr id="11" name="Text 9"/>
          <p:cNvSpPr txBox="1"/>
          <p:nvPr/>
        </p:nvSpPr>
        <p:spPr>
          <a:xfrm>
            <a:off x="4663440" y="2103120"/>
            <a:ext cx="2743200" cy="548640"/>
          </a:xfrm>
          <a:prstGeom prst="rect">
            <a:avLst/>
          </a:prstGeom>
          <a:noFill/>
          <a:ln/>
        </p:spPr>
        <p:txBody>
          <a:bodyPr wrap="square" lIns="0" tIns="0" rIns="0" bIns="0" rtlCol="0" anchor="t"/>
          <a:lstStyle/>
          <a:p>
            <a:pPr indent="0" marL="0">
              <a:buNone/>
            </a:pPr>
            <a:r>
              <a:rPr lang="en-US" sz="2400" b="1" dirty="0">
                <a:solidFill>
                  <a:schemeClr val="bg1"/>
                </a:solidFill>
              </a:rPr>
              <a:t>実務事例審査</a:t>
            </a:r>
            <a:endParaRPr lang="en-US" sz="2400" dirty="0"/>
          </a:p>
        </p:txBody>
      </p:sp>
      <p:sp>
        <p:nvSpPr>
          <p:cNvPr id="12" name="Text 10"/>
          <p:cNvSpPr txBox="1"/>
          <p:nvPr/>
        </p:nvSpPr>
        <p:spPr>
          <a:xfrm>
            <a:off x="4663440" y="2743200"/>
            <a:ext cx="2743200" cy="822960"/>
          </a:xfrm>
          <a:prstGeom prst="rect">
            <a:avLst/>
          </a:prstGeom>
          <a:noFill/>
          <a:ln/>
        </p:spPr>
        <p:txBody>
          <a:bodyPr wrap="square" lIns="0" tIns="0" rIns="0" bIns="0" rtlCol="0" anchor="t"/>
          <a:lstStyle/>
          <a:p>
            <a:pPr indent="0" marL="0">
              <a:buNone/>
            </a:pPr>
            <a:r>
              <a:rPr lang="en-US" sz="1400" dirty="0">
                <a:solidFill>
                  <a:schemeClr val="bg1"/>
                </a:solidFill>
              </a:rPr>
              <a:t>承認済みの実務事例を、決められた基準で審査する</a:t>
            </a:r>
            <a:endParaRPr lang="en-US" sz="1400" dirty="0"/>
          </a:p>
        </p:txBody>
      </p:sp>
      <p:sp>
        <p:nvSpPr>
          <p:cNvPr id="13" name="Shape 11"/>
          <p:cNvSpPr/>
          <p:nvPr/>
        </p:nvSpPr>
        <p:spPr>
          <a:xfrm>
            <a:off x="7790688" y="2468880"/>
            <a:ext cx="384048" cy="384048"/>
          </a:xfrm>
          <a:prstGeom prst="rightArrow">
            <a:avLst/>
          </a:prstGeom>
          <a:solidFill>
            <a:schemeClr val="accent3"/>
          </a:solidFill>
          <a:ln w="6350">
            <a:solidFill>
              <a:schemeClr val="accent3"/>
            </a:solidFill>
            <a:prstDash val="solid"/>
          </a:ln>
        </p:spPr>
      </p:sp>
      <p:sp>
        <p:nvSpPr>
          <p:cNvPr id="14" name="Shape 12"/>
          <p:cNvSpPr/>
          <p:nvPr/>
        </p:nvSpPr>
        <p:spPr>
          <a:xfrm>
            <a:off x="8229600" y="1600200"/>
            <a:ext cx="3291840" cy="2103120"/>
          </a:xfrm>
          <a:prstGeom prst="roundRect">
            <a:avLst>
              <a:gd name="adj" fmla="val 3478"/>
            </a:avLst>
          </a:prstGeom>
          <a:solidFill>
            <a:schemeClr val="bg2"/>
          </a:solidFill>
          <a:ln w="6350">
            <a:solidFill>
              <a:schemeClr val="bg2"/>
            </a:solidFill>
            <a:prstDash val="solid"/>
          </a:ln>
        </p:spPr>
      </p:sp>
      <p:sp>
        <p:nvSpPr>
          <p:cNvPr id="15" name="Text 13"/>
          <p:cNvSpPr txBox="1"/>
          <p:nvPr/>
        </p:nvSpPr>
        <p:spPr>
          <a:xfrm>
            <a:off x="8503920" y="1783080"/>
            <a:ext cx="2743200" cy="320040"/>
          </a:xfrm>
          <a:prstGeom prst="rect">
            <a:avLst/>
          </a:prstGeom>
          <a:noFill/>
          <a:ln/>
        </p:spPr>
        <p:txBody>
          <a:bodyPr wrap="square" lIns="0" tIns="0" rIns="0" bIns="0" rtlCol="0" anchor="t"/>
          <a:lstStyle/>
          <a:p>
            <a:pPr indent="0" marL="0">
              <a:buNone/>
            </a:pPr>
            <a:r>
              <a:rPr lang="en-US" sz="1300" b="1" dirty="0">
                <a:solidFill>
                  <a:schemeClr val="accent1"/>
                </a:solidFill>
              </a:rPr>
              <a:t>レベル＋領域タグ</a:t>
            </a:r>
            <a:endParaRPr lang="en-US" sz="1300" dirty="0"/>
          </a:p>
        </p:txBody>
      </p:sp>
      <p:sp>
        <p:nvSpPr>
          <p:cNvPr id="16" name="Text 14"/>
          <p:cNvSpPr txBox="1"/>
          <p:nvPr/>
        </p:nvSpPr>
        <p:spPr>
          <a:xfrm>
            <a:off x="8503920" y="2103120"/>
            <a:ext cx="2743200" cy="548640"/>
          </a:xfrm>
          <a:prstGeom prst="rect">
            <a:avLst/>
          </a:prstGeom>
          <a:noFill/>
          <a:ln/>
        </p:spPr>
        <p:txBody>
          <a:bodyPr wrap="square" lIns="0" tIns="0" rIns="0" bIns="0" rtlCol="0" anchor="t"/>
          <a:lstStyle/>
          <a:p>
            <a:pPr indent="0" marL="0">
              <a:buNone/>
            </a:pPr>
            <a:r>
              <a:rPr lang="en-US" sz="2400" b="1" dirty="0">
                <a:solidFill>
                  <a:schemeClr val="tx2"/>
                </a:solidFill>
              </a:rPr>
              <a:t>認定</a:t>
            </a:r>
            <a:endParaRPr lang="en-US" sz="2400" dirty="0"/>
          </a:p>
        </p:txBody>
      </p:sp>
      <p:sp>
        <p:nvSpPr>
          <p:cNvPr id="17" name="Text 15"/>
          <p:cNvSpPr txBox="1"/>
          <p:nvPr/>
        </p:nvSpPr>
        <p:spPr>
          <a:xfrm>
            <a:off x="8503920" y="2743200"/>
            <a:ext cx="2743200" cy="822960"/>
          </a:xfrm>
          <a:prstGeom prst="rect">
            <a:avLst/>
          </a:prstGeom>
          <a:noFill/>
          <a:ln/>
        </p:spPr>
        <p:txBody>
          <a:bodyPr wrap="square" lIns="0" tIns="0" rIns="0" bIns="0" rtlCol="0" anchor="t"/>
          <a:lstStyle/>
          <a:p>
            <a:pPr indent="0" marL="0">
              <a:buNone/>
            </a:pPr>
            <a:r>
              <a:rPr lang="en-US" sz="1400" dirty="0">
                <a:solidFill>
                  <a:schemeClr val="tx1"/>
                </a:solidFill>
              </a:rPr>
              <a:t>例：Lv.3／システム運用</a:t>
            </a:r>
            <a:endParaRPr lang="en-US" sz="1400" dirty="0"/>
          </a:p>
        </p:txBody>
      </p:sp>
      <p:sp>
        <p:nvSpPr>
          <p:cNvPr id="18" name="Shape 16"/>
          <p:cNvSpPr/>
          <p:nvPr/>
        </p:nvSpPr>
        <p:spPr>
          <a:xfrm>
            <a:off x="548640" y="4023360"/>
            <a:ext cx="5440680" cy="2011680"/>
          </a:xfrm>
          <a:prstGeom prst="roundRect">
            <a:avLst>
              <a:gd name="adj" fmla="val 3636"/>
            </a:avLst>
          </a:prstGeom>
          <a:solidFill>
            <a:schemeClr val="accent1">
              <a:alpha val="10000"/>
            </a:schemeClr>
          </a:solidFill>
          <a:ln w="9525">
            <a:solidFill>
              <a:schemeClr val="accent1">
                <a:alpha val="50000"/>
              </a:schemeClr>
            </a:solidFill>
            <a:prstDash val="solid"/>
          </a:ln>
        </p:spPr>
      </p:sp>
      <p:sp>
        <p:nvSpPr>
          <p:cNvPr id="19" name="Text 17"/>
          <p:cNvSpPr txBox="1"/>
          <p:nvPr/>
        </p:nvSpPr>
        <p:spPr>
          <a:xfrm>
            <a:off x="777240" y="4160520"/>
            <a:ext cx="5029200" cy="365760"/>
          </a:xfrm>
          <a:prstGeom prst="rect">
            <a:avLst/>
          </a:prstGeom>
          <a:noFill/>
          <a:ln/>
        </p:spPr>
        <p:txBody>
          <a:bodyPr wrap="square" lIns="0" tIns="0" rIns="0" bIns="0" rtlCol="0" anchor="t"/>
          <a:lstStyle/>
          <a:p>
            <a:pPr indent="0" marL="0">
              <a:buNone/>
            </a:pPr>
            <a:r>
              <a:rPr lang="en-US" sz="1600" b="1" dirty="0">
                <a:solidFill>
                  <a:schemeClr val="accent1"/>
                </a:solidFill>
              </a:rPr>
              <a:t>評価するもの</a:t>
            </a:r>
            <a:endParaRPr lang="en-US" sz="1600" dirty="0"/>
          </a:p>
        </p:txBody>
      </p:sp>
      <p:sp>
        <p:nvSpPr>
          <p:cNvPr id="20" name="Text 18"/>
          <p:cNvSpPr txBox="1"/>
          <p:nvPr/>
        </p:nvSpPr>
        <p:spPr>
          <a:xfrm>
            <a:off x="777240" y="4572000"/>
            <a:ext cx="5029200"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成果がどこまで到達したか</a:t>
            </a:r>
            <a:endParaRPr lang="en-US" sz="1400" dirty="0"/>
          </a:p>
          <a:p>
            <a:pPr marL="177800" indent="-177800">
              <a:spcAft>
                <a:spcPts val="400"/>
              </a:spcAft>
              <a:buSzPct val="100000"/>
              <a:buChar char="•"/>
            </a:pPr>
            <a:r>
              <a:rPr lang="en-US" sz="1400" dirty="0">
                <a:solidFill>
                  <a:schemeClr val="tx1"/>
                </a:solidFill>
              </a:rPr>
              <a:t>他の人が再利用できるか</a:t>
            </a:r>
            <a:endParaRPr lang="en-US" sz="1400" dirty="0"/>
          </a:p>
          <a:p>
            <a:pPr marL="177800" indent="-177800">
              <a:spcAft>
                <a:spcPts val="400"/>
              </a:spcAft>
              <a:buSzPct val="100000"/>
              <a:buChar char="•"/>
            </a:pPr>
            <a:r>
              <a:rPr lang="en-US" sz="1400" dirty="0">
                <a:solidFill>
                  <a:schemeClr val="tx1"/>
                </a:solidFill>
              </a:rPr>
              <a:t>成果がどの範囲に影響したか</a:t>
            </a:r>
            <a:endParaRPr lang="en-US" sz="1400" dirty="0"/>
          </a:p>
          <a:p>
            <a:pPr marL="177800" indent="-177800">
              <a:spcAft>
                <a:spcPts val="400"/>
              </a:spcAft>
              <a:buSzPct val="100000"/>
              <a:buChar char="•"/>
            </a:pPr>
            <a:r>
              <a:rPr lang="en-US" sz="1400" dirty="0">
                <a:solidFill>
                  <a:schemeClr val="tx1"/>
                </a:solidFill>
              </a:rPr>
              <a:t>展開・定着しているか</a:t>
            </a:r>
            <a:endParaRPr lang="en-US" sz="1400" dirty="0"/>
          </a:p>
        </p:txBody>
      </p:sp>
      <p:sp>
        <p:nvSpPr>
          <p:cNvPr id="21" name="Shape 19"/>
          <p:cNvSpPr/>
          <p:nvPr/>
        </p:nvSpPr>
        <p:spPr>
          <a:xfrm>
            <a:off x="6199632" y="4023360"/>
            <a:ext cx="5440680" cy="2011680"/>
          </a:xfrm>
          <a:prstGeom prst="roundRect">
            <a:avLst>
              <a:gd name="adj" fmla="val 3636"/>
            </a:avLst>
          </a:prstGeom>
          <a:solidFill>
            <a:schemeClr val="accent4">
              <a:alpha val="8000"/>
            </a:schemeClr>
          </a:solidFill>
          <a:ln w="9525">
            <a:solidFill>
              <a:schemeClr val="accent4">
                <a:alpha val="50000"/>
              </a:schemeClr>
            </a:solidFill>
            <a:prstDash val="solid"/>
          </a:ln>
        </p:spPr>
      </p:sp>
      <p:sp>
        <p:nvSpPr>
          <p:cNvPr id="22" name="Text 20"/>
          <p:cNvSpPr txBox="1"/>
          <p:nvPr/>
        </p:nvSpPr>
        <p:spPr>
          <a:xfrm>
            <a:off x="6428232" y="4160520"/>
            <a:ext cx="5029200" cy="365760"/>
          </a:xfrm>
          <a:prstGeom prst="rect">
            <a:avLst/>
          </a:prstGeom>
          <a:noFill/>
          <a:ln/>
        </p:spPr>
        <p:txBody>
          <a:bodyPr wrap="square" lIns="0" tIns="0" rIns="0" bIns="0" rtlCol="0" anchor="t"/>
          <a:lstStyle/>
          <a:p>
            <a:pPr indent="0" marL="0">
              <a:buNone/>
            </a:pPr>
            <a:r>
              <a:rPr lang="en-US" sz="1600" b="1" dirty="0">
                <a:solidFill>
                  <a:schemeClr val="accent4"/>
                </a:solidFill>
              </a:rPr>
              <a:t>評価しないもの</a:t>
            </a:r>
            <a:endParaRPr lang="en-US" sz="1600" dirty="0"/>
          </a:p>
        </p:txBody>
      </p:sp>
      <p:sp>
        <p:nvSpPr>
          <p:cNvPr id="23" name="Text 21"/>
          <p:cNvSpPr txBox="1"/>
          <p:nvPr/>
        </p:nvSpPr>
        <p:spPr>
          <a:xfrm>
            <a:off x="6428232" y="4572000"/>
            <a:ext cx="5029200"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知識の量</a:t>
            </a:r>
            <a:endParaRPr lang="en-US" sz="1400" dirty="0"/>
          </a:p>
          <a:p>
            <a:pPr marL="177800" indent="-177800">
              <a:spcAft>
                <a:spcPts val="400"/>
              </a:spcAft>
              <a:buSzPct val="100000"/>
              <a:buChar char="•"/>
            </a:pPr>
            <a:r>
              <a:rPr lang="en-US" sz="1400" dirty="0">
                <a:solidFill>
                  <a:schemeClr val="tx1"/>
                </a:solidFill>
              </a:rPr>
              <a:t>役職・経験年数</a:t>
            </a:r>
            <a:endParaRPr lang="en-US" sz="1400" dirty="0"/>
          </a:p>
          <a:p>
            <a:pPr marL="177800" indent="-177800">
              <a:spcAft>
                <a:spcPts val="400"/>
              </a:spcAft>
              <a:buSzPct val="100000"/>
              <a:buChar char="•"/>
            </a:pPr>
            <a:r>
              <a:rPr lang="en-US" sz="1400" dirty="0">
                <a:solidFill>
                  <a:schemeClr val="tx1"/>
                </a:solidFill>
              </a:rPr>
              <a:t>チームの人数</a:t>
            </a:r>
            <a:endParaRPr lang="en-US" sz="1400" dirty="0"/>
          </a:p>
          <a:p>
            <a:pPr marL="177800" indent="-177800">
              <a:spcAft>
                <a:spcPts val="400"/>
              </a:spcAft>
              <a:buSzPct val="100000"/>
              <a:buChar char="•"/>
            </a:pPr>
            <a:r>
              <a:rPr lang="en-US" sz="1400" dirty="0">
                <a:solidFill>
                  <a:schemeClr val="tx1"/>
                </a:solidFill>
              </a:rPr>
              <a:t>文章の上手さ・AI製品のブランド</a:t>
            </a:r>
            <a:endParaRPr lang="en-US" sz="1400" dirty="0"/>
          </a:p>
        </p:txBody>
      </p:sp>
      <p:sp>
        <p:nvSpPr>
          <p:cNvPr id="24" name="Text 22"/>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§3・§8／01 §2・§13</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1　制度の全体像</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認定は「レベル」と「領域タグ」の組み合わせで表す</a:t>
            </a:r>
            <a:endParaRPr lang="en-US" sz="2400" dirty="0"/>
          </a:p>
        </p:txBody>
      </p:sp>
      <p:sp>
        <p:nvSpPr>
          <p:cNvPr id="4" name="Shape 2"/>
          <p:cNvSpPr/>
          <p:nvPr/>
        </p:nvSpPr>
        <p:spPr>
          <a:xfrm>
            <a:off x="548640" y="1508760"/>
            <a:ext cx="4572000" cy="1143000"/>
          </a:xfrm>
          <a:prstGeom prst="roundRect">
            <a:avLst>
              <a:gd name="adj" fmla="val 6400"/>
            </a:avLst>
          </a:prstGeom>
          <a:solidFill>
            <a:schemeClr val="tx2"/>
          </a:solidFill>
          <a:ln w="6350">
            <a:solidFill>
              <a:schemeClr val="tx2"/>
            </a:solidFill>
            <a:prstDash val="solid"/>
          </a:ln>
        </p:spPr>
      </p:sp>
      <p:sp>
        <p:nvSpPr>
          <p:cNvPr id="5" name="Text 3"/>
          <p:cNvSpPr txBox="1"/>
          <p:nvPr/>
        </p:nvSpPr>
        <p:spPr>
          <a:xfrm>
            <a:off x="822960" y="1627632"/>
            <a:ext cx="4023360" cy="411480"/>
          </a:xfrm>
          <a:prstGeom prst="rect">
            <a:avLst/>
          </a:prstGeom>
          <a:noFill/>
          <a:ln/>
        </p:spPr>
        <p:txBody>
          <a:bodyPr wrap="square" lIns="0" tIns="0" rIns="0" bIns="0" rtlCol="0" anchor="t"/>
          <a:lstStyle/>
          <a:p>
            <a:pPr indent="0" marL="0">
              <a:buNone/>
            </a:pPr>
            <a:r>
              <a:rPr lang="en-US" sz="2200" b="1" dirty="0">
                <a:solidFill>
                  <a:schemeClr val="bg1"/>
                </a:solidFill>
              </a:rPr>
              <a:t>レベル</a:t>
            </a:r>
            <a:endParaRPr lang="en-US" sz="2200" dirty="0"/>
          </a:p>
        </p:txBody>
      </p:sp>
      <p:sp>
        <p:nvSpPr>
          <p:cNvPr id="6" name="Text 4"/>
          <p:cNvSpPr txBox="1"/>
          <p:nvPr/>
        </p:nvSpPr>
        <p:spPr>
          <a:xfrm>
            <a:off x="822960" y="2084832"/>
            <a:ext cx="4023360" cy="365760"/>
          </a:xfrm>
          <a:prstGeom prst="rect">
            <a:avLst/>
          </a:prstGeom>
          <a:noFill/>
          <a:ln/>
        </p:spPr>
        <p:txBody>
          <a:bodyPr wrap="square" lIns="0" tIns="0" rIns="0" bIns="0" rtlCol="0" anchor="t"/>
          <a:lstStyle/>
          <a:p>
            <a:pPr indent="0" marL="0">
              <a:buNone/>
            </a:pPr>
            <a:r>
              <a:rPr lang="en-US" sz="1400" dirty="0">
                <a:solidFill>
                  <a:schemeClr val="bg2"/>
                </a:solidFill>
              </a:rPr>
              <a:t>成果をどこまで広げられたか（Lv.2〜Lv.4）</a:t>
            </a:r>
            <a:endParaRPr lang="en-US" sz="1400" dirty="0"/>
          </a:p>
        </p:txBody>
      </p:sp>
      <p:sp>
        <p:nvSpPr>
          <p:cNvPr id="7" name="Text 5"/>
          <p:cNvSpPr txBox="1"/>
          <p:nvPr/>
        </p:nvSpPr>
        <p:spPr>
          <a:xfrm>
            <a:off x="548640" y="2670048"/>
            <a:ext cx="4572000" cy="365760"/>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8" name="Shape 6"/>
          <p:cNvSpPr/>
          <p:nvPr/>
        </p:nvSpPr>
        <p:spPr>
          <a:xfrm>
            <a:off x="548640" y="3063240"/>
            <a:ext cx="4572000" cy="1143000"/>
          </a:xfrm>
          <a:prstGeom prst="roundRect">
            <a:avLst>
              <a:gd name="adj" fmla="val 6400"/>
            </a:avLst>
          </a:prstGeom>
          <a:solidFill>
            <a:schemeClr val="accent1"/>
          </a:solidFill>
          <a:ln w="6350">
            <a:solidFill>
              <a:schemeClr val="accent1"/>
            </a:solidFill>
            <a:prstDash val="solid"/>
          </a:ln>
        </p:spPr>
      </p:sp>
      <p:sp>
        <p:nvSpPr>
          <p:cNvPr id="9" name="Text 7"/>
          <p:cNvSpPr txBox="1"/>
          <p:nvPr/>
        </p:nvSpPr>
        <p:spPr>
          <a:xfrm>
            <a:off x="822960" y="3182112"/>
            <a:ext cx="4023360" cy="411480"/>
          </a:xfrm>
          <a:prstGeom prst="rect">
            <a:avLst/>
          </a:prstGeom>
          <a:noFill/>
          <a:ln/>
        </p:spPr>
        <p:txBody>
          <a:bodyPr wrap="square" lIns="0" tIns="0" rIns="0" bIns="0" rtlCol="0" anchor="t"/>
          <a:lstStyle/>
          <a:p>
            <a:pPr indent="0" marL="0">
              <a:buNone/>
            </a:pPr>
            <a:r>
              <a:rPr lang="en-US" sz="2200" b="1" dirty="0">
                <a:solidFill>
                  <a:schemeClr val="bg1"/>
                </a:solidFill>
              </a:rPr>
              <a:t>領域タグ</a:t>
            </a:r>
            <a:endParaRPr lang="en-US" sz="2200" dirty="0"/>
          </a:p>
        </p:txBody>
      </p:sp>
      <p:sp>
        <p:nvSpPr>
          <p:cNvPr id="10" name="Text 8"/>
          <p:cNvSpPr txBox="1"/>
          <p:nvPr/>
        </p:nvSpPr>
        <p:spPr>
          <a:xfrm>
            <a:off x="822960" y="3639312"/>
            <a:ext cx="4023360" cy="365760"/>
          </a:xfrm>
          <a:prstGeom prst="rect">
            <a:avLst/>
          </a:prstGeom>
          <a:noFill/>
          <a:ln/>
        </p:spPr>
        <p:txBody>
          <a:bodyPr wrap="square" lIns="0" tIns="0" rIns="0" bIns="0" rtlCol="0" anchor="t"/>
          <a:lstStyle/>
          <a:p>
            <a:pPr indent="0" marL="0">
              <a:buNone/>
            </a:pPr>
            <a:r>
              <a:rPr lang="en-US" sz="1400" dirty="0">
                <a:solidFill>
                  <a:schemeClr val="bg2"/>
                </a:solidFill>
              </a:rPr>
              <a:t>どの業務領域で成果を出したか</a:t>
            </a:r>
            <a:endParaRPr lang="en-US" sz="1400" dirty="0"/>
          </a:p>
        </p:txBody>
      </p:sp>
      <p:sp>
        <p:nvSpPr>
          <p:cNvPr id="11" name="Text 9"/>
          <p:cNvSpPr txBox="1"/>
          <p:nvPr/>
        </p:nvSpPr>
        <p:spPr>
          <a:xfrm>
            <a:off x="5486400" y="1508760"/>
            <a:ext cx="6153912" cy="320040"/>
          </a:xfrm>
          <a:prstGeom prst="rect">
            <a:avLst/>
          </a:prstGeom>
          <a:noFill/>
          <a:ln/>
        </p:spPr>
        <p:txBody>
          <a:bodyPr wrap="square" lIns="0" tIns="0" rIns="0" bIns="0" rtlCol="0" anchor="t"/>
          <a:lstStyle/>
          <a:p>
            <a:pPr indent="0" marL="0">
              <a:buNone/>
            </a:pPr>
            <a:r>
              <a:rPr lang="en-US" sz="1400" b="1" dirty="0">
                <a:solidFill>
                  <a:schemeClr val="tx2"/>
                </a:solidFill>
              </a:rPr>
              <a:t>領域タグ（社内向けは4つ。現時点で追加・統合はしない）</a:t>
            </a:r>
            <a:endParaRPr lang="en-US" sz="1400" dirty="0"/>
          </a:p>
        </p:txBody>
      </p:sp>
      <p:sp>
        <p:nvSpPr>
          <p:cNvPr id="12" name="Shape 10"/>
          <p:cNvSpPr/>
          <p:nvPr/>
        </p:nvSpPr>
        <p:spPr>
          <a:xfrm>
            <a:off x="5486400" y="1920240"/>
            <a:ext cx="3017520" cy="1078992"/>
          </a:xfrm>
          <a:prstGeom prst="roundRect">
            <a:avLst>
              <a:gd name="adj" fmla="val 6780"/>
            </a:avLst>
          </a:prstGeom>
          <a:solidFill>
            <a:schemeClr val="bg2"/>
          </a:solidFill>
          <a:ln w="6350">
            <a:solidFill>
              <a:schemeClr val="bg2"/>
            </a:solidFill>
            <a:prstDash val="solid"/>
          </a:ln>
        </p:spPr>
      </p:sp>
      <p:sp>
        <p:nvSpPr>
          <p:cNvPr id="13" name="Text 11"/>
          <p:cNvSpPr txBox="1"/>
          <p:nvPr/>
        </p:nvSpPr>
        <p:spPr>
          <a:xfrm>
            <a:off x="5669280" y="2029968"/>
            <a:ext cx="2651760" cy="320040"/>
          </a:xfrm>
          <a:prstGeom prst="rect">
            <a:avLst/>
          </a:prstGeom>
          <a:noFill/>
          <a:ln/>
        </p:spPr>
        <p:txBody>
          <a:bodyPr wrap="square" lIns="0" tIns="0" rIns="0" bIns="0" rtlCol="0" anchor="t"/>
          <a:lstStyle/>
          <a:p>
            <a:pPr indent="0" marL="0">
              <a:buNone/>
            </a:pPr>
            <a:r>
              <a:rPr lang="en-US" sz="1500" b="1" dirty="0">
                <a:solidFill>
                  <a:schemeClr val="accent1"/>
                </a:solidFill>
              </a:rPr>
              <a:t>システム開発</a:t>
            </a:r>
            <a:endParaRPr lang="en-US" sz="1500" dirty="0"/>
          </a:p>
        </p:txBody>
      </p:sp>
      <p:sp>
        <p:nvSpPr>
          <p:cNvPr id="14" name="Text 12"/>
          <p:cNvSpPr txBox="1"/>
          <p:nvPr/>
        </p:nvSpPr>
        <p:spPr>
          <a:xfrm>
            <a:off x="5669280" y="2377440"/>
            <a:ext cx="2651760" cy="548640"/>
          </a:xfrm>
          <a:prstGeom prst="rect">
            <a:avLst/>
          </a:prstGeom>
          <a:noFill/>
          <a:ln/>
        </p:spPr>
        <p:txBody>
          <a:bodyPr wrap="square" lIns="0" tIns="0" rIns="0" bIns="0" rtlCol="0" anchor="t"/>
          <a:lstStyle/>
          <a:p>
            <a:pPr indent="0" marL="0">
              <a:buNone/>
            </a:pPr>
            <a:r>
              <a:rPr lang="en-US" sz="1200" dirty="0">
                <a:solidFill>
                  <a:schemeClr val="tx1"/>
                </a:solidFill>
              </a:rPr>
              <a:t>アプリ・システム開発、実装、テスト、生成AIの組み込み開発</a:t>
            </a:r>
            <a:endParaRPr lang="en-US" sz="1200" dirty="0"/>
          </a:p>
        </p:txBody>
      </p:sp>
      <p:sp>
        <p:nvSpPr>
          <p:cNvPr id="15" name="Shape 13"/>
          <p:cNvSpPr/>
          <p:nvPr/>
        </p:nvSpPr>
        <p:spPr>
          <a:xfrm>
            <a:off x="8622792" y="1920240"/>
            <a:ext cx="3017520" cy="1078992"/>
          </a:xfrm>
          <a:prstGeom prst="roundRect">
            <a:avLst>
              <a:gd name="adj" fmla="val 6780"/>
            </a:avLst>
          </a:prstGeom>
          <a:solidFill>
            <a:schemeClr val="bg2"/>
          </a:solidFill>
          <a:ln w="6350">
            <a:solidFill>
              <a:schemeClr val="bg2"/>
            </a:solidFill>
            <a:prstDash val="solid"/>
          </a:ln>
        </p:spPr>
      </p:sp>
      <p:sp>
        <p:nvSpPr>
          <p:cNvPr id="16" name="Text 14"/>
          <p:cNvSpPr txBox="1"/>
          <p:nvPr/>
        </p:nvSpPr>
        <p:spPr>
          <a:xfrm>
            <a:off x="8805672" y="2029968"/>
            <a:ext cx="2651760" cy="320040"/>
          </a:xfrm>
          <a:prstGeom prst="rect">
            <a:avLst/>
          </a:prstGeom>
          <a:noFill/>
          <a:ln/>
        </p:spPr>
        <p:txBody>
          <a:bodyPr wrap="square" lIns="0" tIns="0" rIns="0" bIns="0" rtlCol="0" anchor="t"/>
          <a:lstStyle/>
          <a:p>
            <a:pPr indent="0" marL="0">
              <a:buNone/>
            </a:pPr>
            <a:r>
              <a:rPr lang="en-US" sz="1500" b="1" dirty="0">
                <a:solidFill>
                  <a:schemeClr val="accent1"/>
                </a:solidFill>
              </a:rPr>
              <a:t>インフラ構築</a:t>
            </a:r>
            <a:endParaRPr lang="en-US" sz="1500" dirty="0"/>
          </a:p>
        </p:txBody>
      </p:sp>
      <p:sp>
        <p:nvSpPr>
          <p:cNvPr id="17" name="Text 15"/>
          <p:cNvSpPr txBox="1"/>
          <p:nvPr/>
        </p:nvSpPr>
        <p:spPr>
          <a:xfrm>
            <a:off x="8805672" y="2377440"/>
            <a:ext cx="2651760" cy="548640"/>
          </a:xfrm>
          <a:prstGeom prst="rect">
            <a:avLst/>
          </a:prstGeom>
          <a:noFill/>
          <a:ln/>
        </p:spPr>
        <p:txBody>
          <a:bodyPr wrap="square" lIns="0" tIns="0" rIns="0" bIns="0" rtlCol="0" anchor="t"/>
          <a:lstStyle/>
          <a:p>
            <a:pPr indent="0" marL="0">
              <a:buNone/>
            </a:pPr>
            <a:r>
              <a:rPr lang="en-US" sz="1200" dirty="0">
                <a:solidFill>
                  <a:schemeClr val="tx1"/>
                </a:solidFill>
              </a:rPr>
              <a:t>環境設計、IaC、構成設計、生成AI基盤構築</a:t>
            </a:r>
            <a:endParaRPr lang="en-US" sz="1200" dirty="0"/>
          </a:p>
        </p:txBody>
      </p:sp>
      <p:sp>
        <p:nvSpPr>
          <p:cNvPr id="18" name="Shape 16"/>
          <p:cNvSpPr/>
          <p:nvPr/>
        </p:nvSpPr>
        <p:spPr>
          <a:xfrm>
            <a:off x="5486400" y="3108960"/>
            <a:ext cx="3017520" cy="1078992"/>
          </a:xfrm>
          <a:prstGeom prst="roundRect">
            <a:avLst>
              <a:gd name="adj" fmla="val 6780"/>
            </a:avLst>
          </a:prstGeom>
          <a:solidFill>
            <a:schemeClr val="bg2"/>
          </a:solidFill>
          <a:ln w="6350">
            <a:solidFill>
              <a:schemeClr val="bg2"/>
            </a:solidFill>
            <a:prstDash val="solid"/>
          </a:ln>
        </p:spPr>
      </p:sp>
      <p:sp>
        <p:nvSpPr>
          <p:cNvPr id="19" name="Text 17"/>
          <p:cNvSpPr txBox="1"/>
          <p:nvPr/>
        </p:nvSpPr>
        <p:spPr>
          <a:xfrm>
            <a:off x="5669280" y="3218688"/>
            <a:ext cx="2651760" cy="320040"/>
          </a:xfrm>
          <a:prstGeom prst="rect">
            <a:avLst/>
          </a:prstGeom>
          <a:noFill/>
          <a:ln/>
        </p:spPr>
        <p:txBody>
          <a:bodyPr wrap="square" lIns="0" tIns="0" rIns="0" bIns="0" rtlCol="0" anchor="t"/>
          <a:lstStyle/>
          <a:p>
            <a:pPr indent="0" marL="0">
              <a:buNone/>
            </a:pPr>
            <a:r>
              <a:rPr lang="en-US" sz="1500" b="1" dirty="0">
                <a:solidFill>
                  <a:schemeClr val="accent1"/>
                </a:solidFill>
              </a:rPr>
              <a:t>システム運用</a:t>
            </a:r>
            <a:endParaRPr lang="en-US" sz="1500" dirty="0"/>
          </a:p>
        </p:txBody>
      </p:sp>
      <p:sp>
        <p:nvSpPr>
          <p:cNvPr id="20" name="Text 18"/>
          <p:cNvSpPr txBox="1"/>
          <p:nvPr/>
        </p:nvSpPr>
        <p:spPr>
          <a:xfrm>
            <a:off x="5669280" y="3566160"/>
            <a:ext cx="2651760" cy="548640"/>
          </a:xfrm>
          <a:prstGeom prst="rect">
            <a:avLst/>
          </a:prstGeom>
          <a:noFill/>
          <a:ln/>
        </p:spPr>
        <p:txBody>
          <a:bodyPr wrap="square" lIns="0" tIns="0" rIns="0" bIns="0" rtlCol="0" anchor="t"/>
          <a:lstStyle/>
          <a:p>
            <a:pPr indent="0" marL="0">
              <a:buNone/>
            </a:pPr>
            <a:r>
              <a:rPr lang="en-US" sz="1200" dirty="0">
                <a:solidFill>
                  <a:schemeClr val="tx1"/>
                </a:solidFill>
              </a:rPr>
              <a:t>監視、障害対応、運用改善、サービスデスク</a:t>
            </a:r>
            <a:endParaRPr lang="en-US" sz="1200" dirty="0"/>
          </a:p>
        </p:txBody>
      </p:sp>
      <p:sp>
        <p:nvSpPr>
          <p:cNvPr id="21" name="Shape 19"/>
          <p:cNvSpPr/>
          <p:nvPr/>
        </p:nvSpPr>
        <p:spPr>
          <a:xfrm>
            <a:off x="8622792" y="3108960"/>
            <a:ext cx="3017520" cy="1078992"/>
          </a:xfrm>
          <a:prstGeom prst="roundRect">
            <a:avLst>
              <a:gd name="adj" fmla="val 6780"/>
            </a:avLst>
          </a:prstGeom>
          <a:solidFill>
            <a:schemeClr val="bg2"/>
          </a:solidFill>
          <a:ln w="6350">
            <a:solidFill>
              <a:schemeClr val="bg2"/>
            </a:solidFill>
            <a:prstDash val="solid"/>
          </a:ln>
        </p:spPr>
      </p:sp>
      <p:sp>
        <p:nvSpPr>
          <p:cNvPr id="22" name="Text 20"/>
          <p:cNvSpPr txBox="1"/>
          <p:nvPr/>
        </p:nvSpPr>
        <p:spPr>
          <a:xfrm>
            <a:off x="8805672" y="3218688"/>
            <a:ext cx="2651760" cy="320040"/>
          </a:xfrm>
          <a:prstGeom prst="rect">
            <a:avLst/>
          </a:prstGeom>
          <a:noFill/>
          <a:ln/>
        </p:spPr>
        <p:txBody>
          <a:bodyPr wrap="square" lIns="0" tIns="0" rIns="0" bIns="0" rtlCol="0" anchor="t"/>
          <a:lstStyle/>
          <a:p>
            <a:pPr indent="0" marL="0">
              <a:buNone/>
            </a:pPr>
            <a:r>
              <a:rPr lang="en-US" sz="1500" b="1" dirty="0">
                <a:solidFill>
                  <a:schemeClr val="accent1"/>
                </a:solidFill>
              </a:rPr>
              <a:t>セキュリティ</a:t>
            </a:r>
            <a:endParaRPr lang="en-US" sz="1500" dirty="0"/>
          </a:p>
        </p:txBody>
      </p:sp>
      <p:sp>
        <p:nvSpPr>
          <p:cNvPr id="23" name="Text 21"/>
          <p:cNvSpPr txBox="1"/>
          <p:nvPr/>
        </p:nvSpPr>
        <p:spPr>
          <a:xfrm>
            <a:off x="8805672" y="3566160"/>
            <a:ext cx="2651760" cy="548640"/>
          </a:xfrm>
          <a:prstGeom prst="rect">
            <a:avLst/>
          </a:prstGeom>
          <a:noFill/>
          <a:ln/>
        </p:spPr>
        <p:txBody>
          <a:bodyPr wrap="square" lIns="0" tIns="0" rIns="0" bIns="0" rtlCol="0" anchor="t"/>
          <a:lstStyle/>
          <a:p>
            <a:pPr indent="0" marL="0">
              <a:buNone/>
            </a:pPr>
            <a:r>
              <a:rPr lang="en-US" sz="1200" dirty="0">
                <a:solidFill>
                  <a:schemeClr val="tx1"/>
                </a:solidFill>
              </a:rPr>
              <a:t>リスク評価、脅威分析、ガードレール、監査</a:t>
            </a:r>
            <a:endParaRPr lang="en-US" sz="1200" dirty="0"/>
          </a:p>
        </p:txBody>
      </p:sp>
      <p:sp>
        <p:nvSpPr>
          <p:cNvPr id="24" name="Text 22"/>
          <p:cNvSpPr txBox="1"/>
          <p:nvPr/>
        </p:nvSpPr>
        <p:spPr>
          <a:xfrm>
            <a:off x="548640" y="4480560"/>
            <a:ext cx="5486400" cy="320040"/>
          </a:xfrm>
          <a:prstGeom prst="rect">
            <a:avLst/>
          </a:prstGeom>
          <a:noFill/>
          <a:ln/>
        </p:spPr>
        <p:txBody>
          <a:bodyPr wrap="square" lIns="0" tIns="0" rIns="0" bIns="0" rtlCol="0" anchor="t"/>
          <a:lstStyle/>
          <a:p>
            <a:pPr indent="0" marL="0">
              <a:buNone/>
            </a:pPr>
            <a:r>
              <a:rPr lang="en-US" sz="1400" b="1" dirty="0">
                <a:solidFill>
                  <a:schemeClr val="tx2"/>
                </a:solidFill>
              </a:rPr>
              <a:t>申請のルール</a:t>
            </a:r>
            <a:endParaRPr lang="en-US" sz="1400" dirty="0"/>
          </a:p>
        </p:txBody>
      </p:sp>
      <p:sp>
        <p:nvSpPr>
          <p:cNvPr id="25" name="Shape 23"/>
          <p:cNvSpPr/>
          <p:nvPr/>
        </p:nvSpPr>
        <p:spPr>
          <a:xfrm>
            <a:off x="548640" y="4846320"/>
            <a:ext cx="3566160" cy="1234440"/>
          </a:xfrm>
          <a:prstGeom prst="roundRect">
            <a:avLst>
              <a:gd name="adj" fmla="val 5926"/>
            </a:avLst>
          </a:prstGeom>
          <a:solidFill>
            <a:schemeClr val="accent2">
              <a:alpha val="12000"/>
            </a:schemeClr>
          </a:solidFill>
          <a:ln w="9525">
            <a:solidFill>
              <a:schemeClr val="accent2">
                <a:alpha val="50000"/>
              </a:schemeClr>
            </a:solidFill>
            <a:prstDash val="solid"/>
          </a:ln>
        </p:spPr>
      </p:sp>
      <p:sp>
        <p:nvSpPr>
          <p:cNvPr id="26" name="Text 24"/>
          <p:cNvSpPr txBox="1"/>
          <p:nvPr/>
        </p:nvSpPr>
        <p:spPr>
          <a:xfrm>
            <a:off x="731520" y="4956048"/>
            <a:ext cx="3200400" cy="320040"/>
          </a:xfrm>
          <a:prstGeom prst="rect">
            <a:avLst/>
          </a:prstGeom>
          <a:noFill/>
          <a:ln/>
        </p:spPr>
        <p:txBody>
          <a:bodyPr wrap="square" lIns="0" tIns="0" rIns="0" bIns="0" rtlCol="0" anchor="t"/>
          <a:lstStyle/>
          <a:p>
            <a:pPr indent="0" marL="0">
              <a:buNone/>
            </a:pPr>
            <a:r>
              <a:rPr lang="en-US" sz="1500" b="1" dirty="0">
                <a:solidFill>
                  <a:schemeClr val="tx2"/>
                </a:solidFill>
              </a:rPr>
              <a:t>1申請＝1タグ＋1事例</a:t>
            </a:r>
            <a:endParaRPr lang="en-US" sz="1500" dirty="0"/>
          </a:p>
        </p:txBody>
      </p:sp>
      <p:sp>
        <p:nvSpPr>
          <p:cNvPr id="27" name="Text 25"/>
          <p:cNvSpPr txBox="1"/>
          <p:nvPr/>
        </p:nvSpPr>
        <p:spPr>
          <a:xfrm>
            <a:off x="731520" y="5303520"/>
            <a:ext cx="3200400" cy="731520"/>
          </a:xfrm>
          <a:prstGeom prst="rect">
            <a:avLst/>
          </a:prstGeom>
          <a:noFill/>
          <a:ln/>
        </p:spPr>
        <p:txBody>
          <a:bodyPr wrap="square" lIns="0" tIns="0" rIns="0" bIns="0" rtlCol="0" anchor="t"/>
          <a:lstStyle/>
          <a:p>
            <a:pPr indent="0" marL="0">
              <a:buNone/>
            </a:pPr>
            <a:r>
              <a:rPr lang="en-US" sz="1200" dirty="0">
                <a:solidFill>
                  <a:schemeClr val="tx1"/>
                </a:solidFill>
              </a:rPr>
              <a:t>複数の領域に関わる事例でも、審査するタグは1つ。別タグは別途申請する</a:t>
            </a:r>
            <a:endParaRPr lang="en-US" sz="1200" dirty="0"/>
          </a:p>
        </p:txBody>
      </p:sp>
      <p:sp>
        <p:nvSpPr>
          <p:cNvPr id="28" name="Shape 26"/>
          <p:cNvSpPr/>
          <p:nvPr/>
        </p:nvSpPr>
        <p:spPr>
          <a:xfrm>
            <a:off x="4306824" y="4846320"/>
            <a:ext cx="3566160" cy="1234440"/>
          </a:xfrm>
          <a:prstGeom prst="roundRect">
            <a:avLst>
              <a:gd name="adj" fmla="val 5926"/>
            </a:avLst>
          </a:prstGeom>
          <a:solidFill>
            <a:schemeClr val="accent2">
              <a:alpha val="12000"/>
            </a:schemeClr>
          </a:solidFill>
          <a:ln w="9525">
            <a:solidFill>
              <a:schemeClr val="accent2">
                <a:alpha val="50000"/>
              </a:schemeClr>
            </a:solidFill>
            <a:prstDash val="solid"/>
          </a:ln>
        </p:spPr>
      </p:sp>
      <p:sp>
        <p:nvSpPr>
          <p:cNvPr id="29" name="Text 27"/>
          <p:cNvSpPr txBox="1"/>
          <p:nvPr/>
        </p:nvSpPr>
        <p:spPr>
          <a:xfrm>
            <a:off x="4489704" y="4956048"/>
            <a:ext cx="3200400" cy="320040"/>
          </a:xfrm>
          <a:prstGeom prst="rect">
            <a:avLst/>
          </a:prstGeom>
          <a:noFill/>
          <a:ln/>
        </p:spPr>
        <p:txBody>
          <a:bodyPr wrap="square" lIns="0" tIns="0" rIns="0" bIns="0" rtlCol="0" anchor="t"/>
          <a:lstStyle/>
          <a:p>
            <a:pPr indent="0" marL="0">
              <a:buNone/>
            </a:pPr>
            <a:r>
              <a:rPr lang="en-US" sz="1500" b="1" dirty="0">
                <a:solidFill>
                  <a:schemeClr val="tx2"/>
                </a:solidFill>
              </a:rPr>
              <a:t>未申請のタグは付けない</a:t>
            </a:r>
            <a:endParaRPr lang="en-US" sz="1500" dirty="0"/>
          </a:p>
        </p:txBody>
      </p:sp>
      <p:sp>
        <p:nvSpPr>
          <p:cNvPr id="30" name="Text 28"/>
          <p:cNvSpPr txBox="1"/>
          <p:nvPr/>
        </p:nvSpPr>
        <p:spPr>
          <a:xfrm>
            <a:off x="4489704" y="5303520"/>
            <a:ext cx="3200400" cy="731520"/>
          </a:xfrm>
          <a:prstGeom prst="rect">
            <a:avLst/>
          </a:prstGeom>
          <a:noFill/>
          <a:ln/>
        </p:spPr>
        <p:txBody>
          <a:bodyPr wrap="square" lIns="0" tIns="0" rIns="0" bIns="0" rtlCol="0" anchor="t"/>
          <a:lstStyle/>
          <a:p>
            <a:pPr indent="0" marL="0">
              <a:buNone/>
            </a:pPr>
            <a:r>
              <a:rPr lang="en-US" sz="1200" dirty="0">
                <a:solidFill>
                  <a:schemeClr val="tx1"/>
                </a:solidFill>
              </a:rPr>
              <a:t>審査側の判断でタグを追加付与することはしない</a:t>
            </a:r>
            <a:endParaRPr lang="en-US" sz="1200" dirty="0"/>
          </a:p>
        </p:txBody>
      </p:sp>
      <p:sp>
        <p:nvSpPr>
          <p:cNvPr id="31" name="Shape 29"/>
          <p:cNvSpPr/>
          <p:nvPr/>
        </p:nvSpPr>
        <p:spPr>
          <a:xfrm>
            <a:off x="8065008" y="4846320"/>
            <a:ext cx="3566160" cy="1234440"/>
          </a:xfrm>
          <a:prstGeom prst="roundRect">
            <a:avLst>
              <a:gd name="adj" fmla="val 5926"/>
            </a:avLst>
          </a:prstGeom>
          <a:solidFill>
            <a:schemeClr val="accent2">
              <a:alpha val="12000"/>
            </a:schemeClr>
          </a:solidFill>
          <a:ln w="9525">
            <a:solidFill>
              <a:schemeClr val="accent2">
                <a:alpha val="50000"/>
              </a:schemeClr>
            </a:solidFill>
            <a:prstDash val="solid"/>
          </a:ln>
        </p:spPr>
      </p:sp>
      <p:sp>
        <p:nvSpPr>
          <p:cNvPr id="32" name="Text 30"/>
          <p:cNvSpPr txBox="1"/>
          <p:nvPr/>
        </p:nvSpPr>
        <p:spPr>
          <a:xfrm>
            <a:off x="8247888" y="4956048"/>
            <a:ext cx="3200400" cy="320040"/>
          </a:xfrm>
          <a:prstGeom prst="rect">
            <a:avLst/>
          </a:prstGeom>
          <a:noFill/>
          <a:ln/>
        </p:spPr>
        <p:txBody>
          <a:bodyPr wrap="square" lIns="0" tIns="0" rIns="0" bIns="0" rtlCol="0" anchor="t"/>
          <a:lstStyle/>
          <a:p>
            <a:pPr indent="0" marL="0">
              <a:buNone/>
            </a:pPr>
            <a:r>
              <a:rPr lang="en-US" sz="1500" b="1" dirty="0">
                <a:solidFill>
                  <a:schemeClr val="tx2"/>
                </a:solidFill>
              </a:rPr>
              <a:t>追加資料は出させない</a:t>
            </a:r>
            <a:endParaRPr lang="en-US" sz="1500" dirty="0"/>
          </a:p>
        </p:txBody>
      </p:sp>
      <p:sp>
        <p:nvSpPr>
          <p:cNvPr id="33" name="Text 31"/>
          <p:cNvSpPr txBox="1"/>
          <p:nvPr/>
        </p:nvSpPr>
        <p:spPr>
          <a:xfrm>
            <a:off x="8247888" y="5303520"/>
            <a:ext cx="3200400" cy="731520"/>
          </a:xfrm>
          <a:prstGeom prst="rect">
            <a:avLst/>
          </a:prstGeom>
          <a:noFill/>
          <a:ln/>
        </p:spPr>
        <p:txBody>
          <a:bodyPr wrap="square" lIns="0" tIns="0" rIns="0" bIns="0" rtlCol="0" anchor="t"/>
          <a:lstStyle/>
          <a:p>
            <a:pPr indent="0" marL="0">
              <a:buNone/>
            </a:pPr>
            <a:r>
              <a:rPr lang="en-US" sz="1200" dirty="0">
                <a:solidFill>
                  <a:schemeClr val="tx1"/>
                </a:solidFill>
              </a:rPr>
              <a:t>成果物・画面・ログ・証明書は不要。承認済みフォームの記載だけで審査する</a:t>
            </a:r>
            <a:endParaRPr lang="en-US" sz="1200" dirty="0"/>
          </a:p>
        </p:txBody>
      </p:sp>
      <p:sp>
        <p:nvSpPr>
          <p:cNvPr id="34" name="Text 32"/>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§2・§4・§5・§8.1／01「申請単位と前提条件」</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1　制度の全体像</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レベルの差は「成果がどこまで広がったか」で決まる</a:t>
            </a:r>
            <a:endParaRPr lang="en-US" sz="2400" dirty="0"/>
          </a:p>
        </p:txBody>
      </p:sp>
      <p:sp>
        <p:nvSpPr>
          <p:cNvPr id="4" name="Shape 2"/>
          <p:cNvSpPr/>
          <p:nvPr/>
        </p:nvSpPr>
        <p:spPr>
          <a:xfrm>
            <a:off x="548640" y="2971800"/>
            <a:ext cx="3593592" cy="2468880"/>
          </a:xfrm>
          <a:prstGeom prst="roundRect">
            <a:avLst>
              <a:gd name="adj" fmla="val 2963"/>
            </a:avLst>
          </a:prstGeom>
          <a:solidFill>
            <a:schemeClr val="accent3"/>
          </a:solidFill>
          <a:ln w="6350">
            <a:solidFill>
              <a:schemeClr val="accent3"/>
            </a:solidFill>
            <a:prstDash val="solid"/>
          </a:ln>
        </p:spPr>
      </p:sp>
      <p:sp>
        <p:nvSpPr>
          <p:cNvPr id="5" name="Text 3"/>
          <p:cNvSpPr txBox="1"/>
          <p:nvPr/>
        </p:nvSpPr>
        <p:spPr>
          <a:xfrm>
            <a:off x="777240" y="3108960"/>
            <a:ext cx="3154680" cy="502920"/>
          </a:xfrm>
          <a:prstGeom prst="rect">
            <a:avLst/>
          </a:prstGeom>
          <a:noFill/>
          <a:ln/>
        </p:spPr>
        <p:txBody>
          <a:bodyPr wrap="square" lIns="0" tIns="0" rIns="0" bIns="0" rtlCol="0" anchor="ctr"/>
          <a:lstStyle/>
          <a:p>
            <a:pPr indent="0" marL="0">
              <a:buNone/>
            </a:pPr>
            <a:r>
              <a:rPr lang="en-US" sz="2800" b="1" dirty="0">
                <a:solidFill>
                  <a:schemeClr val="bg1"/>
                </a:solidFill>
              </a:rPr>
              <a:t>Lv.2</a:t>
            </a:r>
            <a:pPr indent="0" marL="0">
              <a:buNone/>
            </a:pPr>
            <a:r>
              <a:rPr lang="en-US" sz="1400" dirty="0">
                <a:solidFill>
                  <a:schemeClr val="bg1"/>
                </a:solidFill>
              </a:rPr>
              <a:t>  Practitioner</a:t>
            </a:r>
            <a:endParaRPr lang="en-US" sz="1400" dirty="0"/>
          </a:p>
        </p:txBody>
      </p:sp>
      <p:sp>
        <p:nvSpPr>
          <p:cNvPr id="6" name="Text 4"/>
          <p:cNvSpPr txBox="1"/>
          <p:nvPr/>
        </p:nvSpPr>
        <p:spPr>
          <a:xfrm>
            <a:off x="777240" y="3685032"/>
            <a:ext cx="3154680" cy="411480"/>
          </a:xfrm>
          <a:prstGeom prst="rect">
            <a:avLst/>
          </a:prstGeom>
          <a:noFill/>
          <a:ln/>
        </p:spPr>
        <p:txBody>
          <a:bodyPr wrap="square" lIns="0" tIns="0" rIns="0" bIns="0" rtlCol="0" anchor="t"/>
          <a:lstStyle/>
          <a:p>
            <a:pPr indent="0" marL="0">
              <a:buNone/>
            </a:pPr>
            <a:r>
              <a:rPr lang="en-US" sz="1600" b="1" dirty="0">
                <a:solidFill>
                  <a:schemeClr val="bg1"/>
                </a:solidFill>
              </a:rPr>
              <a:t>自分の仕事で成果に変えられる人</a:t>
            </a:r>
            <a:endParaRPr lang="en-US" sz="1600" dirty="0"/>
          </a:p>
        </p:txBody>
      </p:sp>
      <p:sp>
        <p:nvSpPr>
          <p:cNvPr id="7" name="Text 5"/>
          <p:cNvSpPr txBox="1"/>
          <p:nvPr/>
        </p:nvSpPr>
        <p:spPr>
          <a:xfrm>
            <a:off x="777240" y="4178808"/>
            <a:ext cx="3154680" cy="256032"/>
          </a:xfrm>
          <a:prstGeom prst="rect">
            <a:avLst/>
          </a:prstGeom>
          <a:noFill/>
          <a:ln/>
        </p:spPr>
        <p:txBody>
          <a:bodyPr wrap="square" lIns="0" tIns="0" rIns="0" bIns="0" rtlCol="0" anchor="t"/>
          <a:lstStyle/>
          <a:p>
            <a:pPr indent="0" marL="0">
              <a:buNone/>
            </a:pPr>
            <a:r>
              <a:rPr lang="en-US" sz="1100" b="1" dirty="0">
                <a:solidFill>
                  <a:schemeClr val="bg2"/>
                </a:solidFill>
              </a:rPr>
              <a:t>成果の範囲</a:t>
            </a:r>
            <a:endParaRPr lang="en-US" sz="1100" dirty="0"/>
          </a:p>
        </p:txBody>
      </p:sp>
      <p:sp>
        <p:nvSpPr>
          <p:cNvPr id="8" name="Text 6"/>
          <p:cNvSpPr txBox="1"/>
          <p:nvPr/>
        </p:nvSpPr>
        <p:spPr>
          <a:xfrm>
            <a:off x="777240" y="4434840"/>
            <a:ext cx="3154680" cy="914400"/>
          </a:xfrm>
          <a:prstGeom prst="rect">
            <a:avLst/>
          </a:prstGeom>
          <a:noFill/>
          <a:ln/>
        </p:spPr>
        <p:txBody>
          <a:bodyPr wrap="square" lIns="0" tIns="0" rIns="0" bIns="0" rtlCol="0" anchor="t"/>
          <a:lstStyle/>
          <a:p>
            <a:pPr indent="0" marL="0">
              <a:buNone/>
            </a:pPr>
            <a:r>
              <a:rPr lang="en-US" sz="1400" dirty="0">
                <a:solidFill>
                  <a:schemeClr val="bg1"/>
                </a:solidFill>
              </a:rPr>
              <a:t>本人の担当業務で、AI出力を確認しながら具体的な成果を出している</a:t>
            </a:r>
            <a:endParaRPr lang="en-US" sz="1400" dirty="0"/>
          </a:p>
        </p:txBody>
      </p:sp>
      <p:sp>
        <p:nvSpPr>
          <p:cNvPr id="9" name="Shape 7"/>
          <p:cNvSpPr/>
          <p:nvPr/>
        </p:nvSpPr>
        <p:spPr>
          <a:xfrm>
            <a:off x="4297680" y="2240280"/>
            <a:ext cx="3593592" cy="3200400"/>
          </a:xfrm>
          <a:prstGeom prst="roundRect">
            <a:avLst>
              <a:gd name="adj" fmla="val 2286"/>
            </a:avLst>
          </a:prstGeom>
          <a:solidFill>
            <a:schemeClr val="accent1"/>
          </a:solidFill>
          <a:ln w="6350">
            <a:solidFill>
              <a:schemeClr val="accent1"/>
            </a:solidFill>
            <a:prstDash val="solid"/>
          </a:ln>
        </p:spPr>
      </p:sp>
      <p:sp>
        <p:nvSpPr>
          <p:cNvPr id="10" name="Text 8"/>
          <p:cNvSpPr txBox="1"/>
          <p:nvPr/>
        </p:nvSpPr>
        <p:spPr>
          <a:xfrm>
            <a:off x="4526280" y="2377440"/>
            <a:ext cx="3154680" cy="502920"/>
          </a:xfrm>
          <a:prstGeom prst="rect">
            <a:avLst/>
          </a:prstGeom>
          <a:noFill/>
          <a:ln/>
        </p:spPr>
        <p:txBody>
          <a:bodyPr wrap="square" lIns="0" tIns="0" rIns="0" bIns="0" rtlCol="0" anchor="ctr"/>
          <a:lstStyle/>
          <a:p>
            <a:pPr indent="0" marL="0">
              <a:buNone/>
            </a:pPr>
            <a:r>
              <a:rPr lang="en-US" sz="2800" b="1" dirty="0">
                <a:solidFill>
                  <a:schemeClr val="bg1"/>
                </a:solidFill>
              </a:rPr>
              <a:t>Lv.3</a:t>
            </a:r>
            <a:pPr indent="0" marL="0">
              <a:buNone/>
            </a:pPr>
            <a:r>
              <a:rPr lang="en-US" sz="1400" dirty="0">
                <a:solidFill>
                  <a:schemeClr val="bg1"/>
                </a:solidFill>
              </a:rPr>
              <a:t>  Professional</a:t>
            </a:r>
            <a:endParaRPr lang="en-US" sz="1400" dirty="0"/>
          </a:p>
        </p:txBody>
      </p:sp>
      <p:sp>
        <p:nvSpPr>
          <p:cNvPr id="11" name="Text 9"/>
          <p:cNvSpPr txBox="1"/>
          <p:nvPr/>
        </p:nvSpPr>
        <p:spPr>
          <a:xfrm>
            <a:off x="4526280" y="2953512"/>
            <a:ext cx="3154680" cy="411480"/>
          </a:xfrm>
          <a:prstGeom prst="rect">
            <a:avLst/>
          </a:prstGeom>
          <a:noFill/>
          <a:ln/>
        </p:spPr>
        <p:txBody>
          <a:bodyPr wrap="square" lIns="0" tIns="0" rIns="0" bIns="0" rtlCol="0" anchor="t"/>
          <a:lstStyle/>
          <a:p>
            <a:pPr indent="0" marL="0">
              <a:buNone/>
            </a:pPr>
            <a:r>
              <a:rPr lang="en-US" sz="1600" b="1" dirty="0">
                <a:solidFill>
                  <a:schemeClr val="bg1"/>
                </a:solidFill>
              </a:rPr>
              <a:t>案件・チームで価値を出せる人</a:t>
            </a:r>
            <a:endParaRPr lang="en-US" sz="1600" dirty="0"/>
          </a:p>
        </p:txBody>
      </p:sp>
      <p:sp>
        <p:nvSpPr>
          <p:cNvPr id="12" name="Text 10"/>
          <p:cNvSpPr txBox="1"/>
          <p:nvPr/>
        </p:nvSpPr>
        <p:spPr>
          <a:xfrm>
            <a:off x="4526280" y="3447288"/>
            <a:ext cx="3154680" cy="256032"/>
          </a:xfrm>
          <a:prstGeom prst="rect">
            <a:avLst/>
          </a:prstGeom>
          <a:noFill/>
          <a:ln/>
        </p:spPr>
        <p:txBody>
          <a:bodyPr wrap="square" lIns="0" tIns="0" rIns="0" bIns="0" rtlCol="0" anchor="t"/>
          <a:lstStyle/>
          <a:p>
            <a:pPr indent="0" marL="0">
              <a:buNone/>
            </a:pPr>
            <a:r>
              <a:rPr lang="en-US" sz="1100" b="1" dirty="0">
                <a:solidFill>
                  <a:schemeClr val="bg2"/>
                </a:solidFill>
              </a:rPr>
              <a:t>成果の範囲</a:t>
            </a:r>
            <a:endParaRPr lang="en-US" sz="1100" dirty="0"/>
          </a:p>
        </p:txBody>
      </p:sp>
      <p:sp>
        <p:nvSpPr>
          <p:cNvPr id="13" name="Text 11"/>
          <p:cNvSpPr txBox="1"/>
          <p:nvPr/>
        </p:nvSpPr>
        <p:spPr>
          <a:xfrm>
            <a:off x="4526280" y="3703320"/>
            <a:ext cx="3154680" cy="1645920"/>
          </a:xfrm>
          <a:prstGeom prst="rect">
            <a:avLst/>
          </a:prstGeom>
          <a:noFill/>
          <a:ln/>
        </p:spPr>
        <p:txBody>
          <a:bodyPr wrap="square" lIns="0" tIns="0" rIns="0" bIns="0" rtlCol="0" anchor="t"/>
          <a:lstStyle/>
          <a:p>
            <a:pPr indent="0" marL="0">
              <a:buNone/>
            </a:pPr>
            <a:r>
              <a:rPr lang="en-US" sz="1400" dirty="0">
                <a:solidFill>
                  <a:schemeClr val="bg1"/>
                </a:solidFill>
              </a:rPr>
              <a:t>所属する案件・チームの中で、本人以外の人が実際に再利用している</a:t>
            </a:r>
            <a:endParaRPr lang="en-US" sz="1400" dirty="0"/>
          </a:p>
        </p:txBody>
      </p:sp>
      <p:sp>
        <p:nvSpPr>
          <p:cNvPr id="14" name="Shape 12"/>
          <p:cNvSpPr/>
          <p:nvPr/>
        </p:nvSpPr>
        <p:spPr>
          <a:xfrm>
            <a:off x="8046720" y="1508760"/>
            <a:ext cx="3593592" cy="3931920"/>
          </a:xfrm>
          <a:prstGeom prst="roundRect">
            <a:avLst>
              <a:gd name="adj" fmla="val 2036"/>
            </a:avLst>
          </a:prstGeom>
          <a:solidFill>
            <a:schemeClr val="tx2"/>
          </a:solidFill>
          <a:ln w="6350">
            <a:solidFill>
              <a:schemeClr val="tx2"/>
            </a:solidFill>
            <a:prstDash val="solid"/>
          </a:ln>
        </p:spPr>
      </p:sp>
      <p:sp>
        <p:nvSpPr>
          <p:cNvPr id="15" name="Text 13"/>
          <p:cNvSpPr txBox="1"/>
          <p:nvPr/>
        </p:nvSpPr>
        <p:spPr>
          <a:xfrm>
            <a:off x="8275320" y="1645920"/>
            <a:ext cx="3154680" cy="502920"/>
          </a:xfrm>
          <a:prstGeom prst="rect">
            <a:avLst/>
          </a:prstGeom>
          <a:noFill/>
          <a:ln/>
        </p:spPr>
        <p:txBody>
          <a:bodyPr wrap="square" lIns="0" tIns="0" rIns="0" bIns="0" rtlCol="0" anchor="ctr"/>
          <a:lstStyle/>
          <a:p>
            <a:pPr indent="0" marL="0">
              <a:buNone/>
            </a:pPr>
            <a:r>
              <a:rPr lang="en-US" sz="2800" b="1" dirty="0">
                <a:solidFill>
                  <a:schemeClr val="bg1"/>
                </a:solidFill>
              </a:rPr>
              <a:t>Lv.4</a:t>
            </a:r>
            <a:pPr indent="0" marL="0">
              <a:buNone/>
            </a:pPr>
            <a:r>
              <a:rPr lang="en-US" sz="1400" dirty="0">
                <a:solidFill>
                  <a:schemeClr val="bg1"/>
                </a:solidFill>
              </a:rPr>
              <a:t>  Expert</a:t>
            </a:r>
            <a:endParaRPr lang="en-US" sz="1400" dirty="0"/>
          </a:p>
        </p:txBody>
      </p:sp>
      <p:sp>
        <p:nvSpPr>
          <p:cNvPr id="16" name="Text 14"/>
          <p:cNvSpPr txBox="1"/>
          <p:nvPr/>
        </p:nvSpPr>
        <p:spPr>
          <a:xfrm>
            <a:off x="8275320" y="2221992"/>
            <a:ext cx="3154680" cy="411480"/>
          </a:xfrm>
          <a:prstGeom prst="rect">
            <a:avLst/>
          </a:prstGeom>
          <a:noFill/>
          <a:ln/>
        </p:spPr>
        <p:txBody>
          <a:bodyPr wrap="square" lIns="0" tIns="0" rIns="0" bIns="0" rtlCol="0" anchor="t"/>
          <a:lstStyle/>
          <a:p>
            <a:pPr indent="0" marL="0">
              <a:buNone/>
            </a:pPr>
            <a:r>
              <a:rPr lang="en-US" sz="1600" b="1" dirty="0">
                <a:solidFill>
                  <a:schemeClr val="bg1"/>
                </a:solidFill>
              </a:rPr>
              <a:t>組織へ展開し、定着させられる人</a:t>
            </a:r>
            <a:endParaRPr lang="en-US" sz="1600" dirty="0"/>
          </a:p>
        </p:txBody>
      </p:sp>
      <p:sp>
        <p:nvSpPr>
          <p:cNvPr id="17" name="Text 15"/>
          <p:cNvSpPr txBox="1"/>
          <p:nvPr/>
        </p:nvSpPr>
        <p:spPr>
          <a:xfrm>
            <a:off x="8275320" y="2715768"/>
            <a:ext cx="3154680" cy="256032"/>
          </a:xfrm>
          <a:prstGeom prst="rect">
            <a:avLst/>
          </a:prstGeom>
          <a:noFill/>
          <a:ln/>
        </p:spPr>
        <p:txBody>
          <a:bodyPr wrap="square" lIns="0" tIns="0" rIns="0" bIns="0" rtlCol="0" anchor="t"/>
          <a:lstStyle/>
          <a:p>
            <a:pPr indent="0" marL="0">
              <a:buNone/>
            </a:pPr>
            <a:r>
              <a:rPr lang="en-US" sz="1100" b="1" dirty="0">
                <a:solidFill>
                  <a:schemeClr val="bg2"/>
                </a:solidFill>
              </a:rPr>
              <a:t>成果の範囲</a:t>
            </a:r>
            <a:endParaRPr lang="en-US" sz="1100" dirty="0"/>
          </a:p>
        </p:txBody>
      </p:sp>
      <p:sp>
        <p:nvSpPr>
          <p:cNvPr id="18" name="Text 16"/>
          <p:cNvSpPr txBox="1"/>
          <p:nvPr/>
        </p:nvSpPr>
        <p:spPr>
          <a:xfrm>
            <a:off x="8275320" y="2971800"/>
            <a:ext cx="3154680" cy="2377440"/>
          </a:xfrm>
          <a:prstGeom prst="rect">
            <a:avLst/>
          </a:prstGeom>
          <a:noFill/>
          <a:ln/>
        </p:spPr>
        <p:txBody>
          <a:bodyPr wrap="square" lIns="0" tIns="0" rIns="0" bIns="0" rtlCol="0" anchor="t"/>
          <a:lstStyle/>
          <a:p>
            <a:pPr indent="0" marL="0">
              <a:buNone/>
            </a:pPr>
            <a:r>
              <a:rPr lang="en-US" sz="1400" dirty="0">
                <a:solidFill>
                  <a:schemeClr val="bg1"/>
                </a:solidFill>
              </a:rPr>
              <a:t>所属単位を超えた2つ以上の案件・チーム・部門で運用され、標準化・教育・ガバナンスまで整っている</a:t>
            </a:r>
            <a:endParaRPr lang="en-US" sz="1400" dirty="0"/>
          </a:p>
        </p:txBody>
      </p:sp>
      <p:sp>
        <p:nvSpPr>
          <p:cNvPr id="19" name="Shape 17"/>
          <p:cNvSpPr/>
          <p:nvPr/>
        </p:nvSpPr>
        <p:spPr>
          <a:xfrm>
            <a:off x="548640" y="5577840"/>
            <a:ext cx="11091672" cy="502920"/>
          </a:xfrm>
          <a:prstGeom prst="roundRect">
            <a:avLst>
              <a:gd name="adj" fmla="val 14545"/>
            </a:avLst>
          </a:prstGeom>
          <a:solidFill>
            <a:schemeClr val="accent2">
              <a:alpha val="15000"/>
            </a:schemeClr>
          </a:solidFill>
          <a:ln w="9525">
            <a:solidFill>
              <a:schemeClr val="accent2">
                <a:alpha val="50000"/>
              </a:schemeClr>
            </a:solidFill>
            <a:prstDash val="solid"/>
          </a:ln>
        </p:spPr>
      </p:sp>
      <p:sp>
        <p:nvSpPr>
          <p:cNvPr id="20" name="Text 18"/>
          <p:cNvSpPr txBox="1"/>
          <p:nvPr/>
        </p:nvSpPr>
        <p:spPr>
          <a:xfrm>
            <a:off x="731520" y="5577840"/>
            <a:ext cx="10789920" cy="502920"/>
          </a:xfrm>
          <a:prstGeom prst="rect">
            <a:avLst/>
          </a:prstGeom>
          <a:noFill/>
          <a:ln/>
        </p:spPr>
        <p:txBody>
          <a:bodyPr wrap="square" lIns="0" tIns="0" rIns="0" bIns="0" rtlCol="0" anchor="ctr"/>
          <a:lstStyle/>
          <a:p>
            <a:pPr indent="0" marL="0">
              <a:buNone/>
            </a:pPr>
            <a:r>
              <a:rPr lang="en-US" sz="1400" b="1" dirty="0">
                <a:solidFill>
                  <a:schemeClr val="tx2"/>
                </a:solidFill>
              </a:rPr>
              <a:t>境目のポイント　</a:t>
            </a:r>
            <a:pPr indent="0" marL="0">
              <a:buNone/>
            </a:pPr>
            <a:r>
              <a:rPr lang="en-US" sz="1400" dirty="0">
                <a:solidFill>
                  <a:schemeClr val="tx1"/>
                </a:solidFill>
              </a:rPr>
              <a:t>Lv.3とLv.4の差は人数ではなく「展開した単位の範囲」。50人のチームでも、所属単位の中だけならLv.3</a:t>
            </a:r>
            <a:endParaRPr lang="en-US" sz="1400" dirty="0"/>
          </a:p>
        </p:txBody>
      </p:sp>
      <p:sp>
        <p:nvSpPr>
          <p:cNvPr id="21" name="Text 19"/>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§3・§3.4／02 §8</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1　制度の全体像</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上位レベルは、下位レベルを順番に合格してから申請する</a:t>
            </a:r>
            <a:endParaRPr lang="en-US" sz="2400" dirty="0"/>
          </a:p>
        </p:txBody>
      </p:sp>
      <p:sp>
        <p:nvSpPr>
          <p:cNvPr id="4" name="Shape 2"/>
          <p:cNvSpPr/>
          <p:nvPr/>
        </p:nvSpPr>
        <p:spPr>
          <a:xfrm>
            <a:off x="548640" y="2926080"/>
            <a:ext cx="1664208" cy="914400"/>
          </a:xfrm>
          <a:prstGeom prst="roundRect">
            <a:avLst>
              <a:gd name="adj" fmla="val 8000"/>
            </a:avLst>
          </a:prstGeom>
          <a:solidFill>
            <a:schemeClr val="bg2"/>
          </a:solidFill>
          <a:ln w="6350">
            <a:solidFill>
              <a:schemeClr val="bg2"/>
            </a:solidFill>
            <a:prstDash val="solid"/>
          </a:ln>
        </p:spPr>
      </p:sp>
      <p:sp>
        <p:nvSpPr>
          <p:cNvPr id="5" name="Text 3"/>
          <p:cNvSpPr txBox="1"/>
          <p:nvPr/>
        </p:nvSpPr>
        <p:spPr>
          <a:xfrm>
            <a:off x="548640" y="3035808"/>
            <a:ext cx="1664208" cy="274320"/>
          </a:xfrm>
          <a:prstGeom prst="rect">
            <a:avLst/>
          </a:prstGeom>
          <a:noFill/>
          <a:ln/>
        </p:spPr>
        <p:txBody>
          <a:bodyPr wrap="square" lIns="0" tIns="0" rIns="0" bIns="0" rtlCol="0" anchor="t"/>
          <a:lstStyle/>
          <a:p>
            <a:pPr algn="ctr" indent="0" marL="0">
              <a:buNone/>
            </a:pPr>
            <a:r>
              <a:rPr lang="en-US" sz="1300" b="1" dirty="0">
                <a:solidFill>
                  <a:schemeClr val="accent1"/>
                </a:solidFill>
              </a:rPr>
              <a:t>Lv.2</a:t>
            </a:r>
            <a:endParaRPr lang="en-US" sz="1300" dirty="0"/>
          </a:p>
        </p:txBody>
      </p:sp>
      <p:sp>
        <p:nvSpPr>
          <p:cNvPr id="6" name="Text 4"/>
          <p:cNvSpPr txBox="1"/>
          <p:nvPr/>
        </p:nvSpPr>
        <p:spPr>
          <a:xfrm>
            <a:off x="548640" y="3337560"/>
            <a:ext cx="1664208" cy="365760"/>
          </a:xfrm>
          <a:prstGeom prst="rect">
            <a:avLst/>
          </a:prstGeom>
          <a:noFill/>
          <a:ln/>
        </p:spPr>
        <p:txBody>
          <a:bodyPr wrap="square" lIns="0" tIns="0" rIns="0" bIns="0" rtlCol="0" anchor="t"/>
          <a:lstStyle/>
          <a:p>
            <a:pPr algn="ctr" indent="0" marL="0">
              <a:buNone/>
            </a:pPr>
            <a:r>
              <a:rPr lang="en-US" sz="1500" b="1" dirty="0">
                <a:solidFill>
                  <a:schemeClr val="tx2"/>
                </a:solidFill>
              </a:rPr>
              <a:t>共通テスト</a:t>
            </a:r>
            <a:endParaRPr lang="en-US" sz="1500" dirty="0"/>
          </a:p>
        </p:txBody>
      </p:sp>
      <p:sp>
        <p:nvSpPr>
          <p:cNvPr id="7" name="Shape 5"/>
          <p:cNvSpPr/>
          <p:nvPr/>
        </p:nvSpPr>
        <p:spPr>
          <a:xfrm>
            <a:off x="2249424" y="3154680"/>
            <a:ext cx="164592" cy="274320"/>
          </a:xfrm>
          <a:prstGeom prst="rightArrow">
            <a:avLst/>
          </a:prstGeom>
          <a:solidFill>
            <a:schemeClr val="accent3"/>
          </a:solidFill>
          <a:ln w="6350">
            <a:solidFill>
              <a:schemeClr val="accent3"/>
            </a:solidFill>
            <a:prstDash val="solid"/>
          </a:ln>
        </p:spPr>
      </p:sp>
      <p:sp>
        <p:nvSpPr>
          <p:cNvPr id="8" name="Shape 6"/>
          <p:cNvSpPr/>
          <p:nvPr/>
        </p:nvSpPr>
        <p:spPr>
          <a:xfrm>
            <a:off x="2441448" y="2651760"/>
            <a:ext cx="1664208" cy="914400"/>
          </a:xfrm>
          <a:prstGeom prst="roundRect">
            <a:avLst>
              <a:gd name="adj" fmla="val 8000"/>
            </a:avLst>
          </a:prstGeom>
          <a:solidFill>
            <a:schemeClr val="accent1"/>
          </a:solidFill>
          <a:ln w="6350">
            <a:solidFill>
              <a:schemeClr val="accent1"/>
            </a:solidFill>
            <a:prstDash val="solid"/>
          </a:ln>
        </p:spPr>
      </p:sp>
      <p:sp>
        <p:nvSpPr>
          <p:cNvPr id="9" name="Text 7"/>
          <p:cNvSpPr txBox="1"/>
          <p:nvPr/>
        </p:nvSpPr>
        <p:spPr>
          <a:xfrm>
            <a:off x="2441448" y="2761488"/>
            <a:ext cx="1664208" cy="274320"/>
          </a:xfrm>
          <a:prstGeom prst="rect">
            <a:avLst/>
          </a:prstGeom>
          <a:noFill/>
          <a:ln/>
        </p:spPr>
        <p:txBody>
          <a:bodyPr wrap="square" lIns="0" tIns="0" rIns="0" bIns="0" rtlCol="0" anchor="t"/>
          <a:lstStyle/>
          <a:p>
            <a:pPr algn="ctr" indent="0" marL="0">
              <a:buNone/>
            </a:pPr>
            <a:r>
              <a:rPr lang="en-US" sz="1300" b="1" dirty="0">
                <a:solidFill>
                  <a:schemeClr val="bg2"/>
                </a:solidFill>
              </a:rPr>
              <a:t>Lv.2</a:t>
            </a:r>
            <a:endParaRPr lang="en-US" sz="1300" dirty="0"/>
          </a:p>
        </p:txBody>
      </p:sp>
      <p:sp>
        <p:nvSpPr>
          <p:cNvPr id="10" name="Text 8"/>
          <p:cNvSpPr txBox="1"/>
          <p:nvPr/>
        </p:nvSpPr>
        <p:spPr>
          <a:xfrm>
            <a:off x="2441448" y="3063240"/>
            <a:ext cx="1664208" cy="365760"/>
          </a:xfrm>
          <a:prstGeom prst="rect">
            <a:avLst/>
          </a:prstGeom>
          <a:noFill/>
          <a:ln/>
        </p:spPr>
        <p:txBody>
          <a:bodyPr wrap="square" lIns="0" tIns="0" rIns="0" bIns="0" rtlCol="0" anchor="t"/>
          <a:lstStyle/>
          <a:p>
            <a:pPr algn="ctr" indent="0" marL="0">
              <a:buNone/>
            </a:pPr>
            <a:r>
              <a:rPr lang="en-US" sz="1500" b="1" dirty="0">
                <a:solidFill>
                  <a:schemeClr val="bg1"/>
                </a:solidFill>
              </a:rPr>
              <a:t>実務事例審査</a:t>
            </a:r>
            <a:endParaRPr lang="en-US" sz="1500" dirty="0"/>
          </a:p>
        </p:txBody>
      </p:sp>
      <p:sp>
        <p:nvSpPr>
          <p:cNvPr id="11" name="Shape 9"/>
          <p:cNvSpPr/>
          <p:nvPr/>
        </p:nvSpPr>
        <p:spPr>
          <a:xfrm>
            <a:off x="4142232" y="2880360"/>
            <a:ext cx="164592" cy="274320"/>
          </a:xfrm>
          <a:prstGeom prst="rightArrow">
            <a:avLst/>
          </a:prstGeom>
          <a:solidFill>
            <a:schemeClr val="accent3"/>
          </a:solidFill>
          <a:ln w="6350">
            <a:solidFill>
              <a:schemeClr val="accent3"/>
            </a:solidFill>
            <a:prstDash val="solid"/>
          </a:ln>
        </p:spPr>
      </p:sp>
      <p:sp>
        <p:nvSpPr>
          <p:cNvPr id="12" name="Shape 10"/>
          <p:cNvSpPr/>
          <p:nvPr/>
        </p:nvSpPr>
        <p:spPr>
          <a:xfrm>
            <a:off x="4334256" y="2377440"/>
            <a:ext cx="1664208" cy="914400"/>
          </a:xfrm>
          <a:prstGeom prst="roundRect">
            <a:avLst>
              <a:gd name="adj" fmla="val 8000"/>
            </a:avLst>
          </a:prstGeom>
          <a:solidFill>
            <a:schemeClr val="bg2"/>
          </a:solidFill>
          <a:ln w="6350">
            <a:solidFill>
              <a:schemeClr val="bg2"/>
            </a:solidFill>
            <a:prstDash val="solid"/>
          </a:ln>
        </p:spPr>
      </p:sp>
      <p:sp>
        <p:nvSpPr>
          <p:cNvPr id="13" name="Text 11"/>
          <p:cNvSpPr txBox="1"/>
          <p:nvPr/>
        </p:nvSpPr>
        <p:spPr>
          <a:xfrm>
            <a:off x="4334256" y="2487168"/>
            <a:ext cx="1664208" cy="274320"/>
          </a:xfrm>
          <a:prstGeom prst="rect">
            <a:avLst/>
          </a:prstGeom>
          <a:noFill/>
          <a:ln/>
        </p:spPr>
        <p:txBody>
          <a:bodyPr wrap="square" lIns="0" tIns="0" rIns="0" bIns="0" rtlCol="0" anchor="t"/>
          <a:lstStyle/>
          <a:p>
            <a:pPr algn="ctr" indent="0" marL="0">
              <a:buNone/>
            </a:pPr>
            <a:r>
              <a:rPr lang="en-US" sz="1300" b="1" dirty="0">
                <a:solidFill>
                  <a:schemeClr val="accent1"/>
                </a:solidFill>
              </a:rPr>
              <a:t>Lv.3</a:t>
            </a:r>
            <a:endParaRPr lang="en-US" sz="1300" dirty="0"/>
          </a:p>
        </p:txBody>
      </p:sp>
      <p:sp>
        <p:nvSpPr>
          <p:cNvPr id="14" name="Text 12"/>
          <p:cNvSpPr txBox="1"/>
          <p:nvPr/>
        </p:nvSpPr>
        <p:spPr>
          <a:xfrm>
            <a:off x="4334256" y="2788920"/>
            <a:ext cx="1664208" cy="365760"/>
          </a:xfrm>
          <a:prstGeom prst="rect">
            <a:avLst/>
          </a:prstGeom>
          <a:noFill/>
          <a:ln/>
        </p:spPr>
        <p:txBody>
          <a:bodyPr wrap="square" lIns="0" tIns="0" rIns="0" bIns="0" rtlCol="0" anchor="t"/>
          <a:lstStyle/>
          <a:p>
            <a:pPr algn="ctr" indent="0" marL="0">
              <a:buNone/>
            </a:pPr>
            <a:r>
              <a:rPr lang="en-US" sz="1500" b="1" dirty="0">
                <a:solidFill>
                  <a:schemeClr val="tx2"/>
                </a:solidFill>
              </a:rPr>
              <a:t>共通テスト</a:t>
            </a:r>
            <a:endParaRPr lang="en-US" sz="1500" dirty="0"/>
          </a:p>
        </p:txBody>
      </p:sp>
      <p:sp>
        <p:nvSpPr>
          <p:cNvPr id="15" name="Shape 13"/>
          <p:cNvSpPr/>
          <p:nvPr/>
        </p:nvSpPr>
        <p:spPr>
          <a:xfrm>
            <a:off x="6035040" y="2606040"/>
            <a:ext cx="164592" cy="274320"/>
          </a:xfrm>
          <a:prstGeom prst="rightArrow">
            <a:avLst/>
          </a:prstGeom>
          <a:solidFill>
            <a:schemeClr val="accent3"/>
          </a:solidFill>
          <a:ln w="6350">
            <a:solidFill>
              <a:schemeClr val="accent3"/>
            </a:solidFill>
            <a:prstDash val="solid"/>
          </a:ln>
        </p:spPr>
      </p:sp>
      <p:sp>
        <p:nvSpPr>
          <p:cNvPr id="16" name="Shape 14"/>
          <p:cNvSpPr/>
          <p:nvPr/>
        </p:nvSpPr>
        <p:spPr>
          <a:xfrm>
            <a:off x="6227064" y="2103120"/>
            <a:ext cx="1664208" cy="914400"/>
          </a:xfrm>
          <a:prstGeom prst="roundRect">
            <a:avLst>
              <a:gd name="adj" fmla="val 8000"/>
            </a:avLst>
          </a:prstGeom>
          <a:solidFill>
            <a:schemeClr val="accent1"/>
          </a:solidFill>
          <a:ln w="6350">
            <a:solidFill>
              <a:schemeClr val="accent1"/>
            </a:solidFill>
            <a:prstDash val="solid"/>
          </a:ln>
        </p:spPr>
      </p:sp>
      <p:sp>
        <p:nvSpPr>
          <p:cNvPr id="17" name="Text 15"/>
          <p:cNvSpPr txBox="1"/>
          <p:nvPr/>
        </p:nvSpPr>
        <p:spPr>
          <a:xfrm>
            <a:off x="6227064" y="2212848"/>
            <a:ext cx="1664208" cy="274320"/>
          </a:xfrm>
          <a:prstGeom prst="rect">
            <a:avLst/>
          </a:prstGeom>
          <a:noFill/>
          <a:ln/>
        </p:spPr>
        <p:txBody>
          <a:bodyPr wrap="square" lIns="0" tIns="0" rIns="0" bIns="0" rtlCol="0" anchor="t"/>
          <a:lstStyle/>
          <a:p>
            <a:pPr algn="ctr" indent="0" marL="0">
              <a:buNone/>
            </a:pPr>
            <a:r>
              <a:rPr lang="en-US" sz="1300" b="1" dirty="0">
                <a:solidFill>
                  <a:schemeClr val="bg2"/>
                </a:solidFill>
              </a:rPr>
              <a:t>Lv.3</a:t>
            </a:r>
            <a:endParaRPr lang="en-US" sz="1300" dirty="0"/>
          </a:p>
        </p:txBody>
      </p:sp>
      <p:sp>
        <p:nvSpPr>
          <p:cNvPr id="18" name="Text 16"/>
          <p:cNvSpPr txBox="1"/>
          <p:nvPr/>
        </p:nvSpPr>
        <p:spPr>
          <a:xfrm>
            <a:off x="6227064" y="2514600"/>
            <a:ext cx="1664208" cy="365760"/>
          </a:xfrm>
          <a:prstGeom prst="rect">
            <a:avLst/>
          </a:prstGeom>
          <a:noFill/>
          <a:ln/>
        </p:spPr>
        <p:txBody>
          <a:bodyPr wrap="square" lIns="0" tIns="0" rIns="0" bIns="0" rtlCol="0" anchor="t"/>
          <a:lstStyle/>
          <a:p>
            <a:pPr algn="ctr" indent="0" marL="0">
              <a:buNone/>
            </a:pPr>
            <a:r>
              <a:rPr lang="en-US" sz="1500" b="1" dirty="0">
                <a:solidFill>
                  <a:schemeClr val="bg1"/>
                </a:solidFill>
              </a:rPr>
              <a:t>実務事例審査</a:t>
            </a:r>
            <a:endParaRPr lang="en-US" sz="1500" dirty="0"/>
          </a:p>
        </p:txBody>
      </p:sp>
      <p:sp>
        <p:nvSpPr>
          <p:cNvPr id="19" name="Shape 17"/>
          <p:cNvSpPr/>
          <p:nvPr/>
        </p:nvSpPr>
        <p:spPr>
          <a:xfrm>
            <a:off x="7927848" y="2331720"/>
            <a:ext cx="164592" cy="274320"/>
          </a:xfrm>
          <a:prstGeom prst="rightArrow">
            <a:avLst/>
          </a:prstGeom>
          <a:solidFill>
            <a:schemeClr val="accent3"/>
          </a:solidFill>
          <a:ln w="6350">
            <a:solidFill>
              <a:schemeClr val="accent3"/>
            </a:solidFill>
            <a:prstDash val="solid"/>
          </a:ln>
        </p:spPr>
      </p:sp>
      <p:sp>
        <p:nvSpPr>
          <p:cNvPr id="20" name="Shape 18"/>
          <p:cNvSpPr/>
          <p:nvPr/>
        </p:nvSpPr>
        <p:spPr>
          <a:xfrm>
            <a:off x="8119872" y="1828800"/>
            <a:ext cx="1664208" cy="914400"/>
          </a:xfrm>
          <a:prstGeom prst="roundRect">
            <a:avLst>
              <a:gd name="adj" fmla="val 8000"/>
            </a:avLst>
          </a:prstGeom>
          <a:solidFill>
            <a:schemeClr val="bg2"/>
          </a:solidFill>
          <a:ln w="6350">
            <a:solidFill>
              <a:schemeClr val="bg2"/>
            </a:solidFill>
            <a:prstDash val="solid"/>
          </a:ln>
        </p:spPr>
      </p:sp>
      <p:sp>
        <p:nvSpPr>
          <p:cNvPr id="21" name="Text 19"/>
          <p:cNvSpPr txBox="1"/>
          <p:nvPr/>
        </p:nvSpPr>
        <p:spPr>
          <a:xfrm>
            <a:off x="8119872" y="1938528"/>
            <a:ext cx="1664208" cy="274320"/>
          </a:xfrm>
          <a:prstGeom prst="rect">
            <a:avLst/>
          </a:prstGeom>
          <a:noFill/>
          <a:ln/>
        </p:spPr>
        <p:txBody>
          <a:bodyPr wrap="square" lIns="0" tIns="0" rIns="0" bIns="0" rtlCol="0" anchor="t"/>
          <a:lstStyle/>
          <a:p>
            <a:pPr algn="ctr" indent="0" marL="0">
              <a:buNone/>
            </a:pPr>
            <a:r>
              <a:rPr lang="en-US" sz="1300" b="1" dirty="0">
                <a:solidFill>
                  <a:schemeClr val="accent1"/>
                </a:solidFill>
              </a:rPr>
              <a:t>Lv.4</a:t>
            </a:r>
            <a:endParaRPr lang="en-US" sz="1300" dirty="0"/>
          </a:p>
        </p:txBody>
      </p:sp>
      <p:sp>
        <p:nvSpPr>
          <p:cNvPr id="22" name="Text 20"/>
          <p:cNvSpPr txBox="1"/>
          <p:nvPr/>
        </p:nvSpPr>
        <p:spPr>
          <a:xfrm>
            <a:off x="8119872" y="2240280"/>
            <a:ext cx="1664208" cy="365760"/>
          </a:xfrm>
          <a:prstGeom prst="rect">
            <a:avLst/>
          </a:prstGeom>
          <a:noFill/>
          <a:ln/>
        </p:spPr>
        <p:txBody>
          <a:bodyPr wrap="square" lIns="0" tIns="0" rIns="0" bIns="0" rtlCol="0" anchor="t"/>
          <a:lstStyle/>
          <a:p>
            <a:pPr algn="ctr" indent="0" marL="0">
              <a:buNone/>
            </a:pPr>
            <a:r>
              <a:rPr lang="en-US" sz="1500" b="1" dirty="0">
                <a:solidFill>
                  <a:schemeClr val="tx2"/>
                </a:solidFill>
              </a:rPr>
              <a:t>共通テスト</a:t>
            </a:r>
            <a:endParaRPr lang="en-US" sz="1500" dirty="0"/>
          </a:p>
        </p:txBody>
      </p:sp>
      <p:sp>
        <p:nvSpPr>
          <p:cNvPr id="23" name="Shape 21"/>
          <p:cNvSpPr/>
          <p:nvPr/>
        </p:nvSpPr>
        <p:spPr>
          <a:xfrm>
            <a:off x="9820656" y="2057400"/>
            <a:ext cx="164592" cy="274320"/>
          </a:xfrm>
          <a:prstGeom prst="rightArrow">
            <a:avLst/>
          </a:prstGeom>
          <a:solidFill>
            <a:schemeClr val="accent3"/>
          </a:solidFill>
          <a:ln w="6350">
            <a:solidFill>
              <a:schemeClr val="accent3"/>
            </a:solidFill>
            <a:prstDash val="solid"/>
          </a:ln>
        </p:spPr>
      </p:sp>
      <p:sp>
        <p:nvSpPr>
          <p:cNvPr id="24" name="Shape 22"/>
          <p:cNvSpPr/>
          <p:nvPr/>
        </p:nvSpPr>
        <p:spPr>
          <a:xfrm>
            <a:off x="10012680" y="1554480"/>
            <a:ext cx="1664208" cy="914400"/>
          </a:xfrm>
          <a:prstGeom prst="roundRect">
            <a:avLst>
              <a:gd name="adj" fmla="val 8000"/>
            </a:avLst>
          </a:prstGeom>
          <a:solidFill>
            <a:schemeClr val="accent1"/>
          </a:solidFill>
          <a:ln w="6350">
            <a:solidFill>
              <a:schemeClr val="accent1"/>
            </a:solidFill>
            <a:prstDash val="solid"/>
          </a:ln>
        </p:spPr>
      </p:sp>
      <p:sp>
        <p:nvSpPr>
          <p:cNvPr id="25" name="Text 23"/>
          <p:cNvSpPr txBox="1"/>
          <p:nvPr/>
        </p:nvSpPr>
        <p:spPr>
          <a:xfrm>
            <a:off x="10012680" y="1664208"/>
            <a:ext cx="1664208" cy="274320"/>
          </a:xfrm>
          <a:prstGeom prst="rect">
            <a:avLst/>
          </a:prstGeom>
          <a:noFill/>
          <a:ln/>
        </p:spPr>
        <p:txBody>
          <a:bodyPr wrap="square" lIns="0" tIns="0" rIns="0" bIns="0" rtlCol="0" anchor="t"/>
          <a:lstStyle/>
          <a:p>
            <a:pPr algn="ctr" indent="0" marL="0">
              <a:buNone/>
            </a:pPr>
            <a:r>
              <a:rPr lang="en-US" sz="1300" b="1" dirty="0">
                <a:solidFill>
                  <a:schemeClr val="bg2"/>
                </a:solidFill>
              </a:rPr>
              <a:t>Lv.4</a:t>
            </a:r>
            <a:endParaRPr lang="en-US" sz="1300" dirty="0"/>
          </a:p>
        </p:txBody>
      </p:sp>
      <p:sp>
        <p:nvSpPr>
          <p:cNvPr id="26" name="Text 24"/>
          <p:cNvSpPr txBox="1"/>
          <p:nvPr/>
        </p:nvSpPr>
        <p:spPr>
          <a:xfrm>
            <a:off x="10012680" y="1965960"/>
            <a:ext cx="1664208" cy="365760"/>
          </a:xfrm>
          <a:prstGeom prst="rect">
            <a:avLst/>
          </a:prstGeom>
          <a:noFill/>
          <a:ln/>
        </p:spPr>
        <p:txBody>
          <a:bodyPr wrap="square" lIns="0" tIns="0" rIns="0" bIns="0" rtlCol="0" anchor="t"/>
          <a:lstStyle/>
          <a:p>
            <a:pPr algn="ctr" indent="0" marL="0">
              <a:buNone/>
            </a:pPr>
            <a:r>
              <a:rPr lang="en-US" sz="1500" b="1" dirty="0">
                <a:solidFill>
                  <a:schemeClr val="bg1"/>
                </a:solidFill>
              </a:rPr>
              <a:t>実務事例審査</a:t>
            </a:r>
            <a:endParaRPr lang="en-US" sz="1500" dirty="0"/>
          </a:p>
        </p:txBody>
      </p:sp>
      <p:sp>
        <p:nvSpPr>
          <p:cNvPr id="27" name="Shape 25"/>
          <p:cNvSpPr/>
          <p:nvPr/>
        </p:nvSpPr>
        <p:spPr>
          <a:xfrm>
            <a:off x="548640" y="1554480"/>
            <a:ext cx="274320" cy="228600"/>
          </a:xfrm>
          <a:prstGeom prst="roundRect">
            <a:avLst>
              <a:gd name="adj" fmla="val 32000"/>
            </a:avLst>
          </a:prstGeom>
          <a:solidFill>
            <a:schemeClr val="bg2"/>
          </a:solidFill>
          <a:ln w="9525">
            <a:solidFill>
              <a:schemeClr val="accent5"/>
            </a:solidFill>
            <a:prstDash val="solid"/>
          </a:ln>
        </p:spPr>
      </p:sp>
      <p:sp>
        <p:nvSpPr>
          <p:cNvPr id="28" name="Text 26"/>
          <p:cNvSpPr txBox="1"/>
          <p:nvPr/>
        </p:nvSpPr>
        <p:spPr>
          <a:xfrm>
            <a:off x="914400" y="1536192"/>
            <a:ext cx="2011680" cy="274320"/>
          </a:xfrm>
          <a:prstGeom prst="rect">
            <a:avLst/>
          </a:prstGeom>
          <a:noFill/>
          <a:ln/>
        </p:spPr>
        <p:txBody>
          <a:bodyPr wrap="square" lIns="0" tIns="0" rIns="0" bIns="0" rtlCol="0" anchor="t"/>
          <a:lstStyle/>
          <a:p>
            <a:pPr indent="0" marL="0">
              <a:buNone/>
            </a:pPr>
            <a:r>
              <a:rPr lang="en-US" sz="1200" dirty="0">
                <a:solidFill>
                  <a:schemeClr val="tx1"/>
                </a:solidFill>
              </a:rPr>
              <a:t>前提条件（知識）</a:t>
            </a:r>
            <a:endParaRPr lang="en-US" sz="1200" dirty="0"/>
          </a:p>
        </p:txBody>
      </p:sp>
      <p:sp>
        <p:nvSpPr>
          <p:cNvPr id="29" name="Shape 27"/>
          <p:cNvSpPr/>
          <p:nvPr/>
        </p:nvSpPr>
        <p:spPr>
          <a:xfrm>
            <a:off x="2926080" y="1554480"/>
            <a:ext cx="274320" cy="228600"/>
          </a:xfrm>
          <a:prstGeom prst="roundRect">
            <a:avLst>
              <a:gd name="adj" fmla="val 32000"/>
            </a:avLst>
          </a:prstGeom>
          <a:solidFill>
            <a:schemeClr val="accent1"/>
          </a:solidFill>
          <a:ln w="6350">
            <a:solidFill>
              <a:schemeClr val="accent1"/>
            </a:solidFill>
            <a:prstDash val="solid"/>
          </a:ln>
        </p:spPr>
      </p:sp>
      <p:sp>
        <p:nvSpPr>
          <p:cNvPr id="30" name="Text 28"/>
          <p:cNvSpPr txBox="1"/>
          <p:nvPr/>
        </p:nvSpPr>
        <p:spPr>
          <a:xfrm>
            <a:off x="3291840" y="1536192"/>
            <a:ext cx="2194560" cy="274320"/>
          </a:xfrm>
          <a:prstGeom prst="rect">
            <a:avLst/>
          </a:prstGeom>
          <a:noFill/>
          <a:ln/>
        </p:spPr>
        <p:txBody>
          <a:bodyPr wrap="square" lIns="0" tIns="0" rIns="0" bIns="0" rtlCol="0" anchor="t"/>
          <a:lstStyle/>
          <a:p>
            <a:pPr indent="0" marL="0">
              <a:buNone/>
            </a:pPr>
            <a:r>
              <a:rPr lang="en-US" sz="1200" dirty="0">
                <a:solidFill>
                  <a:schemeClr val="tx1"/>
                </a:solidFill>
              </a:rPr>
              <a:t>主判定（実務事例）</a:t>
            </a:r>
            <a:endParaRPr lang="en-US" sz="1200" dirty="0"/>
          </a:p>
        </p:txBody>
      </p:sp>
      <p:sp>
        <p:nvSpPr>
          <p:cNvPr id="31" name="Text 29"/>
          <p:cNvSpPr txBox="1"/>
          <p:nvPr/>
        </p:nvSpPr>
        <p:spPr>
          <a:xfrm>
            <a:off x="548640" y="3977640"/>
            <a:ext cx="11091672" cy="320040"/>
          </a:xfrm>
          <a:prstGeom prst="rect">
            <a:avLst/>
          </a:prstGeom>
          <a:noFill/>
          <a:ln/>
        </p:spPr>
        <p:txBody>
          <a:bodyPr wrap="square" lIns="0" tIns="0" rIns="0" bIns="0" rtlCol="0" anchor="t"/>
          <a:lstStyle/>
          <a:p>
            <a:pPr indent="0" marL="0">
              <a:buNone/>
            </a:pPr>
            <a:r>
              <a:rPr lang="en-US" sz="1400" dirty="0">
                <a:solidFill>
                  <a:schemeClr val="tx2"/>
                </a:solidFill>
              </a:rPr>
              <a:t>Lv.3の事例審査には直前の3つ、Lv.4の事例審査には直前の5つすべての合格が必要</a:t>
            </a:r>
            <a:endParaRPr lang="en-US" sz="1400" dirty="0"/>
          </a:p>
        </p:txBody>
      </p:sp>
      <p:sp>
        <p:nvSpPr>
          <p:cNvPr id="32" name="Shape 30"/>
          <p:cNvSpPr/>
          <p:nvPr/>
        </p:nvSpPr>
        <p:spPr>
          <a:xfrm>
            <a:off x="548640" y="4526280"/>
            <a:ext cx="6766560" cy="1554480"/>
          </a:xfrm>
          <a:prstGeom prst="roundRect">
            <a:avLst>
              <a:gd name="adj" fmla="val 4706"/>
            </a:avLst>
          </a:prstGeom>
          <a:solidFill>
            <a:schemeClr val="bg2"/>
          </a:solidFill>
          <a:ln w="6350">
            <a:solidFill>
              <a:schemeClr val="bg2"/>
            </a:solidFill>
            <a:prstDash val="solid"/>
          </a:ln>
        </p:spPr>
      </p:sp>
      <p:sp>
        <p:nvSpPr>
          <p:cNvPr id="33" name="Text 31"/>
          <p:cNvSpPr txBox="1"/>
          <p:nvPr/>
        </p:nvSpPr>
        <p:spPr>
          <a:xfrm>
            <a:off x="777240" y="4636008"/>
            <a:ext cx="6400800" cy="365760"/>
          </a:xfrm>
          <a:prstGeom prst="rect">
            <a:avLst/>
          </a:prstGeom>
          <a:noFill/>
          <a:ln/>
        </p:spPr>
        <p:txBody>
          <a:bodyPr wrap="square" lIns="0" tIns="0" rIns="0" bIns="0" rtlCol="0" anchor="t"/>
          <a:lstStyle/>
          <a:p>
            <a:pPr indent="0" marL="0">
              <a:buNone/>
            </a:pPr>
            <a:r>
              <a:rPr lang="en-US" sz="1600" b="1" dirty="0">
                <a:solidFill>
                  <a:schemeClr val="accent4"/>
                </a:solidFill>
              </a:rPr>
              <a:t>下位レベルへの「振替」はしない</a:t>
            </a:r>
            <a:endParaRPr lang="en-US" sz="1600" dirty="0"/>
          </a:p>
        </p:txBody>
      </p:sp>
      <p:sp>
        <p:nvSpPr>
          <p:cNvPr id="34" name="Shape 32"/>
          <p:cNvSpPr/>
          <p:nvPr/>
        </p:nvSpPr>
        <p:spPr>
          <a:xfrm>
            <a:off x="777240" y="5120640"/>
            <a:ext cx="1920240" cy="777240"/>
          </a:xfrm>
          <a:prstGeom prst="roundRect">
            <a:avLst>
              <a:gd name="adj" fmla="val 9412"/>
            </a:avLst>
          </a:prstGeom>
          <a:solidFill>
            <a:schemeClr val="bg1"/>
          </a:solidFill>
          <a:ln w="9525">
            <a:solidFill>
              <a:schemeClr val="accent5"/>
            </a:solidFill>
            <a:prstDash val="solid"/>
          </a:ln>
        </p:spPr>
      </p:sp>
      <p:sp>
        <p:nvSpPr>
          <p:cNvPr id="35" name="Text 33"/>
          <p:cNvSpPr txBox="1"/>
          <p:nvPr/>
        </p:nvSpPr>
        <p:spPr>
          <a:xfrm>
            <a:off x="850392" y="5120640"/>
            <a:ext cx="1773936" cy="777240"/>
          </a:xfrm>
          <a:prstGeom prst="rect">
            <a:avLst/>
          </a:prstGeom>
          <a:noFill/>
          <a:ln/>
        </p:spPr>
        <p:txBody>
          <a:bodyPr wrap="square" lIns="0" tIns="0" rIns="0" bIns="0" rtlCol="0" anchor="ctr"/>
          <a:lstStyle/>
          <a:p>
            <a:pPr algn="ctr" indent="0" marL="0">
              <a:buNone/>
            </a:pPr>
            <a:r>
              <a:rPr lang="en-US" sz="1300" dirty="0">
                <a:solidFill>
                  <a:schemeClr val="tx1"/>
                </a:solidFill>
              </a:rPr>
              <a:t>Lv.3で申請</a:t>
            </a:r>
            <a:endParaRPr lang="en-US" sz="1300" dirty="0"/>
          </a:p>
        </p:txBody>
      </p:sp>
      <p:sp>
        <p:nvSpPr>
          <p:cNvPr id="36" name="Shape 34"/>
          <p:cNvSpPr/>
          <p:nvPr/>
        </p:nvSpPr>
        <p:spPr>
          <a:xfrm>
            <a:off x="2724912" y="5376672"/>
            <a:ext cx="219456" cy="274320"/>
          </a:xfrm>
          <a:prstGeom prst="rightArrow">
            <a:avLst/>
          </a:prstGeom>
          <a:solidFill>
            <a:schemeClr val="accent5"/>
          </a:solidFill>
          <a:ln w="6350">
            <a:solidFill>
              <a:schemeClr val="accent5"/>
            </a:solidFill>
            <a:prstDash val="solid"/>
          </a:ln>
        </p:spPr>
      </p:sp>
      <p:sp>
        <p:nvSpPr>
          <p:cNvPr id="37" name="Shape 35"/>
          <p:cNvSpPr/>
          <p:nvPr/>
        </p:nvSpPr>
        <p:spPr>
          <a:xfrm>
            <a:off x="2971800" y="5120640"/>
            <a:ext cx="1920240" cy="777240"/>
          </a:xfrm>
          <a:prstGeom prst="roundRect">
            <a:avLst>
              <a:gd name="adj" fmla="val 9412"/>
            </a:avLst>
          </a:prstGeom>
          <a:solidFill>
            <a:schemeClr val="bg1"/>
          </a:solidFill>
          <a:ln w="9525">
            <a:solidFill>
              <a:schemeClr val="accent5"/>
            </a:solidFill>
            <a:prstDash val="solid"/>
          </a:ln>
        </p:spPr>
      </p:sp>
      <p:sp>
        <p:nvSpPr>
          <p:cNvPr id="38" name="Text 36"/>
          <p:cNvSpPr txBox="1"/>
          <p:nvPr/>
        </p:nvSpPr>
        <p:spPr>
          <a:xfrm>
            <a:off x="3044952" y="5120640"/>
            <a:ext cx="1773936" cy="777240"/>
          </a:xfrm>
          <a:prstGeom prst="rect">
            <a:avLst/>
          </a:prstGeom>
          <a:noFill/>
          <a:ln/>
        </p:spPr>
        <p:txBody>
          <a:bodyPr wrap="square" lIns="0" tIns="0" rIns="0" bIns="0" rtlCol="0" anchor="ctr"/>
          <a:lstStyle/>
          <a:p>
            <a:pPr algn="ctr" indent="0" marL="0">
              <a:buNone/>
            </a:pPr>
            <a:r>
              <a:rPr lang="en-US" sz="1300" dirty="0">
                <a:solidFill>
                  <a:schemeClr val="tx1"/>
                </a:solidFill>
              </a:rPr>
              <a:t>Lv.3の基準に未達</a:t>
            </a:r>
            <a:endParaRPr lang="en-US" sz="1300" dirty="0"/>
          </a:p>
        </p:txBody>
      </p:sp>
      <p:sp>
        <p:nvSpPr>
          <p:cNvPr id="39" name="Shape 37"/>
          <p:cNvSpPr/>
          <p:nvPr/>
        </p:nvSpPr>
        <p:spPr>
          <a:xfrm>
            <a:off x="4919472" y="5376672"/>
            <a:ext cx="219456" cy="274320"/>
          </a:xfrm>
          <a:prstGeom prst="rightArrow">
            <a:avLst/>
          </a:prstGeom>
          <a:solidFill>
            <a:schemeClr val="accent5"/>
          </a:solidFill>
          <a:ln w="6350">
            <a:solidFill>
              <a:schemeClr val="accent5"/>
            </a:solidFill>
            <a:prstDash val="solid"/>
          </a:ln>
        </p:spPr>
      </p:sp>
      <p:sp>
        <p:nvSpPr>
          <p:cNvPr id="40" name="Shape 38"/>
          <p:cNvSpPr/>
          <p:nvPr/>
        </p:nvSpPr>
        <p:spPr>
          <a:xfrm>
            <a:off x="5166360" y="5120640"/>
            <a:ext cx="1920240" cy="777240"/>
          </a:xfrm>
          <a:prstGeom prst="roundRect">
            <a:avLst>
              <a:gd name="adj" fmla="val 9412"/>
            </a:avLst>
          </a:prstGeom>
          <a:solidFill>
            <a:schemeClr val="bg1"/>
          </a:solidFill>
          <a:ln w="9525">
            <a:solidFill>
              <a:schemeClr val="accent5"/>
            </a:solidFill>
            <a:prstDash val="solid"/>
          </a:ln>
        </p:spPr>
      </p:sp>
      <p:sp>
        <p:nvSpPr>
          <p:cNvPr id="41" name="Text 39"/>
          <p:cNvSpPr txBox="1"/>
          <p:nvPr/>
        </p:nvSpPr>
        <p:spPr>
          <a:xfrm>
            <a:off x="5239512" y="5120640"/>
            <a:ext cx="1773936" cy="777240"/>
          </a:xfrm>
          <a:prstGeom prst="rect">
            <a:avLst/>
          </a:prstGeom>
          <a:noFill/>
          <a:ln/>
        </p:spPr>
        <p:txBody>
          <a:bodyPr wrap="square" lIns="0" tIns="0" rIns="0" bIns="0" rtlCol="0" anchor="ctr"/>
          <a:lstStyle/>
          <a:p>
            <a:pPr algn="ctr" indent="0" marL="0">
              <a:buNone/>
            </a:pPr>
            <a:r>
              <a:rPr lang="en-US" sz="1300" b="1" dirty="0">
                <a:solidFill>
                  <a:schemeClr val="tx1"/>
                </a:solidFill>
              </a:rPr>
              <a:t>Lv.2に振り替えず「Lv.3不合格」</a:t>
            </a:r>
            <a:endParaRPr lang="en-US" sz="1300" dirty="0"/>
          </a:p>
        </p:txBody>
      </p:sp>
      <p:sp>
        <p:nvSpPr>
          <p:cNvPr id="42" name="Shape 40"/>
          <p:cNvSpPr/>
          <p:nvPr/>
        </p:nvSpPr>
        <p:spPr>
          <a:xfrm>
            <a:off x="7498080" y="4526280"/>
            <a:ext cx="4142232" cy="1554480"/>
          </a:xfrm>
          <a:prstGeom prst="roundRect">
            <a:avLst>
              <a:gd name="adj" fmla="val 4706"/>
            </a:avLst>
          </a:prstGeom>
          <a:solidFill>
            <a:schemeClr val="accent1">
              <a:alpha val="10000"/>
            </a:schemeClr>
          </a:solidFill>
          <a:ln w="9525">
            <a:solidFill>
              <a:schemeClr val="accent1">
                <a:alpha val="50000"/>
              </a:schemeClr>
            </a:solidFill>
            <a:prstDash val="solid"/>
          </a:ln>
        </p:spPr>
      </p:sp>
      <p:sp>
        <p:nvSpPr>
          <p:cNvPr id="43" name="Text 41"/>
          <p:cNvSpPr txBox="1"/>
          <p:nvPr/>
        </p:nvSpPr>
        <p:spPr>
          <a:xfrm>
            <a:off x="7726680" y="4636008"/>
            <a:ext cx="3749040" cy="365760"/>
          </a:xfrm>
          <a:prstGeom prst="rect">
            <a:avLst/>
          </a:prstGeom>
          <a:noFill/>
          <a:ln/>
        </p:spPr>
        <p:txBody>
          <a:bodyPr wrap="square" lIns="0" tIns="0" rIns="0" bIns="0" rtlCol="0" anchor="t"/>
          <a:lstStyle/>
          <a:p>
            <a:pPr indent="0" marL="0">
              <a:buNone/>
            </a:pPr>
            <a:r>
              <a:rPr lang="en-US" sz="1500" b="1" dirty="0">
                <a:solidFill>
                  <a:schemeClr val="accent1"/>
                </a:solidFill>
              </a:rPr>
              <a:t>下位レベルの認定が欲しいとき</a:t>
            </a:r>
            <a:endParaRPr lang="en-US" sz="1500" dirty="0"/>
          </a:p>
        </p:txBody>
      </p:sp>
      <p:sp>
        <p:nvSpPr>
          <p:cNvPr id="44" name="Text 42"/>
          <p:cNvSpPr txBox="1"/>
          <p:nvPr/>
        </p:nvSpPr>
        <p:spPr>
          <a:xfrm>
            <a:off x="7726680" y="5029200"/>
            <a:ext cx="3703320" cy="914400"/>
          </a:xfrm>
          <a:prstGeom prst="rect">
            <a:avLst/>
          </a:prstGeom>
          <a:noFill/>
          <a:ln/>
        </p:spPr>
        <p:txBody>
          <a:bodyPr wrap="square" lIns="0" tIns="0" rIns="0" bIns="0" rtlCol="0" anchor="t"/>
          <a:lstStyle/>
          <a:p>
            <a:pPr indent="0" marL="0">
              <a:buNone/>
            </a:pPr>
            <a:r>
              <a:rPr lang="en-US" sz="1400" dirty="0">
                <a:solidFill>
                  <a:schemeClr val="tx1"/>
                </a:solidFill>
              </a:rPr>
              <a:t>そのレベルをあらためて申請し、そのレベルの基準で審査を受ける</a:t>
            </a:r>
            <a:endParaRPr lang="en-US" sz="1400" dirty="0"/>
          </a:p>
        </p:txBody>
      </p:sp>
      <p:sp>
        <p:nvSpPr>
          <p:cNvPr id="45" name="Text 43"/>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§6・§7</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1　制度の全体像</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資料は3つの層に分かれる：確定ルール・詳細設計・未確定</a:t>
            </a:r>
            <a:endParaRPr lang="en-US" sz="2400" dirty="0"/>
          </a:p>
        </p:txBody>
      </p:sp>
      <p:sp>
        <p:nvSpPr>
          <p:cNvPr id="4" name="Text 2"/>
          <p:cNvSpPr txBox="1"/>
          <p:nvPr/>
        </p:nvSpPr>
        <p:spPr>
          <a:xfrm>
            <a:off x="3108960" y="1417320"/>
            <a:ext cx="5669280" cy="274320"/>
          </a:xfrm>
          <a:prstGeom prst="rect">
            <a:avLst/>
          </a:prstGeom>
          <a:noFill/>
          <a:ln/>
        </p:spPr>
        <p:txBody>
          <a:bodyPr wrap="square" lIns="0" tIns="0" rIns="0" bIns="0" rtlCol="0" anchor="t"/>
          <a:lstStyle/>
          <a:p>
            <a:pPr indent="0" marL="0">
              <a:buNone/>
            </a:pPr>
            <a:r>
              <a:rPr lang="en-US" sz="1200" b="1" dirty="0">
                <a:solidFill>
                  <a:schemeClr val="accent5"/>
                </a:solidFill>
              </a:rPr>
              <a:t>中身</a:t>
            </a:r>
            <a:endParaRPr lang="en-US" sz="1200" dirty="0"/>
          </a:p>
        </p:txBody>
      </p:sp>
      <p:sp>
        <p:nvSpPr>
          <p:cNvPr id="5" name="Text 3"/>
          <p:cNvSpPr txBox="1"/>
          <p:nvPr/>
        </p:nvSpPr>
        <p:spPr>
          <a:xfrm>
            <a:off x="9006840" y="1417320"/>
            <a:ext cx="2560320" cy="274320"/>
          </a:xfrm>
          <a:prstGeom prst="rect">
            <a:avLst/>
          </a:prstGeom>
          <a:noFill/>
          <a:ln/>
        </p:spPr>
        <p:txBody>
          <a:bodyPr wrap="square" lIns="0" tIns="0" rIns="0" bIns="0" rtlCol="0" anchor="t"/>
          <a:lstStyle/>
          <a:p>
            <a:pPr indent="0" marL="0">
              <a:buNone/>
            </a:pPr>
            <a:r>
              <a:rPr lang="en-US" sz="1200" b="1" dirty="0">
                <a:solidFill>
                  <a:schemeClr val="accent5"/>
                </a:solidFill>
              </a:rPr>
              <a:t>変更するには</a:t>
            </a:r>
            <a:endParaRPr lang="en-US" sz="1200" dirty="0"/>
          </a:p>
        </p:txBody>
      </p:sp>
      <p:sp>
        <p:nvSpPr>
          <p:cNvPr id="6" name="Shape 4"/>
          <p:cNvSpPr/>
          <p:nvPr/>
        </p:nvSpPr>
        <p:spPr>
          <a:xfrm>
            <a:off x="548640" y="1737360"/>
            <a:ext cx="2377440" cy="1353312"/>
          </a:xfrm>
          <a:prstGeom prst="roundRect">
            <a:avLst>
              <a:gd name="adj" fmla="val 5405"/>
            </a:avLst>
          </a:prstGeom>
          <a:solidFill>
            <a:schemeClr val="tx2"/>
          </a:solidFill>
          <a:ln w="6350">
            <a:solidFill>
              <a:schemeClr val="tx2"/>
            </a:solidFill>
            <a:prstDash val="solid"/>
          </a:ln>
        </p:spPr>
      </p:sp>
      <p:sp>
        <p:nvSpPr>
          <p:cNvPr id="7" name="Text 5"/>
          <p:cNvSpPr txBox="1"/>
          <p:nvPr/>
        </p:nvSpPr>
        <p:spPr>
          <a:xfrm>
            <a:off x="731520" y="1874520"/>
            <a:ext cx="457200" cy="457200"/>
          </a:xfrm>
          <a:prstGeom prst="rect">
            <a:avLst/>
          </a:prstGeom>
          <a:noFill/>
          <a:ln/>
        </p:spPr>
        <p:txBody>
          <a:bodyPr wrap="square" lIns="0" tIns="0" rIns="0" bIns="0" rtlCol="0" anchor="t"/>
          <a:lstStyle/>
          <a:p>
            <a:pPr indent="0" marL="0">
              <a:buNone/>
            </a:pPr>
            <a:r>
              <a:rPr lang="en-US" sz="2400" b="1" dirty="0">
                <a:solidFill>
                  <a:schemeClr val="bg1"/>
                </a:solidFill>
              </a:rPr>
              <a:t>1</a:t>
            </a:r>
            <a:endParaRPr lang="en-US" sz="2400" dirty="0"/>
          </a:p>
        </p:txBody>
      </p:sp>
      <p:sp>
        <p:nvSpPr>
          <p:cNvPr id="8" name="Text 6"/>
          <p:cNvSpPr txBox="1"/>
          <p:nvPr/>
        </p:nvSpPr>
        <p:spPr>
          <a:xfrm>
            <a:off x="731520" y="2304288"/>
            <a:ext cx="2103120" cy="365760"/>
          </a:xfrm>
          <a:prstGeom prst="rect">
            <a:avLst/>
          </a:prstGeom>
          <a:noFill/>
          <a:ln/>
        </p:spPr>
        <p:txBody>
          <a:bodyPr wrap="square" lIns="0" tIns="0" rIns="0" bIns="0" rtlCol="0" anchor="t"/>
          <a:lstStyle/>
          <a:p>
            <a:pPr indent="0" marL="0">
              <a:buNone/>
            </a:pPr>
            <a:r>
              <a:rPr lang="en-US" sz="1800" b="1" dirty="0">
                <a:solidFill>
                  <a:schemeClr val="bg1"/>
                </a:solidFill>
              </a:rPr>
              <a:t>確定ルール</a:t>
            </a:r>
            <a:endParaRPr lang="en-US" sz="1800" dirty="0"/>
          </a:p>
        </p:txBody>
      </p:sp>
      <p:sp>
        <p:nvSpPr>
          <p:cNvPr id="9" name="Text 7"/>
          <p:cNvSpPr txBox="1"/>
          <p:nvPr/>
        </p:nvSpPr>
        <p:spPr>
          <a:xfrm>
            <a:off x="731520" y="2670048"/>
            <a:ext cx="2103120" cy="274320"/>
          </a:xfrm>
          <a:prstGeom prst="rect">
            <a:avLst/>
          </a:prstGeom>
          <a:noFill/>
          <a:ln/>
        </p:spPr>
        <p:txBody>
          <a:bodyPr wrap="square" lIns="0" tIns="0" rIns="0" bIns="0" rtlCol="0" anchor="t"/>
          <a:lstStyle/>
          <a:p>
            <a:pPr indent="0" marL="0">
              <a:buNone/>
            </a:pPr>
            <a:r>
              <a:rPr lang="en-US" sz="1200" dirty="0">
                <a:solidFill>
                  <a:schemeClr val="bg2"/>
                </a:solidFill>
              </a:rPr>
              <a:t>確定案PDF</a:t>
            </a:r>
            <a:endParaRPr lang="en-US" sz="1200" dirty="0"/>
          </a:p>
        </p:txBody>
      </p:sp>
      <p:sp>
        <p:nvSpPr>
          <p:cNvPr id="10" name="Shape 8"/>
          <p:cNvSpPr/>
          <p:nvPr/>
        </p:nvSpPr>
        <p:spPr>
          <a:xfrm>
            <a:off x="3017520" y="1737360"/>
            <a:ext cx="5806440" cy="1353312"/>
          </a:xfrm>
          <a:prstGeom prst="roundRect">
            <a:avLst>
              <a:gd name="adj" fmla="val 5405"/>
            </a:avLst>
          </a:prstGeom>
          <a:solidFill>
            <a:schemeClr val="bg2"/>
          </a:solidFill>
          <a:ln w="6350">
            <a:solidFill>
              <a:schemeClr val="bg2"/>
            </a:solidFill>
            <a:prstDash val="solid"/>
          </a:ln>
        </p:spPr>
      </p:sp>
      <p:sp>
        <p:nvSpPr>
          <p:cNvPr id="11" name="Text 9"/>
          <p:cNvSpPr txBox="1"/>
          <p:nvPr/>
        </p:nvSpPr>
        <p:spPr>
          <a:xfrm>
            <a:off x="3200400" y="1847088"/>
            <a:ext cx="5440680" cy="1143000"/>
          </a:xfrm>
          <a:prstGeom prst="rect">
            <a:avLst/>
          </a:prstGeom>
          <a:noFill/>
          <a:ln/>
        </p:spPr>
        <p:txBody>
          <a:bodyPr wrap="square" lIns="0" tIns="0" rIns="0" bIns="0" rtlCol="0" anchor="ctr"/>
          <a:lstStyle/>
          <a:p>
            <a:pPr indent="0" marL="0">
              <a:buNone/>
            </a:pPr>
            <a:r>
              <a:rPr lang="en-US" sz="1400" dirty="0">
                <a:solidFill>
                  <a:schemeClr val="tx1"/>
                </a:solidFill>
              </a:rPr>
              <a:t>レベル定義、領域タグ、1申請1タグ1事例、段階的な申請条件、振替なし、追加資料なし、承認者の役割、テンプレート5項目、3観点・0〜3点・重み、AIと人の分担</a:t>
            </a:r>
            <a:endParaRPr lang="en-US" sz="1400" dirty="0"/>
          </a:p>
        </p:txBody>
      </p:sp>
      <p:sp>
        <p:nvSpPr>
          <p:cNvPr id="12" name="Shape 10"/>
          <p:cNvSpPr/>
          <p:nvPr/>
        </p:nvSpPr>
        <p:spPr>
          <a:xfrm>
            <a:off x="8915400" y="1737360"/>
            <a:ext cx="2724912" cy="1353312"/>
          </a:xfrm>
          <a:prstGeom prst="roundRect">
            <a:avLst>
              <a:gd name="adj" fmla="val 5405"/>
            </a:avLst>
          </a:prstGeom>
          <a:solidFill>
            <a:schemeClr val="tx2">
              <a:alpha val="12000"/>
            </a:schemeClr>
          </a:solidFill>
          <a:ln w="9525">
            <a:solidFill>
              <a:schemeClr val="tx2">
                <a:alpha val="50000"/>
              </a:schemeClr>
            </a:solidFill>
            <a:prstDash val="solid"/>
          </a:ln>
        </p:spPr>
      </p:sp>
      <p:sp>
        <p:nvSpPr>
          <p:cNvPr id="13" name="Text 11"/>
          <p:cNvSpPr txBox="1"/>
          <p:nvPr/>
        </p:nvSpPr>
        <p:spPr>
          <a:xfrm>
            <a:off x="9070848" y="1847088"/>
            <a:ext cx="2423160" cy="1143000"/>
          </a:xfrm>
          <a:prstGeom prst="rect">
            <a:avLst/>
          </a:prstGeom>
          <a:noFill/>
          <a:ln/>
        </p:spPr>
        <p:txBody>
          <a:bodyPr wrap="square" lIns="0" tIns="0" rIns="0" bIns="0" rtlCol="0" anchor="ctr"/>
          <a:lstStyle/>
          <a:p>
            <a:pPr indent="0" marL="0">
              <a:buNone/>
            </a:pPr>
            <a:r>
              <a:rPr lang="en-US" sz="1300" dirty="0">
                <a:solidFill>
                  <a:schemeClr val="tx1"/>
                </a:solidFill>
              </a:rPr>
              <a:t>関係者の合意が必要。確定案は「更新中」で今後も追記がある</a:t>
            </a:r>
            <a:endParaRPr lang="en-US" sz="1300" dirty="0"/>
          </a:p>
        </p:txBody>
      </p:sp>
      <p:sp>
        <p:nvSpPr>
          <p:cNvPr id="14" name="Shape 12"/>
          <p:cNvSpPr/>
          <p:nvPr/>
        </p:nvSpPr>
        <p:spPr>
          <a:xfrm>
            <a:off x="548640" y="3218688"/>
            <a:ext cx="2377440" cy="1353312"/>
          </a:xfrm>
          <a:prstGeom prst="roundRect">
            <a:avLst>
              <a:gd name="adj" fmla="val 5405"/>
            </a:avLst>
          </a:prstGeom>
          <a:solidFill>
            <a:schemeClr val="accent1"/>
          </a:solidFill>
          <a:ln w="6350">
            <a:solidFill>
              <a:schemeClr val="accent1"/>
            </a:solidFill>
            <a:prstDash val="solid"/>
          </a:ln>
        </p:spPr>
      </p:sp>
      <p:sp>
        <p:nvSpPr>
          <p:cNvPr id="15" name="Text 13"/>
          <p:cNvSpPr txBox="1"/>
          <p:nvPr/>
        </p:nvSpPr>
        <p:spPr>
          <a:xfrm>
            <a:off x="731520" y="3355848"/>
            <a:ext cx="457200" cy="457200"/>
          </a:xfrm>
          <a:prstGeom prst="rect">
            <a:avLst/>
          </a:prstGeom>
          <a:noFill/>
          <a:ln/>
        </p:spPr>
        <p:txBody>
          <a:bodyPr wrap="square" lIns="0" tIns="0" rIns="0" bIns="0" rtlCol="0" anchor="t"/>
          <a:lstStyle/>
          <a:p>
            <a:pPr indent="0" marL="0">
              <a:buNone/>
            </a:pPr>
            <a:r>
              <a:rPr lang="en-US" sz="2400" b="1" dirty="0">
                <a:solidFill>
                  <a:schemeClr val="bg1"/>
                </a:solidFill>
              </a:rPr>
              <a:t>2</a:t>
            </a:r>
            <a:endParaRPr lang="en-US" sz="2400" dirty="0"/>
          </a:p>
        </p:txBody>
      </p:sp>
      <p:sp>
        <p:nvSpPr>
          <p:cNvPr id="16" name="Text 14"/>
          <p:cNvSpPr txBox="1"/>
          <p:nvPr/>
        </p:nvSpPr>
        <p:spPr>
          <a:xfrm>
            <a:off x="731520" y="3785616"/>
            <a:ext cx="2103120" cy="365760"/>
          </a:xfrm>
          <a:prstGeom prst="rect">
            <a:avLst/>
          </a:prstGeom>
          <a:noFill/>
          <a:ln/>
        </p:spPr>
        <p:txBody>
          <a:bodyPr wrap="square" lIns="0" tIns="0" rIns="0" bIns="0" rtlCol="0" anchor="t"/>
          <a:lstStyle/>
          <a:p>
            <a:pPr indent="0" marL="0">
              <a:buNone/>
            </a:pPr>
            <a:r>
              <a:rPr lang="en-US" sz="1800" b="1" dirty="0">
                <a:solidFill>
                  <a:schemeClr val="bg1"/>
                </a:solidFill>
              </a:rPr>
              <a:t>詳細設計</a:t>
            </a:r>
            <a:endParaRPr lang="en-US" sz="1800" dirty="0"/>
          </a:p>
        </p:txBody>
      </p:sp>
      <p:sp>
        <p:nvSpPr>
          <p:cNvPr id="17" name="Text 15"/>
          <p:cNvSpPr txBox="1"/>
          <p:nvPr/>
        </p:nvSpPr>
        <p:spPr>
          <a:xfrm>
            <a:off x="731520" y="4151376"/>
            <a:ext cx="2103120" cy="274320"/>
          </a:xfrm>
          <a:prstGeom prst="rect">
            <a:avLst/>
          </a:prstGeom>
          <a:noFill/>
          <a:ln/>
        </p:spPr>
        <p:txBody>
          <a:bodyPr wrap="square" lIns="0" tIns="0" rIns="0" bIns="0" rtlCol="0" anchor="t"/>
          <a:lstStyle/>
          <a:p>
            <a:pPr indent="0" marL="0">
              <a:buNone/>
            </a:pPr>
            <a:r>
              <a:rPr lang="en-US" sz="1200" dirty="0">
                <a:solidFill>
                  <a:schemeClr val="bg2"/>
                </a:solidFill>
              </a:rPr>
              <a:t>設計資料01〜04</a:t>
            </a:r>
            <a:endParaRPr lang="en-US" sz="1200" dirty="0"/>
          </a:p>
        </p:txBody>
      </p:sp>
      <p:sp>
        <p:nvSpPr>
          <p:cNvPr id="18" name="Shape 16"/>
          <p:cNvSpPr/>
          <p:nvPr/>
        </p:nvSpPr>
        <p:spPr>
          <a:xfrm>
            <a:off x="3017520" y="3218688"/>
            <a:ext cx="5806440" cy="1353312"/>
          </a:xfrm>
          <a:prstGeom prst="roundRect">
            <a:avLst>
              <a:gd name="adj" fmla="val 5405"/>
            </a:avLst>
          </a:prstGeom>
          <a:solidFill>
            <a:schemeClr val="bg2"/>
          </a:solidFill>
          <a:ln w="6350">
            <a:solidFill>
              <a:schemeClr val="bg2"/>
            </a:solidFill>
            <a:prstDash val="solid"/>
          </a:ln>
        </p:spPr>
      </p:sp>
      <p:sp>
        <p:nvSpPr>
          <p:cNvPr id="19" name="Text 17"/>
          <p:cNvSpPr txBox="1"/>
          <p:nvPr/>
        </p:nvSpPr>
        <p:spPr>
          <a:xfrm>
            <a:off x="3200400" y="3328416"/>
            <a:ext cx="5440680" cy="1143000"/>
          </a:xfrm>
          <a:prstGeom prst="rect">
            <a:avLst/>
          </a:prstGeom>
          <a:noFill/>
          <a:ln/>
        </p:spPr>
        <p:txBody>
          <a:bodyPr wrap="square" lIns="0" tIns="0" rIns="0" bIns="0" rtlCol="0" anchor="ctr"/>
          <a:lstStyle/>
          <a:p>
            <a:pPr indent="0" marL="0">
              <a:buNone/>
            </a:pPr>
            <a:r>
              <a:rPr lang="en-US" sz="1400" dirty="0">
                <a:solidFill>
                  <a:schemeClr val="tx1"/>
                </a:solidFill>
              </a:rPr>
              <a:t>Gate（必須条件）、合格ライン「加重平均2.0以上」、結果の3分類（情報不足を含む）、Evidence整理、フォームの条件分岐、公開と匿名化</a:t>
            </a:r>
            <a:endParaRPr lang="en-US" sz="1400" dirty="0"/>
          </a:p>
        </p:txBody>
      </p:sp>
      <p:sp>
        <p:nvSpPr>
          <p:cNvPr id="20" name="Shape 18"/>
          <p:cNvSpPr/>
          <p:nvPr/>
        </p:nvSpPr>
        <p:spPr>
          <a:xfrm>
            <a:off x="8915400" y="3218688"/>
            <a:ext cx="2724912" cy="1353312"/>
          </a:xfrm>
          <a:prstGeom prst="roundRect">
            <a:avLst>
              <a:gd name="adj" fmla="val 5405"/>
            </a:avLst>
          </a:prstGeom>
          <a:solidFill>
            <a:schemeClr val="accent1">
              <a:alpha val="12000"/>
            </a:schemeClr>
          </a:solidFill>
          <a:ln w="9525">
            <a:solidFill>
              <a:schemeClr val="accent1">
                <a:alpha val="50000"/>
              </a:schemeClr>
            </a:solidFill>
            <a:prstDash val="solid"/>
          </a:ln>
        </p:spPr>
      </p:sp>
      <p:sp>
        <p:nvSpPr>
          <p:cNvPr id="21" name="Text 19"/>
          <p:cNvSpPr txBox="1"/>
          <p:nvPr/>
        </p:nvSpPr>
        <p:spPr>
          <a:xfrm>
            <a:off x="9070848" y="3328416"/>
            <a:ext cx="2423160" cy="1143000"/>
          </a:xfrm>
          <a:prstGeom prst="rect">
            <a:avLst/>
          </a:prstGeom>
          <a:noFill/>
          <a:ln/>
        </p:spPr>
        <p:txBody>
          <a:bodyPr wrap="square" lIns="0" tIns="0" rIns="0" bIns="0" rtlCol="0" anchor="ctr"/>
          <a:lstStyle/>
          <a:p>
            <a:pPr indent="0" marL="0">
              <a:buNone/>
            </a:pPr>
            <a:r>
              <a:rPr lang="en-US" sz="1300" dirty="0">
                <a:solidFill>
                  <a:schemeClr val="tx1"/>
                </a:solidFill>
              </a:rPr>
              <a:t>設計の判断で変更できる。公開・匿名化（04）は確定案に記載がない</a:t>
            </a:r>
            <a:endParaRPr lang="en-US" sz="1300" dirty="0"/>
          </a:p>
        </p:txBody>
      </p:sp>
      <p:sp>
        <p:nvSpPr>
          <p:cNvPr id="22" name="Shape 20"/>
          <p:cNvSpPr/>
          <p:nvPr/>
        </p:nvSpPr>
        <p:spPr>
          <a:xfrm>
            <a:off x="548640" y="4700016"/>
            <a:ext cx="2377440" cy="1353312"/>
          </a:xfrm>
          <a:prstGeom prst="roundRect">
            <a:avLst>
              <a:gd name="adj" fmla="val 5405"/>
            </a:avLst>
          </a:prstGeom>
          <a:solidFill>
            <a:schemeClr val="accent2"/>
          </a:solidFill>
          <a:ln w="6350">
            <a:solidFill>
              <a:schemeClr val="accent2"/>
            </a:solidFill>
            <a:prstDash val="solid"/>
          </a:ln>
        </p:spPr>
      </p:sp>
      <p:sp>
        <p:nvSpPr>
          <p:cNvPr id="23" name="Text 21"/>
          <p:cNvSpPr txBox="1"/>
          <p:nvPr/>
        </p:nvSpPr>
        <p:spPr>
          <a:xfrm>
            <a:off x="731520" y="4837176"/>
            <a:ext cx="457200" cy="457200"/>
          </a:xfrm>
          <a:prstGeom prst="rect">
            <a:avLst/>
          </a:prstGeom>
          <a:noFill/>
          <a:ln/>
        </p:spPr>
        <p:txBody>
          <a:bodyPr wrap="square" lIns="0" tIns="0" rIns="0" bIns="0" rtlCol="0" anchor="t"/>
          <a:lstStyle/>
          <a:p>
            <a:pPr indent="0" marL="0">
              <a:buNone/>
            </a:pPr>
            <a:r>
              <a:rPr lang="en-US" sz="2400" b="1" dirty="0">
                <a:solidFill>
                  <a:schemeClr val="bg1"/>
                </a:solidFill>
              </a:rPr>
              <a:t>3</a:t>
            </a:r>
            <a:endParaRPr lang="en-US" sz="2400" dirty="0"/>
          </a:p>
        </p:txBody>
      </p:sp>
      <p:sp>
        <p:nvSpPr>
          <p:cNvPr id="24" name="Text 22"/>
          <p:cNvSpPr txBox="1"/>
          <p:nvPr/>
        </p:nvSpPr>
        <p:spPr>
          <a:xfrm>
            <a:off x="731520" y="5266944"/>
            <a:ext cx="2103120" cy="365760"/>
          </a:xfrm>
          <a:prstGeom prst="rect">
            <a:avLst/>
          </a:prstGeom>
          <a:noFill/>
          <a:ln/>
        </p:spPr>
        <p:txBody>
          <a:bodyPr wrap="square" lIns="0" tIns="0" rIns="0" bIns="0" rtlCol="0" anchor="t"/>
          <a:lstStyle/>
          <a:p>
            <a:pPr indent="0" marL="0">
              <a:buNone/>
            </a:pPr>
            <a:r>
              <a:rPr lang="en-US" sz="1800" b="1" dirty="0">
                <a:solidFill>
                  <a:schemeClr val="bg1"/>
                </a:solidFill>
              </a:rPr>
              <a:t>未確定</a:t>
            </a:r>
            <a:endParaRPr lang="en-US" sz="1800" dirty="0"/>
          </a:p>
        </p:txBody>
      </p:sp>
      <p:sp>
        <p:nvSpPr>
          <p:cNvPr id="25" name="Text 23"/>
          <p:cNvSpPr txBox="1"/>
          <p:nvPr/>
        </p:nvSpPr>
        <p:spPr>
          <a:xfrm>
            <a:off x="731520" y="5632704"/>
            <a:ext cx="2103120" cy="274320"/>
          </a:xfrm>
          <a:prstGeom prst="rect">
            <a:avLst/>
          </a:prstGeom>
          <a:noFill/>
          <a:ln/>
        </p:spPr>
        <p:txBody>
          <a:bodyPr wrap="square" lIns="0" tIns="0" rIns="0" bIns="0" rtlCol="0" anchor="t"/>
          <a:lstStyle/>
          <a:p>
            <a:pPr indent="0" marL="0">
              <a:buNone/>
            </a:pPr>
            <a:r>
              <a:rPr lang="en-US" sz="1200" dirty="0">
                <a:solidFill>
                  <a:schemeClr val="bg2"/>
                </a:solidFill>
              </a:rPr>
              <a:t>各資料に記載</a:t>
            </a:r>
            <a:endParaRPr lang="en-US" sz="1200" dirty="0"/>
          </a:p>
        </p:txBody>
      </p:sp>
      <p:sp>
        <p:nvSpPr>
          <p:cNvPr id="26" name="Shape 24"/>
          <p:cNvSpPr/>
          <p:nvPr/>
        </p:nvSpPr>
        <p:spPr>
          <a:xfrm>
            <a:off x="3017520" y="4700016"/>
            <a:ext cx="5806440" cy="1353312"/>
          </a:xfrm>
          <a:prstGeom prst="roundRect">
            <a:avLst>
              <a:gd name="adj" fmla="val 5405"/>
            </a:avLst>
          </a:prstGeom>
          <a:solidFill>
            <a:schemeClr val="bg2"/>
          </a:solidFill>
          <a:ln w="6350">
            <a:solidFill>
              <a:schemeClr val="bg2"/>
            </a:solidFill>
            <a:prstDash val="solid"/>
          </a:ln>
        </p:spPr>
      </p:sp>
      <p:sp>
        <p:nvSpPr>
          <p:cNvPr id="27" name="Text 25"/>
          <p:cNvSpPr txBox="1"/>
          <p:nvPr/>
        </p:nvSpPr>
        <p:spPr>
          <a:xfrm>
            <a:off x="3200400" y="4809744"/>
            <a:ext cx="5440680" cy="1143000"/>
          </a:xfrm>
          <a:prstGeom prst="rect">
            <a:avLst/>
          </a:prstGeom>
          <a:noFill/>
          <a:ln/>
        </p:spPr>
        <p:txBody>
          <a:bodyPr wrap="square" lIns="0" tIns="0" rIns="0" bIns="0" rtlCol="0" anchor="ctr"/>
          <a:lstStyle/>
          <a:p>
            <a:pPr indent="0" marL="0">
              <a:buNone/>
            </a:pPr>
            <a:r>
              <a:rPr lang="en-US" sz="1400" dirty="0">
                <a:solidFill>
                  <a:schemeClr val="tx1"/>
                </a:solidFill>
              </a:rPr>
              <a:t>機密情報の扱い、差し戻し・再提出のルール、「一定期間」の長さ、再申請までの待機期間、公開時の追加承認者 など</a:t>
            </a:r>
            <a:endParaRPr lang="en-US" sz="1400" dirty="0"/>
          </a:p>
        </p:txBody>
      </p:sp>
      <p:sp>
        <p:nvSpPr>
          <p:cNvPr id="28" name="Shape 26"/>
          <p:cNvSpPr/>
          <p:nvPr/>
        </p:nvSpPr>
        <p:spPr>
          <a:xfrm>
            <a:off x="8915400" y="4700016"/>
            <a:ext cx="2724912" cy="1353312"/>
          </a:xfrm>
          <a:prstGeom prst="roundRect">
            <a:avLst>
              <a:gd name="adj" fmla="val 5405"/>
            </a:avLst>
          </a:prstGeom>
          <a:solidFill>
            <a:schemeClr val="accent2">
              <a:alpha val="12000"/>
            </a:schemeClr>
          </a:solidFill>
          <a:ln w="9525">
            <a:solidFill>
              <a:schemeClr val="accent2">
                <a:alpha val="50000"/>
              </a:schemeClr>
            </a:solidFill>
            <a:prstDash val="solid"/>
          </a:ln>
        </p:spPr>
      </p:sp>
      <p:sp>
        <p:nvSpPr>
          <p:cNvPr id="29" name="Text 27"/>
          <p:cNvSpPr txBox="1"/>
          <p:nvPr/>
        </p:nvSpPr>
        <p:spPr>
          <a:xfrm>
            <a:off x="9070848" y="4809744"/>
            <a:ext cx="2423160" cy="1143000"/>
          </a:xfrm>
          <a:prstGeom prst="rect">
            <a:avLst/>
          </a:prstGeom>
          <a:noFill/>
          <a:ln/>
        </p:spPr>
        <p:txBody>
          <a:bodyPr wrap="square" lIns="0" tIns="0" rIns="0" bIns="0" rtlCol="0" anchor="ctr"/>
          <a:lstStyle/>
          <a:p>
            <a:pPr indent="0" marL="0">
              <a:buNone/>
            </a:pPr>
            <a:r>
              <a:rPr lang="en-US" sz="1300" dirty="0">
                <a:solidFill>
                  <a:schemeClr val="tx1"/>
                </a:solidFill>
              </a:rPr>
              <a:t>今後決定する。値は固定せず設定で管理する（付録1）</a:t>
            </a:r>
            <a:endParaRPr lang="en-US" sz="1300" dirty="0"/>
          </a:p>
        </p:txBody>
      </p:sp>
      <p:sp>
        <p:nvSpPr>
          <p:cNvPr id="30" name="Text 28"/>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§8.5／01「制度上位ルールと詳細設計の区分」</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2　審査の仕組み</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審査は7ステップ。Gate判定の中で事実の整理から必須条件の確認までを行う</a:t>
            </a:r>
            <a:endParaRPr lang="en-US" sz="2400" dirty="0"/>
          </a:p>
        </p:txBody>
      </p:sp>
      <p:sp>
        <p:nvSpPr>
          <p:cNvPr id="4" name="Shape 2"/>
          <p:cNvSpPr/>
          <p:nvPr/>
        </p:nvSpPr>
        <p:spPr>
          <a:xfrm>
            <a:off x="548640" y="1463040"/>
            <a:ext cx="1463040" cy="1371600"/>
          </a:xfrm>
          <a:prstGeom prst="roundRect">
            <a:avLst>
              <a:gd name="adj" fmla="val 5333"/>
            </a:avLst>
          </a:prstGeom>
          <a:solidFill>
            <a:schemeClr val="bg2"/>
          </a:solidFill>
          <a:ln w="6350">
            <a:solidFill>
              <a:schemeClr val="bg2"/>
            </a:solidFill>
            <a:prstDash val="solid"/>
          </a:ln>
        </p:spPr>
      </p:sp>
      <p:sp>
        <p:nvSpPr>
          <p:cNvPr id="5" name="Shape 3"/>
          <p:cNvSpPr/>
          <p:nvPr/>
        </p:nvSpPr>
        <p:spPr>
          <a:xfrm>
            <a:off x="640080" y="1554480"/>
            <a:ext cx="347472" cy="347472"/>
          </a:xfrm>
          <a:prstGeom prst="ellipse">
            <a:avLst/>
          </a:prstGeom>
          <a:solidFill>
            <a:schemeClr val="accent3"/>
          </a:solidFill>
          <a:ln w="6350">
            <a:solidFill>
              <a:schemeClr val="accent3"/>
            </a:solidFill>
            <a:prstDash val="solid"/>
          </a:ln>
        </p:spPr>
      </p:sp>
      <p:sp>
        <p:nvSpPr>
          <p:cNvPr id="6" name="Text 4"/>
          <p:cNvSpPr txBox="1"/>
          <p:nvPr/>
        </p:nvSpPr>
        <p:spPr>
          <a:xfrm>
            <a:off x="640080" y="15544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Shape 5"/>
          <p:cNvSpPr/>
          <p:nvPr/>
        </p:nvSpPr>
        <p:spPr>
          <a:xfrm>
            <a:off x="1051560" y="1591056"/>
            <a:ext cx="868680" cy="274320"/>
          </a:xfrm>
          <a:prstGeom prst="roundRect">
            <a:avLst>
              <a:gd name="adj" fmla="val 50000"/>
            </a:avLst>
          </a:prstGeom>
          <a:solidFill>
            <a:schemeClr val="accent3"/>
          </a:solidFill>
          <a:ln w="6350">
            <a:solidFill>
              <a:schemeClr val="accent3"/>
            </a:solidFill>
            <a:prstDash val="solid"/>
          </a:ln>
        </p:spPr>
      </p:sp>
      <p:sp>
        <p:nvSpPr>
          <p:cNvPr id="8" name="Text 6"/>
          <p:cNvSpPr txBox="1"/>
          <p:nvPr/>
        </p:nvSpPr>
        <p:spPr>
          <a:xfrm>
            <a:off x="1051560" y="1591056"/>
            <a:ext cx="868680" cy="274320"/>
          </a:xfrm>
          <a:prstGeom prst="rect">
            <a:avLst/>
          </a:prstGeom>
          <a:noFill/>
          <a:ln/>
        </p:spPr>
        <p:txBody>
          <a:bodyPr wrap="square" lIns="0" tIns="0" rIns="0" bIns="0" rtlCol="0" anchor="ctr"/>
          <a:lstStyle/>
          <a:p>
            <a:pPr algn="ctr" indent="0" marL="0">
              <a:buNone/>
            </a:pPr>
            <a:r>
              <a:rPr lang="en-US" sz="1100" b="1" dirty="0">
                <a:solidFill>
                  <a:schemeClr val="bg1"/>
                </a:solidFill>
              </a:rPr>
              <a:t>申請者</a:t>
            </a:r>
            <a:endParaRPr lang="en-US" sz="1100" dirty="0"/>
          </a:p>
        </p:txBody>
      </p:sp>
      <p:sp>
        <p:nvSpPr>
          <p:cNvPr id="9" name="Text 7"/>
          <p:cNvSpPr txBox="1"/>
          <p:nvPr/>
        </p:nvSpPr>
        <p:spPr>
          <a:xfrm>
            <a:off x="640080" y="1975104"/>
            <a:ext cx="1280160" cy="292608"/>
          </a:xfrm>
          <a:prstGeom prst="rect">
            <a:avLst/>
          </a:prstGeom>
          <a:noFill/>
          <a:ln/>
        </p:spPr>
        <p:txBody>
          <a:bodyPr wrap="square" lIns="0" tIns="0" rIns="0" bIns="0" rtlCol="0" anchor="t"/>
          <a:lstStyle/>
          <a:p>
            <a:pPr indent="0" marL="0">
              <a:buNone/>
            </a:pPr>
            <a:r>
              <a:rPr lang="en-US" sz="1200" b="1" dirty="0">
                <a:solidFill>
                  <a:schemeClr val="tx2"/>
                </a:solidFill>
              </a:rPr>
              <a:t>申請</a:t>
            </a:r>
            <a:endParaRPr lang="en-US" sz="1200" dirty="0"/>
          </a:p>
        </p:txBody>
      </p:sp>
      <p:sp>
        <p:nvSpPr>
          <p:cNvPr id="10" name="Text 8"/>
          <p:cNvSpPr txBox="1"/>
          <p:nvPr/>
        </p:nvSpPr>
        <p:spPr>
          <a:xfrm>
            <a:off x="640080" y="2286000"/>
            <a:ext cx="1280160" cy="502920"/>
          </a:xfrm>
          <a:prstGeom prst="rect">
            <a:avLst/>
          </a:prstGeom>
          <a:noFill/>
          <a:ln/>
        </p:spPr>
        <p:txBody>
          <a:bodyPr wrap="square" lIns="0" tIns="0" rIns="0" bIns="0" rtlCol="0" anchor="t"/>
          <a:lstStyle/>
          <a:p>
            <a:pPr indent="0" marL="0">
              <a:buNone/>
            </a:pPr>
            <a:r>
              <a:rPr lang="en-US" sz="1000" dirty="0">
                <a:solidFill>
                  <a:schemeClr val="tx1"/>
                </a:solidFill>
              </a:rPr>
              <a:t>申請者がフォームに入力</a:t>
            </a:r>
            <a:endParaRPr lang="en-US" sz="1000" dirty="0"/>
          </a:p>
        </p:txBody>
      </p:sp>
      <p:sp>
        <p:nvSpPr>
          <p:cNvPr id="11" name="Shape 9"/>
          <p:cNvSpPr/>
          <p:nvPr/>
        </p:nvSpPr>
        <p:spPr>
          <a:xfrm>
            <a:off x="2020824" y="2029968"/>
            <a:ext cx="123444" cy="219456"/>
          </a:xfrm>
          <a:prstGeom prst="rightArrow">
            <a:avLst/>
          </a:prstGeom>
          <a:solidFill>
            <a:schemeClr val="accent3"/>
          </a:solidFill>
          <a:ln w="6350">
            <a:solidFill>
              <a:schemeClr val="accent3"/>
            </a:solidFill>
            <a:prstDash val="solid"/>
          </a:ln>
        </p:spPr>
      </p:sp>
      <p:sp>
        <p:nvSpPr>
          <p:cNvPr id="12" name="Shape 10"/>
          <p:cNvSpPr/>
          <p:nvPr/>
        </p:nvSpPr>
        <p:spPr>
          <a:xfrm>
            <a:off x="2153412" y="1463040"/>
            <a:ext cx="1463040" cy="1371600"/>
          </a:xfrm>
          <a:prstGeom prst="roundRect">
            <a:avLst>
              <a:gd name="adj" fmla="val 5333"/>
            </a:avLst>
          </a:prstGeom>
          <a:solidFill>
            <a:srgbClr val="EFEFEF"/>
          </a:solidFill>
          <a:ln w="9525">
            <a:solidFill>
              <a:srgbClr val="BFBFBF"/>
            </a:solidFill>
            <a:prstDash val="dash"/>
          </a:ln>
        </p:spPr>
      </p:sp>
      <p:sp>
        <p:nvSpPr>
          <p:cNvPr id="13" name="Shape 11"/>
          <p:cNvSpPr/>
          <p:nvPr/>
        </p:nvSpPr>
        <p:spPr>
          <a:xfrm>
            <a:off x="2244852" y="1554480"/>
            <a:ext cx="347472" cy="347472"/>
          </a:xfrm>
          <a:prstGeom prst="ellipse">
            <a:avLst/>
          </a:prstGeom>
          <a:solidFill>
            <a:srgbClr val="BFBFBF"/>
          </a:solidFill>
          <a:ln w="6350">
            <a:solidFill>
              <a:srgbClr val="BFBFBF"/>
            </a:solidFill>
            <a:prstDash val="solid"/>
          </a:ln>
        </p:spPr>
      </p:sp>
      <p:sp>
        <p:nvSpPr>
          <p:cNvPr id="14" name="Text 12"/>
          <p:cNvSpPr txBox="1"/>
          <p:nvPr/>
        </p:nvSpPr>
        <p:spPr>
          <a:xfrm>
            <a:off x="2244852" y="15544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Shape 13"/>
          <p:cNvSpPr/>
          <p:nvPr/>
        </p:nvSpPr>
        <p:spPr>
          <a:xfrm>
            <a:off x="2656332" y="1591056"/>
            <a:ext cx="868680" cy="274320"/>
          </a:xfrm>
          <a:prstGeom prst="roundRect">
            <a:avLst>
              <a:gd name="adj" fmla="val 50000"/>
            </a:avLst>
          </a:prstGeom>
          <a:solidFill>
            <a:srgbClr val="BFBFBF"/>
          </a:solidFill>
          <a:ln w="6350">
            <a:solidFill>
              <a:srgbClr val="BFBFBF"/>
            </a:solidFill>
            <a:prstDash val="solid"/>
          </a:ln>
        </p:spPr>
      </p:sp>
      <p:sp>
        <p:nvSpPr>
          <p:cNvPr id="16" name="Text 14"/>
          <p:cNvSpPr txBox="1"/>
          <p:nvPr/>
        </p:nvSpPr>
        <p:spPr>
          <a:xfrm>
            <a:off x="2656332" y="1591056"/>
            <a:ext cx="868680" cy="274320"/>
          </a:xfrm>
          <a:prstGeom prst="rect">
            <a:avLst/>
          </a:prstGeom>
          <a:noFill/>
          <a:ln/>
        </p:spPr>
        <p:txBody>
          <a:bodyPr wrap="square" lIns="0" tIns="0" rIns="0" bIns="0" rtlCol="0" anchor="ctr"/>
          <a:lstStyle/>
          <a:p>
            <a:pPr algn="ctr" indent="0" marL="0">
              <a:buNone/>
            </a:pPr>
            <a:r>
              <a:rPr lang="en-US" sz="1100" b="1" dirty="0">
                <a:solidFill>
                  <a:schemeClr val="bg1"/>
                </a:solidFill>
              </a:rPr>
              <a:t>承認者</a:t>
            </a:r>
            <a:endParaRPr lang="en-US" sz="1100" dirty="0"/>
          </a:p>
        </p:txBody>
      </p:sp>
      <p:sp>
        <p:nvSpPr>
          <p:cNvPr id="17" name="Text 15"/>
          <p:cNvSpPr txBox="1"/>
          <p:nvPr/>
        </p:nvSpPr>
        <p:spPr>
          <a:xfrm>
            <a:off x="2244852" y="1975104"/>
            <a:ext cx="1280160" cy="292608"/>
          </a:xfrm>
          <a:prstGeom prst="rect">
            <a:avLst/>
          </a:prstGeom>
          <a:noFill/>
          <a:ln/>
        </p:spPr>
        <p:txBody>
          <a:bodyPr wrap="square" lIns="0" tIns="0" rIns="0" bIns="0" rtlCol="0" anchor="t"/>
          <a:lstStyle/>
          <a:p>
            <a:pPr indent="0" marL="0">
              <a:buNone/>
            </a:pPr>
            <a:r>
              <a:rPr lang="en-US" sz="1200" b="1" dirty="0">
                <a:solidFill>
                  <a:srgbClr val="A6A6A6"/>
                </a:solidFill>
              </a:rPr>
              <a:t>承認者確認</a:t>
            </a:r>
            <a:endParaRPr lang="en-US" sz="1200" dirty="0"/>
          </a:p>
        </p:txBody>
      </p:sp>
      <p:sp>
        <p:nvSpPr>
          <p:cNvPr id="18" name="Text 16"/>
          <p:cNvSpPr txBox="1"/>
          <p:nvPr/>
        </p:nvSpPr>
        <p:spPr>
          <a:xfrm>
            <a:off x="2244852" y="2286000"/>
            <a:ext cx="1280160" cy="502920"/>
          </a:xfrm>
          <a:prstGeom prst="rect">
            <a:avLst/>
          </a:prstGeom>
          <a:noFill/>
          <a:ln/>
        </p:spPr>
        <p:txBody>
          <a:bodyPr wrap="square" lIns="0" tIns="0" rIns="0" bIns="0" rtlCol="0" anchor="t"/>
          <a:lstStyle/>
          <a:p>
            <a:pPr indent="0" marL="0">
              <a:buNone/>
            </a:pPr>
            <a:r>
              <a:rPr lang="en-US" sz="1000" dirty="0">
                <a:solidFill>
                  <a:srgbClr val="A6A6A6"/>
                </a:solidFill>
              </a:rPr>
              <a:t>実態との相違がないかを確認（採点はしない）</a:t>
            </a:r>
            <a:endParaRPr lang="en-US" sz="1000" dirty="0"/>
          </a:p>
        </p:txBody>
      </p:sp>
      <p:sp>
        <p:nvSpPr>
          <p:cNvPr id="19" name="Shape 17"/>
          <p:cNvSpPr/>
          <p:nvPr/>
        </p:nvSpPr>
        <p:spPr>
          <a:xfrm>
            <a:off x="3625596" y="2029968"/>
            <a:ext cx="123444" cy="219456"/>
          </a:xfrm>
          <a:prstGeom prst="rightArrow">
            <a:avLst/>
          </a:prstGeom>
          <a:solidFill>
            <a:schemeClr val="accent3"/>
          </a:solidFill>
          <a:ln w="6350">
            <a:solidFill>
              <a:schemeClr val="accent3"/>
            </a:solidFill>
            <a:prstDash val="solid"/>
          </a:ln>
        </p:spPr>
      </p:sp>
      <p:sp>
        <p:nvSpPr>
          <p:cNvPr id="20" name="Shape 18"/>
          <p:cNvSpPr/>
          <p:nvPr/>
        </p:nvSpPr>
        <p:spPr>
          <a:xfrm>
            <a:off x="3758184" y="1463040"/>
            <a:ext cx="1463040" cy="1371600"/>
          </a:xfrm>
          <a:prstGeom prst="roundRect">
            <a:avLst>
              <a:gd name="adj" fmla="val 5333"/>
            </a:avLst>
          </a:prstGeom>
          <a:solidFill>
            <a:schemeClr val="bg2"/>
          </a:solidFill>
          <a:ln w="25400">
            <a:solidFill>
              <a:schemeClr val="accent1"/>
            </a:solidFill>
            <a:prstDash val="solid"/>
          </a:ln>
        </p:spPr>
      </p:sp>
      <p:sp>
        <p:nvSpPr>
          <p:cNvPr id="21" name="Shape 19"/>
          <p:cNvSpPr/>
          <p:nvPr/>
        </p:nvSpPr>
        <p:spPr>
          <a:xfrm>
            <a:off x="3849624" y="1554480"/>
            <a:ext cx="347472" cy="347472"/>
          </a:xfrm>
          <a:prstGeom prst="ellipse">
            <a:avLst/>
          </a:prstGeom>
          <a:solidFill>
            <a:schemeClr val="accent1"/>
          </a:solidFill>
          <a:ln w="6350">
            <a:solidFill>
              <a:schemeClr val="accent1"/>
            </a:solidFill>
            <a:prstDash val="solid"/>
          </a:ln>
        </p:spPr>
      </p:sp>
      <p:sp>
        <p:nvSpPr>
          <p:cNvPr id="22" name="Text 20"/>
          <p:cNvSpPr txBox="1"/>
          <p:nvPr/>
        </p:nvSpPr>
        <p:spPr>
          <a:xfrm>
            <a:off x="3849624" y="15544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3" name="Shape 21"/>
          <p:cNvSpPr/>
          <p:nvPr/>
        </p:nvSpPr>
        <p:spPr>
          <a:xfrm>
            <a:off x="4261104" y="1591056"/>
            <a:ext cx="868680" cy="274320"/>
          </a:xfrm>
          <a:prstGeom prst="roundRect">
            <a:avLst>
              <a:gd name="adj" fmla="val 50000"/>
            </a:avLst>
          </a:prstGeom>
          <a:solidFill>
            <a:schemeClr val="accent1"/>
          </a:solidFill>
          <a:ln w="6350">
            <a:solidFill>
              <a:schemeClr val="accent1"/>
            </a:solidFill>
            <a:prstDash val="solid"/>
          </a:ln>
        </p:spPr>
      </p:sp>
      <p:sp>
        <p:nvSpPr>
          <p:cNvPr id="24" name="Text 22"/>
          <p:cNvSpPr txBox="1"/>
          <p:nvPr/>
        </p:nvSpPr>
        <p:spPr>
          <a:xfrm>
            <a:off x="4261104" y="1591056"/>
            <a:ext cx="868680" cy="274320"/>
          </a:xfrm>
          <a:prstGeom prst="rect">
            <a:avLst/>
          </a:prstGeom>
          <a:noFill/>
          <a:ln/>
        </p:spPr>
        <p:txBody>
          <a:bodyPr wrap="square" lIns="0" tIns="0" rIns="0" bIns="0" rtlCol="0" anchor="ctr"/>
          <a:lstStyle/>
          <a:p>
            <a:pPr algn="ctr" indent="0" marL="0">
              <a:buNone/>
            </a:pPr>
            <a:r>
              <a:rPr lang="en-US" sz="900" b="1" dirty="0">
                <a:solidFill>
                  <a:schemeClr val="bg1"/>
                </a:solidFill>
              </a:rPr>
              <a:t>システム＋AI</a:t>
            </a:r>
            <a:endParaRPr lang="en-US" sz="900" dirty="0"/>
          </a:p>
        </p:txBody>
      </p:sp>
      <p:sp>
        <p:nvSpPr>
          <p:cNvPr id="25" name="Text 23"/>
          <p:cNvSpPr txBox="1"/>
          <p:nvPr/>
        </p:nvSpPr>
        <p:spPr>
          <a:xfrm>
            <a:off x="3849624" y="1975104"/>
            <a:ext cx="1280160" cy="292608"/>
          </a:xfrm>
          <a:prstGeom prst="rect">
            <a:avLst/>
          </a:prstGeom>
          <a:noFill/>
          <a:ln/>
        </p:spPr>
        <p:txBody>
          <a:bodyPr wrap="square" lIns="0" tIns="0" rIns="0" bIns="0" rtlCol="0" anchor="t"/>
          <a:lstStyle/>
          <a:p>
            <a:pPr indent="0" marL="0">
              <a:buNone/>
            </a:pPr>
            <a:r>
              <a:rPr lang="en-US" sz="1200" b="1" dirty="0">
                <a:solidFill>
                  <a:schemeClr val="tx2"/>
                </a:solidFill>
              </a:rPr>
              <a:t>Gate判定</a:t>
            </a:r>
            <a:endParaRPr lang="en-US" sz="1200" dirty="0"/>
          </a:p>
        </p:txBody>
      </p:sp>
      <p:sp>
        <p:nvSpPr>
          <p:cNvPr id="26" name="Text 24"/>
          <p:cNvSpPr txBox="1"/>
          <p:nvPr/>
        </p:nvSpPr>
        <p:spPr>
          <a:xfrm>
            <a:off x="3849624" y="2286000"/>
            <a:ext cx="1280160" cy="502920"/>
          </a:xfrm>
          <a:prstGeom prst="rect">
            <a:avLst/>
          </a:prstGeom>
          <a:noFill/>
          <a:ln/>
        </p:spPr>
        <p:txBody>
          <a:bodyPr wrap="square" lIns="0" tIns="0" rIns="0" bIns="0" rtlCol="0" anchor="t"/>
          <a:lstStyle/>
          <a:p>
            <a:pPr indent="0" marL="0">
              <a:buNone/>
            </a:pPr>
            <a:r>
              <a:rPr lang="en-US" sz="1000" dirty="0">
                <a:solidFill>
                  <a:schemeClr val="tx1"/>
                </a:solidFill>
              </a:rPr>
              <a:t>事実の整理・矛盾と不足の確認・必須条件の判定</a:t>
            </a:r>
            <a:endParaRPr lang="en-US" sz="1000" dirty="0"/>
          </a:p>
        </p:txBody>
      </p:sp>
      <p:sp>
        <p:nvSpPr>
          <p:cNvPr id="27" name="Shape 25"/>
          <p:cNvSpPr/>
          <p:nvPr/>
        </p:nvSpPr>
        <p:spPr>
          <a:xfrm>
            <a:off x="5230368" y="2029968"/>
            <a:ext cx="123444" cy="219456"/>
          </a:xfrm>
          <a:prstGeom prst="rightArrow">
            <a:avLst/>
          </a:prstGeom>
          <a:solidFill>
            <a:schemeClr val="accent3"/>
          </a:solidFill>
          <a:ln w="6350">
            <a:solidFill>
              <a:schemeClr val="accent3"/>
            </a:solidFill>
            <a:prstDash val="solid"/>
          </a:ln>
        </p:spPr>
      </p:sp>
      <p:sp>
        <p:nvSpPr>
          <p:cNvPr id="28" name="Shape 26"/>
          <p:cNvSpPr/>
          <p:nvPr/>
        </p:nvSpPr>
        <p:spPr>
          <a:xfrm>
            <a:off x="5362956" y="1463040"/>
            <a:ext cx="1463040" cy="1371600"/>
          </a:xfrm>
          <a:prstGeom prst="roundRect">
            <a:avLst>
              <a:gd name="adj" fmla="val 5333"/>
            </a:avLst>
          </a:prstGeom>
          <a:solidFill>
            <a:schemeClr val="bg2"/>
          </a:solidFill>
          <a:ln w="6350">
            <a:solidFill>
              <a:schemeClr val="bg2"/>
            </a:solidFill>
            <a:prstDash val="solid"/>
          </a:ln>
        </p:spPr>
      </p:sp>
      <p:sp>
        <p:nvSpPr>
          <p:cNvPr id="29" name="Shape 27"/>
          <p:cNvSpPr/>
          <p:nvPr/>
        </p:nvSpPr>
        <p:spPr>
          <a:xfrm>
            <a:off x="5454396" y="1554480"/>
            <a:ext cx="347472" cy="347472"/>
          </a:xfrm>
          <a:prstGeom prst="ellipse">
            <a:avLst/>
          </a:prstGeom>
          <a:solidFill>
            <a:schemeClr val="accent1"/>
          </a:solidFill>
          <a:ln w="6350">
            <a:solidFill>
              <a:schemeClr val="accent1"/>
            </a:solidFill>
            <a:prstDash val="solid"/>
          </a:ln>
        </p:spPr>
      </p:sp>
      <p:sp>
        <p:nvSpPr>
          <p:cNvPr id="30" name="Text 28"/>
          <p:cNvSpPr txBox="1"/>
          <p:nvPr/>
        </p:nvSpPr>
        <p:spPr>
          <a:xfrm>
            <a:off x="5454396" y="15544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1" name="Shape 29"/>
          <p:cNvSpPr/>
          <p:nvPr/>
        </p:nvSpPr>
        <p:spPr>
          <a:xfrm>
            <a:off x="5865876" y="1591056"/>
            <a:ext cx="868680" cy="274320"/>
          </a:xfrm>
          <a:prstGeom prst="roundRect">
            <a:avLst>
              <a:gd name="adj" fmla="val 50000"/>
            </a:avLst>
          </a:prstGeom>
          <a:solidFill>
            <a:schemeClr val="accent1"/>
          </a:solidFill>
          <a:ln w="6350">
            <a:solidFill>
              <a:schemeClr val="accent1"/>
            </a:solidFill>
            <a:prstDash val="solid"/>
          </a:ln>
        </p:spPr>
      </p:sp>
      <p:sp>
        <p:nvSpPr>
          <p:cNvPr id="32" name="Text 30"/>
          <p:cNvSpPr txBox="1"/>
          <p:nvPr/>
        </p:nvSpPr>
        <p:spPr>
          <a:xfrm>
            <a:off x="5865876" y="1591056"/>
            <a:ext cx="868680" cy="274320"/>
          </a:xfrm>
          <a:prstGeom prst="rect">
            <a:avLst/>
          </a:prstGeom>
          <a:noFill/>
          <a:ln/>
        </p:spPr>
        <p:txBody>
          <a:bodyPr wrap="square" lIns="0" tIns="0" rIns="0" bIns="0" rtlCol="0" anchor="ctr"/>
          <a:lstStyle/>
          <a:p>
            <a:pPr algn="ctr" indent="0" marL="0">
              <a:buNone/>
            </a:pPr>
            <a:r>
              <a:rPr lang="en-US" sz="1100" b="1" dirty="0">
                <a:solidFill>
                  <a:schemeClr val="bg1"/>
                </a:solidFill>
              </a:rPr>
              <a:t>AI</a:t>
            </a:r>
            <a:endParaRPr lang="en-US" sz="1100" dirty="0"/>
          </a:p>
        </p:txBody>
      </p:sp>
      <p:sp>
        <p:nvSpPr>
          <p:cNvPr id="33" name="Text 31"/>
          <p:cNvSpPr txBox="1"/>
          <p:nvPr/>
        </p:nvSpPr>
        <p:spPr>
          <a:xfrm>
            <a:off x="5454396" y="1975104"/>
            <a:ext cx="1280160" cy="292608"/>
          </a:xfrm>
          <a:prstGeom prst="rect">
            <a:avLst/>
          </a:prstGeom>
          <a:noFill/>
          <a:ln/>
        </p:spPr>
        <p:txBody>
          <a:bodyPr wrap="square" lIns="0" tIns="0" rIns="0" bIns="0" rtlCol="0" anchor="t"/>
          <a:lstStyle/>
          <a:p>
            <a:pPr indent="0" marL="0">
              <a:buNone/>
            </a:pPr>
            <a:r>
              <a:rPr lang="en-US" sz="1200" b="1" dirty="0">
                <a:solidFill>
                  <a:schemeClr val="tx2"/>
                </a:solidFill>
              </a:rPr>
              <a:t>ルーブリック採点</a:t>
            </a:r>
            <a:endParaRPr lang="en-US" sz="1200" dirty="0"/>
          </a:p>
        </p:txBody>
      </p:sp>
      <p:sp>
        <p:nvSpPr>
          <p:cNvPr id="34" name="Text 32"/>
          <p:cNvSpPr txBox="1"/>
          <p:nvPr/>
        </p:nvSpPr>
        <p:spPr>
          <a:xfrm>
            <a:off x="5454396" y="2286000"/>
            <a:ext cx="1280160" cy="502920"/>
          </a:xfrm>
          <a:prstGeom prst="rect">
            <a:avLst/>
          </a:prstGeom>
          <a:noFill/>
          <a:ln/>
        </p:spPr>
        <p:txBody>
          <a:bodyPr wrap="square" lIns="0" tIns="0" rIns="0" bIns="0" rtlCol="0" anchor="t"/>
          <a:lstStyle/>
          <a:p>
            <a:pPr indent="0" marL="0">
              <a:buNone/>
            </a:pPr>
            <a:r>
              <a:rPr lang="en-US" sz="1000" dirty="0">
                <a:solidFill>
                  <a:schemeClr val="tx1"/>
                </a:solidFill>
              </a:rPr>
              <a:t>3観点を0〜3点で採点</a:t>
            </a:r>
            <a:endParaRPr lang="en-US" sz="1000" dirty="0"/>
          </a:p>
        </p:txBody>
      </p:sp>
      <p:sp>
        <p:nvSpPr>
          <p:cNvPr id="35" name="Shape 33"/>
          <p:cNvSpPr/>
          <p:nvPr/>
        </p:nvSpPr>
        <p:spPr>
          <a:xfrm>
            <a:off x="6835140" y="2029968"/>
            <a:ext cx="123444" cy="219456"/>
          </a:xfrm>
          <a:prstGeom prst="rightArrow">
            <a:avLst/>
          </a:prstGeom>
          <a:solidFill>
            <a:schemeClr val="accent3"/>
          </a:solidFill>
          <a:ln w="6350">
            <a:solidFill>
              <a:schemeClr val="accent3"/>
            </a:solidFill>
            <a:prstDash val="solid"/>
          </a:ln>
        </p:spPr>
      </p:sp>
      <p:sp>
        <p:nvSpPr>
          <p:cNvPr id="36" name="Shape 34"/>
          <p:cNvSpPr/>
          <p:nvPr/>
        </p:nvSpPr>
        <p:spPr>
          <a:xfrm>
            <a:off x="6967728" y="1463040"/>
            <a:ext cx="1463040" cy="1371600"/>
          </a:xfrm>
          <a:prstGeom prst="roundRect">
            <a:avLst>
              <a:gd name="adj" fmla="val 5333"/>
            </a:avLst>
          </a:prstGeom>
          <a:solidFill>
            <a:schemeClr val="bg2"/>
          </a:solidFill>
          <a:ln w="6350">
            <a:solidFill>
              <a:schemeClr val="bg2"/>
            </a:solidFill>
            <a:prstDash val="solid"/>
          </a:ln>
        </p:spPr>
      </p:sp>
      <p:sp>
        <p:nvSpPr>
          <p:cNvPr id="37" name="Shape 35"/>
          <p:cNvSpPr/>
          <p:nvPr/>
        </p:nvSpPr>
        <p:spPr>
          <a:xfrm>
            <a:off x="7059168" y="1554480"/>
            <a:ext cx="347472" cy="347472"/>
          </a:xfrm>
          <a:prstGeom prst="ellipse">
            <a:avLst/>
          </a:prstGeom>
          <a:solidFill>
            <a:schemeClr val="accent5"/>
          </a:solidFill>
          <a:ln w="6350">
            <a:solidFill>
              <a:schemeClr val="accent5"/>
            </a:solidFill>
            <a:prstDash val="solid"/>
          </a:ln>
        </p:spPr>
      </p:sp>
      <p:sp>
        <p:nvSpPr>
          <p:cNvPr id="38" name="Text 36"/>
          <p:cNvSpPr txBox="1"/>
          <p:nvPr/>
        </p:nvSpPr>
        <p:spPr>
          <a:xfrm>
            <a:off x="7059168" y="15544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9" name="Shape 37"/>
          <p:cNvSpPr/>
          <p:nvPr/>
        </p:nvSpPr>
        <p:spPr>
          <a:xfrm>
            <a:off x="7470648" y="1591056"/>
            <a:ext cx="868680" cy="274320"/>
          </a:xfrm>
          <a:prstGeom prst="roundRect">
            <a:avLst>
              <a:gd name="adj" fmla="val 50000"/>
            </a:avLst>
          </a:prstGeom>
          <a:solidFill>
            <a:schemeClr val="accent5"/>
          </a:solidFill>
          <a:ln w="6350">
            <a:solidFill>
              <a:schemeClr val="accent5"/>
            </a:solidFill>
            <a:prstDash val="solid"/>
          </a:ln>
        </p:spPr>
      </p:sp>
      <p:sp>
        <p:nvSpPr>
          <p:cNvPr id="40" name="Text 38"/>
          <p:cNvSpPr txBox="1"/>
          <p:nvPr/>
        </p:nvSpPr>
        <p:spPr>
          <a:xfrm>
            <a:off x="7470648" y="1591056"/>
            <a:ext cx="868680" cy="274320"/>
          </a:xfrm>
          <a:prstGeom prst="rect">
            <a:avLst/>
          </a:prstGeom>
          <a:noFill/>
          <a:ln/>
        </p:spPr>
        <p:txBody>
          <a:bodyPr wrap="square" lIns="0" tIns="0" rIns="0" bIns="0" rtlCol="0" anchor="ctr"/>
          <a:lstStyle/>
          <a:p>
            <a:pPr algn="ctr" indent="0" marL="0">
              <a:buNone/>
            </a:pPr>
            <a:r>
              <a:rPr lang="en-US" sz="1100" b="1" dirty="0">
                <a:solidFill>
                  <a:schemeClr val="bg1"/>
                </a:solidFill>
              </a:rPr>
              <a:t>システム</a:t>
            </a:r>
            <a:endParaRPr lang="en-US" sz="1100" dirty="0"/>
          </a:p>
        </p:txBody>
      </p:sp>
      <p:sp>
        <p:nvSpPr>
          <p:cNvPr id="41" name="Text 39"/>
          <p:cNvSpPr txBox="1"/>
          <p:nvPr/>
        </p:nvSpPr>
        <p:spPr>
          <a:xfrm>
            <a:off x="7059168" y="1975104"/>
            <a:ext cx="1280160" cy="292608"/>
          </a:xfrm>
          <a:prstGeom prst="rect">
            <a:avLst/>
          </a:prstGeom>
          <a:noFill/>
          <a:ln/>
        </p:spPr>
        <p:txBody>
          <a:bodyPr wrap="square" lIns="0" tIns="0" rIns="0" bIns="0" rtlCol="0" anchor="t"/>
          <a:lstStyle/>
          <a:p>
            <a:pPr indent="0" marL="0">
              <a:buNone/>
            </a:pPr>
            <a:r>
              <a:rPr lang="en-US" sz="1200" b="1" dirty="0">
                <a:solidFill>
                  <a:schemeClr val="tx2"/>
                </a:solidFill>
              </a:rPr>
              <a:t>加重平均</a:t>
            </a:r>
            <a:endParaRPr lang="en-US" sz="1200" dirty="0"/>
          </a:p>
        </p:txBody>
      </p:sp>
      <p:sp>
        <p:nvSpPr>
          <p:cNvPr id="42" name="Text 40"/>
          <p:cNvSpPr txBox="1"/>
          <p:nvPr/>
        </p:nvSpPr>
        <p:spPr>
          <a:xfrm>
            <a:off x="7059168" y="2286000"/>
            <a:ext cx="1280160" cy="502920"/>
          </a:xfrm>
          <a:prstGeom prst="rect">
            <a:avLst/>
          </a:prstGeom>
          <a:noFill/>
          <a:ln/>
        </p:spPr>
        <p:txBody>
          <a:bodyPr wrap="square" lIns="0" tIns="0" rIns="0" bIns="0" rtlCol="0" anchor="t"/>
          <a:lstStyle/>
          <a:p>
            <a:pPr indent="0" marL="0">
              <a:buNone/>
            </a:pPr>
            <a:r>
              <a:rPr lang="en-US" sz="1000" dirty="0">
                <a:solidFill>
                  <a:schemeClr val="tx1"/>
                </a:solidFill>
              </a:rPr>
              <a:t>レベル別の重みで計算</a:t>
            </a:r>
            <a:endParaRPr lang="en-US" sz="1000" dirty="0"/>
          </a:p>
        </p:txBody>
      </p:sp>
      <p:sp>
        <p:nvSpPr>
          <p:cNvPr id="43" name="Shape 41"/>
          <p:cNvSpPr/>
          <p:nvPr/>
        </p:nvSpPr>
        <p:spPr>
          <a:xfrm>
            <a:off x="8439912" y="2029968"/>
            <a:ext cx="123444" cy="219456"/>
          </a:xfrm>
          <a:prstGeom prst="rightArrow">
            <a:avLst/>
          </a:prstGeom>
          <a:solidFill>
            <a:schemeClr val="accent3"/>
          </a:solidFill>
          <a:ln w="6350">
            <a:solidFill>
              <a:schemeClr val="accent3"/>
            </a:solidFill>
            <a:prstDash val="solid"/>
          </a:ln>
        </p:spPr>
      </p:sp>
      <p:sp>
        <p:nvSpPr>
          <p:cNvPr id="44" name="Shape 42"/>
          <p:cNvSpPr/>
          <p:nvPr/>
        </p:nvSpPr>
        <p:spPr>
          <a:xfrm>
            <a:off x="8572500" y="1463040"/>
            <a:ext cx="1463040" cy="1371600"/>
          </a:xfrm>
          <a:prstGeom prst="roundRect">
            <a:avLst>
              <a:gd name="adj" fmla="val 5333"/>
            </a:avLst>
          </a:prstGeom>
          <a:solidFill>
            <a:schemeClr val="bg2"/>
          </a:solidFill>
          <a:ln w="6350">
            <a:solidFill>
              <a:schemeClr val="bg2"/>
            </a:solidFill>
            <a:prstDash val="solid"/>
          </a:ln>
        </p:spPr>
      </p:sp>
      <p:sp>
        <p:nvSpPr>
          <p:cNvPr id="45" name="Shape 43"/>
          <p:cNvSpPr/>
          <p:nvPr/>
        </p:nvSpPr>
        <p:spPr>
          <a:xfrm>
            <a:off x="8663940" y="1554480"/>
            <a:ext cx="347472" cy="347472"/>
          </a:xfrm>
          <a:prstGeom prst="ellipse">
            <a:avLst/>
          </a:prstGeom>
          <a:solidFill>
            <a:schemeClr val="accent6"/>
          </a:solidFill>
          <a:ln w="6350">
            <a:solidFill>
              <a:schemeClr val="accent6"/>
            </a:solidFill>
            <a:prstDash val="solid"/>
          </a:ln>
        </p:spPr>
      </p:sp>
      <p:sp>
        <p:nvSpPr>
          <p:cNvPr id="46" name="Text 44"/>
          <p:cNvSpPr txBox="1"/>
          <p:nvPr/>
        </p:nvSpPr>
        <p:spPr>
          <a:xfrm>
            <a:off x="8663940" y="15544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7" name="Shape 45"/>
          <p:cNvSpPr/>
          <p:nvPr/>
        </p:nvSpPr>
        <p:spPr>
          <a:xfrm>
            <a:off x="9075420" y="1591056"/>
            <a:ext cx="868680" cy="274320"/>
          </a:xfrm>
          <a:prstGeom prst="roundRect">
            <a:avLst>
              <a:gd name="adj" fmla="val 50000"/>
            </a:avLst>
          </a:prstGeom>
          <a:solidFill>
            <a:schemeClr val="accent6"/>
          </a:solidFill>
          <a:ln w="6350">
            <a:solidFill>
              <a:schemeClr val="accent6"/>
            </a:solidFill>
            <a:prstDash val="solid"/>
          </a:ln>
        </p:spPr>
      </p:sp>
      <p:sp>
        <p:nvSpPr>
          <p:cNvPr id="48" name="Text 46"/>
          <p:cNvSpPr txBox="1"/>
          <p:nvPr/>
        </p:nvSpPr>
        <p:spPr>
          <a:xfrm>
            <a:off x="9075420" y="1591056"/>
            <a:ext cx="868680" cy="274320"/>
          </a:xfrm>
          <a:prstGeom prst="rect">
            <a:avLst/>
          </a:prstGeom>
          <a:noFill/>
          <a:ln/>
        </p:spPr>
        <p:txBody>
          <a:bodyPr wrap="square" lIns="0" tIns="0" rIns="0" bIns="0" rtlCol="0" anchor="ctr"/>
          <a:lstStyle/>
          <a:p>
            <a:pPr algn="ctr" indent="0" marL="0">
              <a:buNone/>
            </a:pPr>
            <a:r>
              <a:rPr lang="en-US" sz="900" b="1" dirty="0">
                <a:solidFill>
                  <a:schemeClr val="bg1"/>
                </a:solidFill>
              </a:rPr>
              <a:t>システム／人</a:t>
            </a:r>
            <a:endParaRPr lang="en-US" sz="900" dirty="0"/>
          </a:p>
        </p:txBody>
      </p:sp>
      <p:sp>
        <p:nvSpPr>
          <p:cNvPr id="49" name="Text 47"/>
          <p:cNvSpPr txBox="1"/>
          <p:nvPr/>
        </p:nvSpPr>
        <p:spPr>
          <a:xfrm>
            <a:off x="8663940" y="1975104"/>
            <a:ext cx="1280160" cy="292608"/>
          </a:xfrm>
          <a:prstGeom prst="rect">
            <a:avLst/>
          </a:prstGeom>
          <a:noFill/>
          <a:ln/>
        </p:spPr>
        <p:txBody>
          <a:bodyPr wrap="square" lIns="0" tIns="0" rIns="0" bIns="0" rtlCol="0" anchor="t"/>
          <a:lstStyle/>
          <a:p>
            <a:pPr indent="0" marL="0">
              <a:buNone/>
            </a:pPr>
            <a:r>
              <a:rPr lang="en-US" sz="1200" b="1" dirty="0">
                <a:solidFill>
                  <a:schemeClr val="tx2"/>
                </a:solidFill>
              </a:rPr>
              <a:t>合否判定</a:t>
            </a:r>
            <a:endParaRPr lang="en-US" sz="1200" dirty="0"/>
          </a:p>
        </p:txBody>
      </p:sp>
      <p:sp>
        <p:nvSpPr>
          <p:cNvPr id="50" name="Text 48"/>
          <p:cNvSpPr txBox="1"/>
          <p:nvPr/>
        </p:nvSpPr>
        <p:spPr>
          <a:xfrm>
            <a:off x="8663940" y="2286000"/>
            <a:ext cx="1280160" cy="502920"/>
          </a:xfrm>
          <a:prstGeom prst="rect">
            <a:avLst/>
          </a:prstGeom>
          <a:noFill/>
          <a:ln/>
        </p:spPr>
        <p:txBody>
          <a:bodyPr wrap="square" lIns="0" tIns="0" rIns="0" bIns="0" rtlCol="0" anchor="t"/>
          <a:lstStyle/>
          <a:p>
            <a:pPr indent="0" marL="0">
              <a:buNone/>
            </a:pPr>
            <a:r>
              <a:rPr lang="en-US" sz="1000" dirty="0">
                <a:solidFill>
                  <a:schemeClr val="tx1"/>
                </a:solidFill>
              </a:rPr>
              <a:t>全Gate通過かつ2.0以上か（Lv.4は人が最終確認）</a:t>
            </a:r>
            <a:endParaRPr lang="en-US" sz="1000" dirty="0"/>
          </a:p>
        </p:txBody>
      </p:sp>
      <p:sp>
        <p:nvSpPr>
          <p:cNvPr id="51" name="Shape 49"/>
          <p:cNvSpPr/>
          <p:nvPr/>
        </p:nvSpPr>
        <p:spPr>
          <a:xfrm>
            <a:off x="10044684" y="2029968"/>
            <a:ext cx="123444" cy="219456"/>
          </a:xfrm>
          <a:prstGeom prst="rightArrow">
            <a:avLst/>
          </a:prstGeom>
          <a:solidFill>
            <a:schemeClr val="accent3"/>
          </a:solidFill>
          <a:ln w="6350">
            <a:solidFill>
              <a:schemeClr val="accent3"/>
            </a:solidFill>
            <a:prstDash val="solid"/>
          </a:ln>
        </p:spPr>
      </p:sp>
      <p:sp>
        <p:nvSpPr>
          <p:cNvPr id="52" name="Shape 50"/>
          <p:cNvSpPr/>
          <p:nvPr/>
        </p:nvSpPr>
        <p:spPr>
          <a:xfrm>
            <a:off x="10177272" y="1463040"/>
            <a:ext cx="1463040" cy="1371600"/>
          </a:xfrm>
          <a:prstGeom prst="roundRect">
            <a:avLst>
              <a:gd name="adj" fmla="val 5333"/>
            </a:avLst>
          </a:prstGeom>
          <a:solidFill>
            <a:schemeClr val="bg2"/>
          </a:solidFill>
          <a:ln w="6350">
            <a:solidFill>
              <a:schemeClr val="bg2"/>
            </a:solidFill>
            <a:prstDash val="solid"/>
          </a:ln>
        </p:spPr>
      </p:sp>
      <p:sp>
        <p:nvSpPr>
          <p:cNvPr id="53" name="Shape 51"/>
          <p:cNvSpPr/>
          <p:nvPr/>
        </p:nvSpPr>
        <p:spPr>
          <a:xfrm>
            <a:off x="10268712" y="1554480"/>
            <a:ext cx="347472" cy="347472"/>
          </a:xfrm>
          <a:prstGeom prst="ellipse">
            <a:avLst/>
          </a:prstGeom>
          <a:solidFill>
            <a:schemeClr val="accent1"/>
          </a:solidFill>
          <a:ln w="6350">
            <a:solidFill>
              <a:schemeClr val="accent1"/>
            </a:solidFill>
            <a:prstDash val="solid"/>
          </a:ln>
        </p:spPr>
      </p:sp>
      <p:sp>
        <p:nvSpPr>
          <p:cNvPr id="54" name="Text 52"/>
          <p:cNvSpPr txBox="1"/>
          <p:nvPr/>
        </p:nvSpPr>
        <p:spPr>
          <a:xfrm>
            <a:off x="10268712" y="15544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55" name="Shape 53"/>
          <p:cNvSpPr/>
          <p:nvPr/>
        </p:nvSpPr>
        <p:spPr>
          <a:xfrm>
            <a:off x="10680192" y="1591056"/>
            <a:ext cx="868680" cy="274320"/>
          </a:xfrm>
          <a:prstGeom prst="roundRect">
            <a:avLst>
              <a:gd name="adj" fmla="val 50000"/>
            </a:avLst>
          </a:prstGeom>
          <a:solidFill>
            <a:schemeClr val="accent1"/>
          </a:solidFill>
          <a:ln w="6350">
            <a:solidFill>
              <a:schemeClr val="accent1"/>
            </a:solidFill>
            <a:prstDash val="solid"/>
          </a:ln>
        </p:spPr>
      </p:sp>
      <p:sp>
        <p:nvSpPr>
          <p:cNvPr id="56" name="Text 54"/>
          <p:cNvSpPr txBox="1"/>
          <p:nvPr/>
        </p:nvSpPr>
        <p:spPr>
          <a:xfrm>
            <a:off x="10680192" y="1591056"/>
            <a:ext cx="868680" cy="274320"/>
          </a:xfrm>
          <a:prstGeom prst="rect">
            <a:avLst/>
          </a:prstGeom>
          <a:noFill/>
          <a:ln/>
        </p:spPr>
        <p:txBody>
          <a:bodyPr wrap="square" lIns="0" tIns="0" rIns="0" bIns="0" rtlCol="0" anchor="ctr"/>
          <a:lstStyle/>
          <a:p>
            <a:pPr algn="ctr" indent="0" marL="0">
              <a:buNone/>
            </a:pPr>
            <a:r>
              <a:rPr lang="en-US" sz="1100" b="1" dirty="0">
                <a:solidFill>
                  <a:schemeClr val="bg1"/>
                </a:solidFill>
              </a:rPr>
              <a:t>AI</a:t>
            </a:r>
            <a:endParaRPr lang="en-US" sz="1100" dirty="0"/>
          </a:p>
        </p:txBody>
      </p:sp>
      <p:sp>
        <p:nvSpPr>
          <p:cNvPr id="57" name="Text 55"/>
          <p:cNvSpPr txBox="1"/>
          <p:nvPr/>
        </p:nvSpPr>
        <p:spPr>
          <a:xfrm>
            <a:off x="10268712" y="1975104"/>
            <a:ext cx="1280160" cy="292608"/>
          </a:xfrm>
          <a:prstGeom prst="rect">
            <a:avLst/>
          </a:prstGeom>
          <a:noFill/>
          <a:ln/>
        </p:spPr>
        <p:txBody>
          <a:bodyPr wrap="square" lIns="0" tIns="0" rIns="0" bIns="0" rtlCol="0" anchor="t"/>
          <a:lstStyle/>
          <a:p>
            <a:pPr indent="0" marL="0">
              <a:buNone/>
            </a:pPr>
            <a:r>
              <a:rPr lang="en-US" sz="1200" b="1" dirty="0">
                <a:solidFill>
                  <a:schemeClr val="tx2"/>
                </a:solidFill>
              </a:rPr>
              <a:t>判定理由の生成</a:t>
            </a:r>
            <a:endParaRPr lang="en-US" sz="1200" dirty="0"/>
          </a:p>
        </p:txBody>
      </p:sp>
      <p:sp>
        <p:nvSpPr>
          <p:cNvPr id="58" name="Text 56"/>
          <p:cNvSpPr txBox="1"/>
          <p:nvPr/>
        </p:nvSpPr>
        <p:spPr>
          <a:xfrm>
            <a:off x="10268712" y="2286000"/>
            <a:ext cx="1280160" cy="502920"/>
          </a:xfrm>
          <a:prstGeom prst="rect">
            <a:avLst/>
          </a:prstGeom>
          <a:noFill/>
          <a:ln/>
        </p:spPr>
        <p:txBody>
          <a:bodyPr wrap="square" lIns="0" tIns="0" rIns="0" bIns="0" rtlCol="0" anchor="t"/>
          <a:lstStyle/>
          <a:p>
            <a:pPr indent="0" marL="0">
              <a:buNone/>
            </a:pPr>
            <a:r>
              <a:rPr lang="en-US" sz="1000" dirty="0">
                <a:solidFill>
                  <a:schemeClr val="tx1"/>
                </a:solidFill>
              </a:rPr>
              <a:t>合否の理由・不足事項・改善点</a:t>
            </a:r>
            <a:endParaRPr lang="en-US" sz="1000" dirty="0"/>
          </a:p>
        </p:txBody>
      </p:sp>
      <p:sp>
        <p:nvSpPr>
          <p:cNvPr id="59" name="Text 57"/>
          <p:cNvSpPr txBox="1"/>
          <p:nvPr/>
        </p:nvSpPr>
        <p:spPr>
          <a:xfrm>
            <a:off x="2153412" y="2862072"/>
            <a:ext cx="1828800" cy="228600"/>
          </a:xfrm>
          <a:prstGeom prst="rect">
            <a:avLst/>
          </a:prstGeom>
          <a:noFill/>
          <a:ln/>
        </p:spPr>
        <p:txBody>
          <a:bodyPr wrap="square" lIns="0" tIns="0" rIns="0" bIns="0" rtlCol="0" anchor="t"/>
          <a:lstStyle/>
          <a:p>
            <a:pPr indent="0" marL="0">
              <a:buNone/>
            </a:pPr>
            <a:r>
              <a:rPr lang="en-US" sz="800" dirty="0">
                <a:solidFill>
                  <a:srgbClr val="8C8C8C"/>
                </a:solidFill>
              </a:rPr>
              <a:t>※ 実装スコープ外の可能性あり</a:t>
            </a:r>
            <a:endParaRPr lang="en-US" sz="800" dirty="0"/>
          </a:p>
        </p:txBody>
      </p:sp>
      <p:sp>
        <p:nvSpPr>
          <p:cNvPr id="60" name="Shape 58"/>
          <p:cNvSpPr/>
          <p:nvPr/>
        </p:nvSpPr>
        <p:spPr>
          <a:xfrm>
            <a:off x="4352544" y="2852928"/>
            <a:ext cx="274320" cy="256032"/>
          </a:xfrm>
          <a:prstGeom prst="downArrow">
            <a:avLst/>
          </a:prstGeom>
          <a:solidFill>
            <a:schemeClr val="accent1"/>
          </a:solidFill>
          <a:ln w="6350">
            <a:solidFill>
              <a:schemeClr val="accent1"/>
            </a:solidFill>
            <a:prstDash val="solid"/>
          </a:ln>
        </p:spPr>
      </p:sp>
      <p:sp>
        <p:nvSpPr>
          <p:cNvPr id="61" name="Shape 59"/>
          <p:cNvSpPr/>
          <p:nvPr/>
        </p:nvSpPr>
        <p:spPr>
          <a:xfrm>
            <a:off x="548640" y="3127248"/>
            <a:ext cx="11091672" cy="2971800"/>
          </a:xfrm>
          <a:prstGeom prst="roundRect">
            <a:avLst>
              <a:gd name="adj" fmla="val 2462"/>
            </a:avLst>
          </a:prstGeom>
          <a:solidFill>
            <a:schemeClr val="accent1">
              <a:alpha val="8000"/>
            </a:schemeClr>
          </a:solidFill>
          <a:ln w="9525">
            <a:solidFill>
              <a:schemeClr val="accent1">
                <a:alpha val="50000"/>
              </a:schemeClr>
            </a:solidFill>
            <a:prstDash val="solid"/>
          </a:ln>
        </p:spPr>
      </p:sp>
      <p:sp>
        <p:nvSpPr>
          <p:cNvPr id="62" name="Text 60"/>
          <p:cNvSpPr txBox="1"/>
          <p:nvPr/>
        </p:nvSpPr>
        <p:spPr>
          <a:xfrm>
            <a:off x="731520" y="3200400"/>
            <a:ext cx="10789920" cy="292608"/>
          </a:xfrm>
          <a:prstGeom prst="rect">
            <a:avLst/>
          </a:prstGeom>
          <a:noFill/>
          <a:ln/>
        </p:spPr>
        <p:txBody>
          <a:bodyPr wrap="square" lIns="0" tIns="0" rIns="0" bIns="0" rtlCol="0" anchor="t"/>
          <a:lstStyle/>
          <a:p>
            <a:pPr indent="0" marL="0">
              <a:buNone/>
            </a:pPr>
            <a:r>
              <a:rPr lang="en-US" sz="1400" b="1" dirty="0">
                <a:solidFill>
                  <a:schemeClr val="tx2"/>
                </a:solidFill>
              </a:rPr>
              <a:t>③ Gate判定の中で行うこと（実装上は1ステップ。ただし判断の順番は守る）</a:t>
            </a:r>
            <a:endParaRPr lang="en-US" sz="1400" dirty="0"/>
          </a:p>
        </p:txBody>
      </p:sp>
      <p:sp>
        <p:nvSpPr>
          <p:cNvPr id="63" name="Shape 61"/>
          <p:cNvSpPr/>
          <p:nvPr/>
        </p:nvSpPr>
        <p:spPr>
          <a:xfrm>
            <a:off x="731520" y="3566160"/>
            <a:ext cx="2615184" cy="2103120"/>
          </a:xfrm>
          <a:prstGeom prst="roundRect">
            <a:avLst>
              <a:gd name="adj" fmla="val 3478"/>
            </a:avLst>
          </a:prstGeom>
          <a:solidFill>
            <a:schemeClr val="bg1"/>
          </a:solidFill>
          <a:ln w="9525">
            <a:solidFill>
              <a:srgbClr val="C9D8D4"/>
            </a:solidFill>
            <a:prstDash val="solid"/>
          </a:ln>
        </p:spPr>
      </p:sp>
      <p:sp>
        <p:nvSpPr>
          <p:cNvPr id="64" name="Shape 62"/>
          <p:cNvSpPr/>
          <p:nvPr/>
        </p:nvSpPr>
        <p:spPr>
          <a:xfrm>
            <a:off x="841248" y="3675888"/>
            <a:ext cx="329184" cy="329184"/>
          </a:xfrm>
          <a:prstGeom prst="ellipse">
            <a:avLst/>
          </a:prstGeom>
          <a:solidFill>
            <a:schemeClr val="accent1"/>
          </a:solidFill>
          <a:ln w="6350">
            <a:solidFill>
              <a:schemeClr val="accent1"/>
            </a:solidFill>
            <a:prstDash val="solid"/>
          </a:ln>
        </p:spPr>
      </p:sp>
      <p:sp>
        <p:nvSpPr>
          <p:cNvPr id="65" name="Text 63"/>
          <p:cNvSpPr txBox="1"/>
          <p:nvPr/>
        </p:nvSpPr>
        <p:spPr>
          <a:xfrm>
            <a:off x="841248" y="36758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66" name="Text 64"/>
          <p:cNvSpPr txBox="1"/>
          <p:nvPr/>
        </p:nvSpPr>
        <p:spPr>
          <a:xfrm>
            <a:off x="1243584" y="3675888"/>
            <a:ext cx="2020824" cy="329184"/>
          </a:xfrm>
          <a:prstGeom prst="rect">
            <a:avLst/>
          </a:prstGeom>
          <a:noFill/>
          <a:ln/>
        </p:spPr>
        <p:txBody>
          <a:bodyPr wrap="square" lIns="0" tIns="0" rIns="0" bIns="0" rtlCol="0" anchor="ctr"/>
          <a:lstStyle/>
          <a:p>
            <a:pPr indent="0" marL="0">
              <a:buNone/>
            </a:pPr>
            <a:r>
              <a:rPr lang="en-US" sz="1300" b="1" dirty="0">
                <a:solidFill>
                  <a:schemeClr val="tx2"/>
                </a:solidFill>
              </a:rPr>
              <a:t>Evidence整理</a:t>
            </a:r>
            <a:endParaRPr lang="en-US" sz="1300" dirty="0"/>
          </a:p>
        </p:txBody>
      </p:sp>
      <p:sp>
        <p:nvSpPr>
          <p:cNvPr id="67" name="Text 65"/>
          <p:cNvSpPr txBox="1"/>
          <p:nvPr/>
        </p:nvSpPr>
        <p:spPr>
          <a:xfrm>
            <a:off x="841248" y="4096512"/>
            <a:ext cx="2395728" cy="1097280"/>
          </a:xfrm>
          <a:prstGeom prst="rect">
            <a:avLst/>
          </a:prstGeom>
          <a:noFill/>
          <a:ln/>
        </p:spPr>
        <p:txBody>
          <a:bodyPr wrap="square" lIns="0" tIns="0" rIns="0" bIns="0" rtlCol="0" anchor="t"/>
          <a:lstStyle/>
          <a:p>
            <a:pPr indent="0" marL="0">
              <a:buNone/>
            </a:pPr>
            <a:r>
              <a:rPr lang="en-US" sz="1000" dirty="0">
                <a:solidFill>
                  <a:schemeClr val="tx1"/>
                </a:solidFill>
              </a:rPr>
              <a:t>申請内容から審査に使う事実を抜き出す（利用実績・期間、本人の役割、成果、他者利用・展開範囲、出力確認、情報管理 など）</a:t>
            </a:r>
            <a:endParaRPr lang="en-US" sz="1000" dirty="0"/>
          </a:p>
        </p:txBody>
      </p:sp>
      <p:sp>
        <p:nvSpPr>
          <p:cNvPr id="68" name="Shape 66"/>
          <p:cNvSpPr/>
          <p:nvPr/>
        </p:nvSpPr>
        <p:spPr>
          <a:xfrm>
            <a:off x="841248" y="5212080"/>
            <a:ext cx="2395728" cy="347472"/>
          </a:xfrm>
          <a:prstGeom prst="roundRect">
            <a:avLst>
              <a:gd name="adj" fmla="val 15789"/>
            </a:avLst>
          </a:prstGeom>
          <a:solidFill>
            <a:schemeClr val="accent5">
              <a:alpha val="15000"/>
            </a:schemeClr>
          </a:solidFill>
          <a:ln w="6350">
            <a:solidFill>
              <a:schemeClr val="accent5"/>
            </a:solidFill>
            <a:prstDash val="solid"/>
          </a:ln>
        </p:spPr>
      </p:sp>
      <p:sp>
        <p:nvSpPr>
          <p:cNvPr id="69" name="Text 67"/>
          <p:cNvSpPr txBox="1"/>
          <p:nvPr/>
        </p:nvSpPr>
        <p:spPr>
          <a:xfrm>
            <a:off x="896112" y="5212080"/>
            <a:ext cx="2286000" cy="347472"/>
          </a:xfrm>
          <a:prstGeom prst="rect">
            <a:avLst/>
          </a:prstGeom>
          <a:noFill/>
          <a:ln/>
        </p:spPr>
        <p:txBody>
          <a:bodyPr wrap="square" lIns="0" tIns="0" rIns="0" bIns="0" rtlCol="0" anchor="ctr"/>
          <a:lstStyle/>
          <a:p>
            <a:pPr indent="0" marL="0">
              <a:buNone/>
            </a:pPr>
            <a:r>
              <a:rPr lang="en-US" sz="1000" b="1" dirty="0">
                <a:solidFill>
                  <a:schemeClr val="tx2"/>
                </a:solidFill>
              </a:rPr>
              <a:t>次の処理へ渡す（採点でも使う）</a:t>
            </a:r>
            <a:endParaRPr lang="en-US" sz="1000" dirty="0"/>
          </a:p>
        </p:txBody>
      </p:sp>
      <p:sp>
        <p:nvSpPr>
          <p:cNvPr id="70" name="Shape 68"/>
          <p:cNvSpPr/>
          <p:nvPr/>
        </p:nvSpPr>
        <p:spPr>
          <a:xfrm>
            <a:off x="3351276" y="4434840"/>
            <a:ext cx="109728" cy="201168"/>
          </a:xfrm>
          <a:prstGeom prst="rightArrow">
            <a:avLst/>
          </a:prstGeom>
          <a:solidFill>
            <a:schemeClr val="accent3"/>
          </a:solidFill>
          <a:ln w="6350">
            <a:solidFill>
              <a:schemeClr val="accent3"/>
            </a:solidFill>
            <a:prstDash val="solid"/>
          </a:ln>
        </p:spPr>
      </p:sp>
      <p:sp>
        <p:nvSpPr>
          <p:cNvPr id="71" name="Shape 69"/>
          <p:cNvSpPr/>
          <p:nvPr/>
        </p:nvSpPr>
        <p:spPr>
          <a:xfrm>
            <a:off x="3465576" y="3566160"/>
            <a:ext cx="2615184" cy="2103120"/>
          </a:xfrm>
          <a:prstGeom prst="roundRect">
            <a:avLst>
              <a:gd name="adj" fmla="val 3478"/>
            </a:avLst>
          </a:prstGeom>
          <a:solidFill>
            <a:schemeClr val="bg1"/>
          </a:solidFill>
          <a:ln w="9525">
            <a:solidFill>
              <a:srgbClr val="C9D8D4"/>
            </a:solidFill>
            <a:prstDash val="solid"/>
          </a:ln>
        </p:spPr>
      </p:sp>
      <p:sp>
        <p:nvSpPr>
          <p:cNvPr id="72" name="Shape 70"/>
          <p:cNvSpPr/>
          <p:nvPr/>
        </p:nvSpPr>
        <p:spPr>
          <a:xfrm>
            <a:off x="3575304" y="3675888"/>
            <a:ext cx="329184" cy="329184"/>
          </a:xfrm>
          <a:prstGeom prst="ellipse">
            <a:avLst/>
          </a:prstGeom>
          <a:solidFill>
            <a:schemeClr val="accent1"/>
          </a:solidFill>
          <a:ln w="6350">
            <a:solidFill>
              <a:schemeClr val="accent1"/>
            </a:solidFill>
            <a:prstDash val="solid"/>
          </a:ln>
        </p:spPr>
      </p:sp>
      <p:sp>
        <p:nvSpPr>
          <p:cNvPr id="73" name="Text 71"/>
          <p:cNvSpPr txBox="1"/>
          <p:nvPr/>
        </p:nvSpPr>
        <p:spPr>
          <a:xfrm>
            <a:off x="3575304" y="36758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74" name="Text 72"/>
          <p:cNvSpPr txBox="1"/>
          <p:nvPr/>
        </p:nvSpPr>
        <p:spPr>
          <a:xfrm>
            <a:off x="3977640" y="3675888"/>
            <a:ext cx="2020824" cy="329184"/>
          </a:xfrm>
          <a:prstGeom prst="rect">
            <a:avLst/>
          </a:prstGeom>
          <a:noFill/>
          <a:ln/>
        </p:spPr>
        <p:txBody>
          <a:bodyPr wrap="square" lIns="0" tIns="0" rIns="0" bIns="0" rtlCol="0" anchor="ctr"/>
          <a:lstStyle/>
          <a:p>
            <a:pPr indent="0" marL="0">
              <a:buNone/>
            </a:pPr>
            <a:r>
              <a:rPr lang="en-US" sz="1300" b="1" dirty="0">
                <a:solidFill>
                  <a:schemeClr val="tx2"/>
                </a:solidFill>
              </a:rPr>
              <a:t>整合性チェック</a:t>
            </a:r>
            <a:endParaRPr lang="en-US" sz="1300" dirty="0"/>
          </a:p>
        </p:txBody>
      </p:sp>
      <p:sp>
        <p:nvSpPr>
          <p:cNvPr id="75" name="Text 73"/>
          <p:cNvSpPr txBox="1"/>
          <p:nvPr/>
        </p:nvSpPr>
        <p:spPr>
          <a:xfrm>
            <a:off x="3575304" y="4096512"/>
            <a:ext cx="2395728" cy="1097280"/>
          </a:xfrm>
          <a:prstGeom prst="rect">
            <a:avLst/>
          </a:prstGeom>
          <a:noFill/>
          <a:ln/>
        </p:spPr>
        <p:txBody>
          <a:bodyPr wrap="square" lIns="0" tIns="0" rIns="0" bIns="0" rtlCol="0" anchor="t"/>
          <a:lstStyle/>
          <a:p>
            <a:pPr indent="0" marL="0">
              <a:buNone/>
            </a:pPr>
            <a:r>
              <a:rPr lang="en-US" sz="1000" dirty="0">
                <a:solidFill>
                  <a:schemeClr val="tx1"/>
                </a:solidFill>
              </a:rPr>
              <a:t>回答どうしの矛盾を確認する（例：「試行のみ」なのに半年間の実業務利用、利用者0名なのに「標準フロー」）</a:t>
            </a:r>
            <a:endParaRPr lang="en-US" sz="1000" dirty="0"/>
          </a:p>
        </p:txBody>
      </p:sp>
      <p:sp>
        <p:nvSpPr>
          <p:cNvPr id="76" name="Shape 74"/>
          <p:cNvSpPr/>
          <p:nvPr/>
        </p:nvSpPr>
        <p:spPr>
          <a:xfrm>
            <a:off x="3575304" y="5212080"/>
            <a:ext cx="2395728" cy="347472"/>
          </a:xfrm>
          <a:prstGeom prst="roundRect">
            <a:avLst>
              <a:gd name="adj" fmla="val 15789"/>
            </a:avLst>
          </a:prstGeom>
          <a:solidFill>
            <a:schemeClr val="accent2">
              <a:alpha val="15000"/>
            </a:schemeClr>
          </a:solidFill>
          <a:ln w="6350">
            <a:solidFill>
              <a:schemeClr val="accent2"/>
            </a:solidFill>
            <a:prstDash val="solid"/>
          </a:ln>
        </p:spPr>
      </p:sp>
      <p:sp>
        <p:nvSpPr>
          <p:cNvPr id="77" name="Text 75"/>
          <p:cNvSpPr txBox="1"/>
          <p:nvPr/>
        </p:nvSpPr>
        <p:spPr>
          <a:xfrm>
            <a:off x="3630168" y="5212080"/>
            <a:ext cx="2286000" cy="347472"/>
          </a:xfrm>
          <a:prstGeom prst="rect">
            <a:avLst/>
          </a:prstGeom>
          <a:noFill/>
          <a:ln/>
        </p:spPr>
        <p:txBody>
          <a:bodyPr wrap="square" lIns="0" tIns="0" rIns="0" bIns="0" rtlCol="0" anchor="ctr"/>
          <a:lstStyle/>
          <a:p>
            <a:pPr indent="0" marL="0">
              <a:buNone/>
            </a:pPr>
            <a:r>
              <a:rPr lang="en-US" sz="1000" b="1" dirty="0">
                <a:solidFill>
                  <a:schemeClr val="tx2"/>
                </a:solidFill>
              </a:rPr>
              <a:t>矛盾あり → 確認・修正の依頼</a:t>
            </a:r>
            <a:endParaRPr lang="en-US" sz="1000" dirty="0"/>
          </a:p>
        </p:txBody>
      </p:sp>
      <p:sp>
        <p:nvSpPr>
          <p:cNvPr id="78" name="Shape 76"/>
          <p:cNvSpPr/>
          <p:nvPr/>
        </p:nvSpPr>
        <p:spPr>
          <a:xfrm>
            <a:off x="6085332" y="4434840"/>
            <a:ext cx="109728" cy="201168"/>
          </a:xfrm>
          <a:prstGeom prst="rightArrow">
            <a:avLst/>
          </a:prstGeom>
          <a:solidFill>
            <a:schemeClr val="accent3"/>
          </a:solidFill>
          <a:ln w="6350">
            <a:solidFill>
              <a:schemeClr val="accent3"/>
            </a:solidFill>
            <a:prstDash val="solid"/>
          </a:ln>
        </p:spPr>
      </p:sp>
      <p:sp>
        <p:nvSpPr>
          <p:cNvPr id="79" name="Shape 77"/>
          <p:cNvSpPr/>
          <p:nvPr/>
        </p:nvSpPr>
        <p:spPr>
          <a:xfrm>
            <a:off x="6199632" y="3566160"/>
            <a:ext cx="2615184" cy="2103120"/>
          </a:xfrm>
          <a:prstGeom prst="roundRect">
            <a:avLst>
              <a:gd name="adj" fmla="val 3478"/>
            </a:avLst>
          </a:prstGeom>
          <a:solidFill>
            <a:schemeClr val="bg1"/>
          </a:solidFill>
          <a:ln w="9525">
            <a:solidFill>
              <a:srgbClr val="C9D8D4"/>
            </a:solidFill>
            <a:prstDash val="solid"/>
          </a:ln>
        </p:spPr>
      </p:sp>
      <p:sp>
        <p:nvSpPr>
          <p:cNvPr id="80" name="Shape 78"/>
          <p:cNvSpPr/>
          <p:nvPr/>
        </p:nvSpPr>
        <p:spPr>
          <a:xfrm>
            <a:off x="6309360" y="3675888"/>
            <a:ext cx="329184" cy="329184"/>
          </a:xfrm>
          <a:prstGeom prst="ellipse">
            <a:avLst/>
          </a:prstGeom>
          <a:solidFill>
            <a:schemeClr val="accent1"/>
          </a:solidFill>
          <a:ln w="6350">
            <a:solidFill>
              <a:schemeClr val="accent1"/>
            </a:solidFill>
            <a:prstDash val="solid"/>
          </a:ln>
        </p:spPr>
      </p:sp>
      <p:sp>
        <p:nvSpPr>
          <p:cNvPr id="81" name="Text 79"/>
          <p:cNvSpPr txBox="1"/>
          <p:nvPr/>
        </p:nvSpPr>
        <p:spPr>
          <a:xfrm>
            <a:off x="6309360" y="36758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82" name="Text 80"/>
          <p:cNvSpPr txBox="1"/>
          <p:nvPr/>
        </p:nvSpPr>
        <p:spPr>
          <a:xfrm>
            <a:off x="6711696" y="3675888"/>
            <a:ext cx="2020824" cy="329184"/>
          </a:xfrm>
          <a:prstGeom prst="rect">
            <a:avLst/>
          </a:prstGeom>
          <a:noFill/>
          <a:ln/>
        </p:spPr>
        <p:txBody>
          <a:bodyPr wrap="square" lIns="0" tIns="0" rIns="0" bIns="0" rtlCol="0" anchor="ctr"/>
          <a:lstStyle/>
          <a:p>
            <a:pPr indent="0" marL="0">
              <a:buNone/>
            </a:pPr>
            <a:r>
              <a:rPr lang="en-US" sz="1300" b="1" dirty="0">
                <a:solidFill>
                  <a:schemeClr val="tx2"/>
                </a:solidFill>
              </a:rPr>
              <a:t>情報不足チェック</a:t>
            </a:r>
            <a:endParaRPr lang="en-US" sz="1300" dirty="0"/>
          </a:p>
        </p:txBody>
      </p:sp>
      <p:sp>
        <p:nvSpPr>
          <p:cNvPr id="83" name="Text 81"/>
          <p:cNvSpPr txBox="1"/>
          <p:nvPr/>
        </p:nvSpPr>
        <p:spPr>
          <a:xfrm>
            <a:off x="6309360" y="4096512"/>
            <a:ext cx="2395728" cy="1097280"/>
          </a:xfrm>
          <a:prstGeom prst="rect">
            <a:avLst/>
          </a:prstGeom>
          <a:noFill/>
          <a:ln/>
        </p:spPr>
        <p:txBody>
          <a:bodyPr wrap="square" lIns="0" tIns="0" rIns="0" bIns="0" rtlCol="0" anchor="t"/>
          <a:lstStyle/>
          <a:p>
            <a:pPr indent="0" marL="0">
              <a:buNone/>
            </a:pPr>
            <a:r>
              <a:rPr lang="en-US" sz="1000" dirty="0">
                <a:solidFill>
                  <a:schemeClr val="tx1"/>
                </a:solidFill>
              </a:rPr>
              <a:t>Gateや2点水準を判断する材料がそろっているかを確認する（例：「他部署でも利用」とあるが、どこで何に使ったか不明）</a:t>
            </a:r>
            <a:endParaRPr lang="en-US" sz="1000" dirty="0"/>
          </a:p>
        </p:txBody>
      </p:sp>
      <p:sp>
        <p:nvSpPr>
          <p:cNvPr id="84" name="Shape 82"/>
          <p:cNvSpPr/>
          <p:nvPr/>
        </p:nvSpPr>
        <p:spPr>
          <a:xfrm>
            <a:off x="6309360" y="5212080"/>
            <a:ext cx="2395728" cy="347472"/>
          </a:xfrm>
          <a:prstGeom prst="roundRect">
            <a:avLst>
              <a:gd name="adj" fmla="val 15789"/>
            </a:avLst>
          </a:prstGeom>
          <a:solidFill>
            <a:schemeClr val="accent2">
              <a:alpha val="15000"/>
            </a:schemeClr>
          </a:solidFill>
          <a:ln w="6350">
            <a:solidFill>
              <a:schemeClr val="accent2"/>
            </a:solidFill>
            <a:prstDash val="solid"/>
          </a:ln>
        </p:spPr>
      </p:sp>
      <p:sp>
        <p:nvSpPr>
          <p:cNvPr id="85" name="Text 83"/>
          <p:cNvSpPr txBox="1"/>
          <p:nvPr/>
        </p:nvSpPr>
        <p:spPr>
          <a:xfrm>
            <a:off x="6364224" y="5212080"/>
            <a:ext cx="2286000" cy="347472"/>
          </a:xfrm>
          <a:prstGeom prst="rect">
            <a:avLst/>
          </a:prstGeom>
          <a:noFill/>
          <a:ln/>
        </p:spPr>
        <p:txBody>
          <a:bodyPr wrap="square" lIns="0" tIns="0" rIns="0" bIns="0" rtlCol="0" anchor="ctr"/>
          <a:lstStyle/>
          <a:p>
            <a:pPr indent="0" marL="0">
              <a:buNone/>
            </a:pPr>
            <a:r>
              <a:rPr lang="en-US" sz="1000" b="1" dirty="0">
                <a:solidFill>
                  <a:schemeClr val="tx2"/>
                </a:solidFill>
              </a:rPr>
              <a:t>不足あり → 情報不足・差し戻し（0点にしない）</a:t>
            </a:r>
            <a:endParaRPr lang="en-US" sz="1000" dirty="0"/>
          </a:p>
        </p:txBody>
      </p:sp>
      <p:sp>
        <p:nvSpPr>
          <p:cNvPr id="86" name="Shape 84"/>
          <p:cNvSpPr/>
          <p:nvPr/>
        </p:nvSpPr>
        <p:spPr>
          <a:xfrm>
            <a:off x="8819388" y="4434840"/>
            <a:ext cx="109728" cy="201168"/>
          </a:xfrm>
          <a:prstGeom prst="rightArrow">
            <a:avLst/>
          </a:prstGeom>
          <a:solidFill>
            <a:schemeClr val="accent3"/>
          </a:solidFill>
          <a:ln w="6350">
            <a:solidFill>
              <a:schemeClr val="accent3"/>
            </a:solidFill>
            <a:prstDash val="solid"/>
          </a:ln>
        </p:spPr>
      </p:sp>
      <p:sp>
        <p:nvSpPr>
          <p:cNvPr id="87" name="Shape 85"/>
          <p:cNvSpPr/>
          <p:nvPr/>
        </p:nvSpPr>
        <p:spPr>
          <a:xfrm>
            <a:off x="8933688" y="3566160"/>
            <a:ext cx="2615184" cy="2103120"/>
          </a:xfrm>
          <a:prstGeom prst="roundRect">
            <a:avLst>
              <a:gd name="adj" fmla="val 3478"/>
            </a:avLst>
          </a:prstGeom>
          <a:solidFill>
            <a:schemeClr val="bg1"/>
          </a:solidFill>
          <a:ln w="9525">
            <a:solidFill>
              <a:srgbClr val="C9D8D4"/>
            </a:solidFill>
            <a:prstDash val="solid"/>
          </a:ln>
        </p:spPr>
      </p:sp>
      <p:sp>
        <p:nvSpPr>
          <p:cNvPr id="88" name="Shape 86"/>
          <p:cNvSpPr/>
          <p:nvPr/>
        </p:nvSpPr>
        <p:spPr>
          <a:xfrm>
            <a:off x="9043416" y="3675888"/>
            <a:ext cx="329184" cy="329184"/>
          </a:xfrm>
          <a:prstGeom prst="ellipse">
            <a:avLst/>
          </a:prstGeom>
          <a:solidFill>
            <a:schemeClr val="accent1"/>
          </a:solidFill>
          <a:ln w="6350">
            <a:solidFill>
              <a:schemeClr val="accent1"/>
            </a:solidFill>
            <a:prstDash val="solid"/>
          </a:ln>
        </p:spPr>
      </p:sp>
      <p:sp>
        <p:nvSpPr>
          <p:cNvPr id="89" name="Text 87"/>
          <p:cNvSpPr txBox="1"/>
          <p:nvPr/>
        </p:nvSpPr>
        <p:spPr>
          <a:xfrm>
            <a:off x="9043416" y="36758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90" name="Text 88"/>
          <p:cNvSpPr txBox="1"/>
          <p:nvPr/>
        </p:nvSpPr>
        <p:spPr>
          <a:xfrm>
            <a:off x="9445752" y="3675888"/>
            <a:ext cx="2020824" cy="329184"/>
          </a:xfrm>
          <a:prstGeom prst="rect">
            <a:avLst/>
          </a:prstGeom>
          <a:noFill/>
          <a:ln/>
        </p:spPr>
        <p:txBody>
          <a:bodyPr wrap="square" lIns="0" tIns="0" rIns="0" bIns="0" rtlCol="0" anchor="ctr"/>
          <a:lstStyle/>
          <a:p>
            <a:pPr indent="0" marL="0">
              <a:buNone/>
            </a:pPr>
            <a:r>
              <a:rPr lang="en-US" sz="1300" b="1" dirty="0">
                <a:solidFill>
                  <a:schemeClr val="tx2"/>
                </a:solidFill>
              </a:rPr>
              <a:t>Gate条件の判定</a:t>
            </a:r>
            <a:endParaRPr lang="en-US" sz="1300" dirty="0"/>
          </a:p>
        </p:txBody>
      </p:sp>
      <p:sp>
        <p:nvSpPr>
          <p:cNvPr id="91" name="Text 89"/>
          <p:cNvSpPr txBox="1"/>
          <p:nvPr/>
        </p:nvSpPr>
        <p:spPr>
          <a:xfrm>
            <a:off x="9043416" y="4096512"/>
            <a:ext cx="2395728" cy="1097280"/>
          </a:xfrm>
          <a:prstGeom prst="rect">
            <a:avLst/>
          </a:prstGeom>
          <a:noFill/>
          <a:ln/>
        </p:spPr>
        <p:txBody>
          <a:bodyPr wrap="square" lIns="0" tIns="0" rIns="0" bIns="0" rtlCol="0" anchor="t"/>
          <a:lstStyle/>
          <a:p>
            <a:pPr indent="0" marL="0">
              <a:buNone/>
            </a:pPr>
            <a:r>
              <a:rPr lang="en-US" sz="1000" dirty="0">
                <a:solidFill>
                  <a:schemeClr val="tx1"/>
                </a:solidFill>
              </a:rPr>
              <a:t>申請レベルのGate（Lv.2：5／Lv.3：6／Lv.4：8）を1つずつ○×で判定し、根拠の項目を記録する。単純な条件はシステム、本人の関与・実利用・成果の具体性はAIが判断</a:t>
            </a:r>
            <a:endParaRPr lang="en-US" sz="1000" dirty="0"/>
          </a:p>
        </p:txBody>
      </p:sp>
      <p:sp>
        <p:nvSpPr>
          <p:cNvPr id="92" name="Shape 90"/>
          <p:cNvSpPr/>
          <p:nvPr/>
        </p:nvSpPr>
        <p:spPr>
          <a:xfrm>
            <a:off x="9043416" y="5212080"/>
            <a:ext cx="2395728" cy="347472"/>
          </a:xfrm>
          <a:prstGeom prst="roundRect">
            <a:avLst>
              <a:gd name="adj" fmla="val 15789"/>
            </a:avLst>
          </a:prstGeom>
          <a:solidFill>
            <a:schemeClr val="accent4">
              <a:alpha val="15000"/>
            </a:schemeClr>
          </a:solidFill>
          <a:ln w="6350">
            <a:solidFill>
              <a:schemeClr val="accent4"/>
            </a:solidFill>
            <a:prstDash val="solid"/>
          </a:ln>
        </p:spPr>
      </p:sp>
      <p:sp>
        <p:nvSpPr>
          <p:cNvPr id="93" name="Text 91"/>
          <p:cNvSpPr txBox="1"/>
          <p:nvPr/>
        </p:nvSpPr>
        <p:spPr>
          <a:xfrm>
            <a:off x="9098280" y="5212080"/>
            <a:ext cx="2286000" cy="347472"/>
          </a:xfrm>
          <a:prstGeom prst="rect">
            <a:avLst/>
          </a:prstGeom>
          <a:noFill/>
          <a:ln/>
        </p:spPr>
        <p:txBody>
          <a:bodyPr wrap="square" lIns="0" tIns="0" rIns="0" bIns="0" rtlCol="0" anchor="ctr"/>
          <a:lstStyle/>
          <a:p>
            <a:pPr indent="0" marL="0">
              <a:buNone/>
            </a:pPr>
            <a:r>
              <a:rPr lang="en-US" sz="1000" b="1" dirty="0">
                <a:solidFill>
                  <a:schemeClr val="tx2"/>
                </a:solidFill>
              </a:rPr>
              <a:t>1つでも× → 不合格</a:t>
            </a:r>
            <a:endParaRPr lang="en-US" sz="1000" dirty="0"/>
          </a:p>
        </p:txBody>
      </p:sp>
      <p:sp>
        <p:nvSpPr>
          <p:cNvPr id="94" name="Text 92"/>
          <p:cNvSpPr txBox="1"/>
          <p:nvPr/>
        </p:nvSpPr>
        <p:spPr>
          <a:xfrm>
            <a:off x="731520" y="5733288"/>
            <a:ext cx="10789920" cy="274320"/>
          </a:xfrm>
          <a:prstGeom prst="rect">
            <a:avLst/>
          </a:prstGeom>
          <a:noFill/>
          <a:ln/>
        </p:spPr>
        <p:txBody>
          <a:bodyPr wrap="square" lIns="0" tIns="0" rIns="0" bIns="0" rtlCol="0" anchor="t"/>
          <a:lstStyle/>
          <a:p>
            <a:pPr indent="0" marL="0">
              <a:buNone/>
            </a:pPr>
            <a:r>
              <a:rPr lang="en-US" sz="1100" b="1" dirty="0">
                <a:solidFill>
                  <a:schemeClr val="accent4"/>
                </a:solidFill>
              </a:rPr>
              <a:t>出力では「情報不足の判定」と「Gateの○×」を別の項目にする（情報不足を不合格と混同しないため）</a:t>
            </a:r>
            <a:endParaRPr lang="en-US" sz="1100" dirty="0"/>
          </a:p>
        </p:txBody>
      </p:sp>
      <p:sp>
        <p:nvSpPr>
          <p:cNvPr id="95" name="Text 93"/>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出典：01 §5／02「運用上の判定原則」・§12／03 §16〜20・「システムとAIの処理分担」</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2　審査の仕組み</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評価は3つの観点。レベルが上がるほど「再利用・展開・定着」が重くなる</a:t>
            </a:r>
            <a:endParaRPr lang="en-US" sz="2400" dirty="0"/>
          </a:p>
        </p:txBody>
      </p:sp>
      <p:graphicFrame>
        <p:nvGraphicFramePr>
          <p:cNvPr id="4" name="Chart 0" descr=""/>
          <p:cNvGraphicFramePr/>
          <p:nvPr/>
        </p:nvGraphicFramePr>
        <p:xfrm>
          <a:off x="548640" y="1508760"/>
          <a:ext cx="6675120" cy="4526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554480"/>
            <a:ext cx="4142232" cy="1371600"/>
          </a:xfrm>
          <a:prstGeom prst="roundRect">
            <a:avLst>
              <a:gd name="adj" fmla="val 5333"/>
            </a:avLst>
          </a:prstGeom>
          <a:solidFill>
            <a:schemeClr val="bg2"/>
          </a:solidFill>
          <a:ln w="6350">
            <a:solidFill>
              <a:schemeClr val="bg2"/>
            </a:solidFill>
            <a:prstDash val="solid"/>
          </a:ln>
        </p:spPr>
      </p:sp>
      <p:sp>
        <p:nvSpPr>
          <p:cNvPr id="6" name="Shape 3"/>
          <p:cNvSpPr/>
          <p:nvPr/>
        </p:nvSpPr>
        <p:spPr>
          <a:xfrm>
            <a:off x="7680960" y="1737360"/>
            <a:ext cx="256032" cy="256032"/>
          </a:xfrm>
          <a:prstGeom prst="ellipse">
            <a:avLst/>
          </a:prstGeom>
          <a:solidFill>
            <a:schemeClr val="accent3"/>
          </a:solidFill>
          <a:ln w="6350">
            <a:solidFill>
              <a:schemeClr val="accent3"/>
            </a:solidFill>
            <a:prstDash val="solid"/>
          </a:ln>
        </p:spPr>
      </p:sp>
      <p:sp>
        <p:nvSpPr>
          <p:cNvPr id="7" name="Text 4"/>
          <p:cNvSpPr txBox="1"/>
          <p:nvPr/>
        </p:nvSpPr>
        <p:spPr>
          <a:xfrm>
            <a:off x="8046720" y="1691640"/>
            <a:ext cx="3474720" cy="365760"/>
          </a:xfrm>
          <a:prstGeom prst="rect">
            <a:avLst/>
          </a:prstGeom>
          <a:noFill/>
          <a:ln/>
        </p:spPr>
        <p:txBody>
          <a:bodyPr wrap="square" lIns="0" tIns="0" rIns="0" bIns="0" rtlCol="0" anchor="t"/>
          <a:lstStyle/>
          <a:p>
            <a:pPr indent="0" marL="0">
              <a:buNone/>
            </a:pPr>
            <a:r>
              <a:rPr lang="en-US" sz="1600" b="1" dirty="0">
                <a:solidFill>
                  <a:schemeClr val="tx2"/>
                </a:solidFill>
              </a:rPr>
              <a:t>AI活用・品質</a:t>
            </a:r>
            <a:endParaRPr lang="en-US" sz="1600" dirty="0"/>
          </a:p>
        </p:txBody>
      </p:sp>
      <p:sp>
        <p:nvSpPr>
          <p:cNvPr id="8" name="Text 5"/>
          <p:cNvSpPr txBox="1"/>
          <p:nvPr/>
        </p:nvSpPr>
        <p:spPr>
          <a:xfrm>
            <a:off x="7680960" y="2103120"/>
            <a:ext cx="3840480" cy="777240"/>
          </a:xfrm>
          <a:prstGeom prst="rect">
            <a:avLst/>
          </a:prstGeom>
          <a:noFill/>
          <a:ln/>
        </p:spPr>
        <p:txBody>
          <a:bodyPr wrap="square" lIns="0" tIns="0" rIns="0" bIns="0" rtlCol="0" anchor="t"/>
          <a:lstStyle/>
          <a:p>
            <a:pPr indent="0" marL="0">
              <a:buNone/>
            </a:pPr>
            <a:r>
              <a:rPr lang="en-US" sz="1300" dirty="0">
                <a:solidFill>
                  <a:schemeClr val="tx1"/>
                </a:solidFill>
              </a:rPr>
              <a:t>課題に対するAIの使い方、本人の設計・判断・工夫、出力確認や情報管理</a:t>
            </a:r>
            <a:endParaRPr lang="en-US" sz="1300" dirty="0"/>
          </a:p>
        </p:txBody>
      </p:sp>
      <p:sp>
        <p:nvSpPr>
          <p:cNvPr id="9" name="Shape 6"/>
          <p:cNvSpPr/>
          <p:nvPr/>
        </p:nvSpPr>
        <p:spPr>
          <a:xfrm>
            <a:off x="7498080" y="3063240"/>
            <a:ext cx="4142232" cy="1371600"/>
          </a:xfrm>
          <a:prstGeom prst="roundRect">
            <a:avLst>
              <a:gd name="adj" fmla="val 5333"/>
            </a:avLst>
          </a:prstGeom>
          <a:solidFill>
            <a:schemeClr val="bg2"/>
          </a:solidFill>
          <a:ln w="6350">
            <a:solidFill>
              <a:schemeClr val="bg2"/>
            </a:solidFill>
            <a:prstDash val="solid"/>
          </a:ln>
        </p:spPr>
      </p:sp>
      <p:sp>
        <p:nvSpPr>
          <p:cNvPr id="10" name="Shape 7"/>
          <p:cNvSpPr/>
          <p:nvPr/>
        </p:nvSpPr>
        <p:spPr>
          <a:xfrm>
            <a:off x="7680960" y="3246120"/>
            <a:ext cx="256032" cy="256032"/>
          </a:xfrm>
          <a:prstGeom prst="ellipse">
            <a:avLst/>
          </a:prstGeom>
          <a:solidFill>
            <a:schemeClr val="accent1"/>
          </a:solidFill>
          <a:ln w="6350">
            <a:solidFill>
              <a:schemeClr val="accent1"/>
            </a:solidFill>
            <a:prstDash val="solid"/>
          </a:ln>
        </p:spPr>
      </p:sp>
      <p:sp>
        <p:nvSpPr>
          <p:cNvPr id="11" name="Text 8"/>
          <p:cNvSpPr txBox="1"/>
          <p:nvPr/>
        </p:nvSpPr>
        <p:spPr>
          <a:xfrm>
            <a:off x="8046720" y="3200400"/>
            <a:ext cx="3474720" cy="365760"/>
          </a:xfrm>
          <a:prstGeom prst="rect">
            <a:avLst/>
          </a:prstGeom>
          <a:noFill/>
          <a:ln/>
        </p:spPr>
        <p:txBody>
          <a:bodyPr wrap="square" lIns="0" tIns="0" rIns="0" bIns="0" rtlCol="0" anchor="t"/>
          <a:lstStyle/>
          <a:p>
            <a:pPr indent="0" marL="0">
              <a:buNone/>
            </a:pPr>
            <a:r>
              <a:rPr lang="en-US" sz="1600" b="1" dirty="0">
                <a:solidFill>
                  <a:schemeClr val="tx2"/>
                </a:solidFill>
              </a:rPr>
              <a:t>成果・実運用</a:t>
            </a:r>
            <a:endParaRPr lang="en-US" sz="1600" dirty="0"/>
          </a:p>
        </p:txBody>
      </p:sp>
      <p:sp>
        <p:nvSpPr>
          <p:cNvPr id="12" name="Text 9"/>
          <p:cNvSpPr txBox="1"/>
          <p:nvPr/>
        </p:nvSpPr>
        <p:spPr>
          <a:xfrm>
            <a:off x="7680960" y="3611880"/>
            <a:ext cx="3840480" cy="777240"/>
          </a:xfrm>
          <a:prstGeom prst="rect">
            <a:avLst/>
          </a:prstGeom>
          <a:noFill/>
          <a:ln/>
        </p:spPr>
        <p:txBody>
          <a:bodyPr wrap="square" lIns="0" tIns="0" rIns="0" bIns="0" rtlCol="0" anchor="t"/>
          <a:lstStyle/>
          <a:p>
            <a:pPr indent="0" marL="0">
              <a:buNone/>
            </a:pPr>
            <a:r>
              <a:rPr lang="en-US" sz="1300" dirty="0">
                <a:solidFill>
                  <a:schemeClr val="tx1"/>
                </a:solidFill>
              </a:rPr>
              <a:t>具体的な成果が出ているか。試行ではなく実際の業務で使われているか</a:t>
            </a:r>
            <a:endParaRPr lang="en-US" sz="1300" dirty="0"/>
          </a:p>
        </p:txBody>
      </p:sp>
      <p:sp>
        <p:nvSpPr>
          <p:cNvPr id="13" name="Shape 10"/>
          <p:cNvSpPr/>
          <p:nvPr/>
        </p:nvSpPr>
        <p:spPr>
          <a:xfrm>
            <a:off x="7498080" y="4572000"/>
            <a:ext cx="4142232" cy="1371600"/>
          </a:xfrm>
          <a:prstGeom prst="roundRect">
            <a:avLst>
              <a:gd name="adj" fmla="val 5333"/>
            </a:avLst>
          </a:prstGeom>
          <a:solidFill>
            <a:schemeClr val="bg2"/>
          </a:solidFill>
          <a:ln w="6350">
            <a:solidFill>
              <a:schemeClr val="bg2"/>
            </a:solidFill>
            <a:prstDash val="solid"/>
          </a:ln>
        </p:spPr>
      </p:sp>
      <p:sp>
        <p:nvSpPr>
          <p:cNvPr id="14" name="Shape 11"/>
          <p:cNvSpPr/>
          <p:nvPr/>
        </p:nvSpPr>
        <p:spPr>
          <a:xfrm>
            <a:off x="7680960" y="4754880"/>
            <a:ext cx="256032" cy="256032"/>
          </a:xfrm>
          <a:prstGeom prst="ellipse">
            <a:avLst/>
          </a:prstGeom>
          <a:solidFill>
            <a:schemeClr val="accent2"/>
          </a:solidFill>
          <a:ln w="6350">
            <a:solidFill>
              <a:schemeClr val="accent2"/>
            </a:solidFill>
            <a:prstDash val="solid"/>
          </a:ln>
        </p:spPr>
      </p:sp>
      <p:sp>
        <p:nvSpPr>
          <p:cNvPr id="15" name="Text 12"/>
          <p:cNvSpPr txBox="1"/>
          <p:nvPr/>
        </p:nvSpPr>
        <p:spPr>
          <a:xfrm>
            <a:off x="8046720" y="4709160"/>
            <a:ext cx="3474720" cy="365760"/>
          </a:xfrm>
          <a:prstGeom prst="rect">
            <a:avLst/>
          </a:prstGeom>
          <a:noFill/>
          <a:ln/>
        </p:spPr>
        <p:txBody>
          <a:bodyPr wrap="square" lIns="0" tIns="0" rIns="0" bIns="0" rtlCol="0" anchor="t"/>
          <a:lstStyle/>
          <a:p>
            <a:pPr indent="0" marL="0">
              <a:buNone/>
            </a:pPr>
            <a:r>
              <a:rPr lang="en-US" sz="1600" b="1" dirty="0">
                <a:solidFill>
                  <a:schemeClr val="tx2"/>
                </a:solidFill>
              </a:rPr>
              <a:t>再利用・展開・定着</a:t>
            </a:r>
            <a:endParaRPr lang="en-US" sz="1600" dirty="0"/>
          </a:p>
        </p:txBody>
      </p:sp>
      <p:sp>
        <p:nvSpPr>
          <p:cNvPr id="16" name="Text 13"/>
          <p:cNvSpPr txBox="1"/>
          <p:nvPr/>
        </p:nvSpPr>
        <p:spPr>
          <a:xfrm>
            <a:off x="7680960" y="5120640"/>
            <a:ext cx="3840480" cy="777240"/>
          </a:xfrm>
          <a:prstGeom prst="rect">
            <a:avLst/>
          </a:prstGeom>
          <a:noFill/>
          <a:ln/>
        </p:spPr>
        <p:txBody>
          <a:bodyPr wrap="square" lIns="0" tIns="0" rIns="0" bIns="0" rtlCol="0" anchor="t"/>
          <a:lstStyle/>
          <a:p>
            <a:pPr indent="0" marL="0">
              <a:buNone/>
            </a:pPr>
            <a:r>
              <a:rPr lang="en-US" sz="1300" dirty="0">
                <a:solidFill>
                  <a:schemeClr val="tx1"/>
                </a:solidFill>
              </a:rPr>
              <a:t>他者が使える形か。どこまで展開され、標準化・教育・改善で定着しているか</a:t>
            </a:r>
            <a:endParaRPr lang="en-US" sz="1300" dirty="0"/>
          </a:p>
        </p:txBody>
      </p:sp>
      <p:sp>
        <p:nvSpPr>
          <p:cNvPr id="17" name="Text 14"/>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§8.3／02 §3</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2　審査の仕組み</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各観点は0〜3点。「2点＝そのレベルの期待水準」が採点の物差し</a:t>
            </a:r>
            <a:endParaRPr lang="en-US" sz="2400" dirty="0"/>
          </a:p>
        </p:txBody>
      </p:sp>
      <p:sp>
        <p:nvSpPr>
          <p:cNvPr id="4" name="Shape 2"/>
          <p:cNvSpPr/>
          <p:nvPr/>
        </p:nvSpPr>
        <p:spPr>
          <a:xfrm>
            <a:off x="548640" y="1554480"/>
            <a:ext cx="4297680" cy="960120"/>
          </a:xfrm>
          <a:prstGeom prst="roundRect">
            <a:avLst>
              <a:gd name="adj" fmla="val 7619"/>
            </a:avLst>
          </a:prstGeom>
          <a:solidFill>
            <a:schemeClr val="bg2"/>
          </a:solidFill>
          <a:ln w="6350">
            <a:solidFill>
              <a:schemeClr val="bg2"/>
            </a:solidFill>
            <a:prstDash val="solid"/>
          </a:ln>
        </p:spPr>
      </p:sp>
      <p:sp>
        <p:nvSpPr>
          <p:cNvPr id="5" name="Text 3"/>
          <p:cNvSpPr txBox="1"/>
          <p:nvPr/>
        </p:nvSpPr>
        <p:spPr>
          <a:xfrm>
            <a:off x="731520" y="1554480"/>
            <a:ext cx="914400" cy="960120"/>
          </a:xfrm>
          <a:prstGeom prst="rect">
            <a:avLst/>
          </a:prstGeom>
          <a:noFill/>
          <a:ln/>
        </p:spPr>
        <p:txBody>
          <a:bodyPr wrap="square" lIns="0" tIns="0" rIns="0" bIns="0" rtlCol="0" anchor="ctr"/>
          <a:lstStyle/>
          <a:p>
            <a:pPr indent="0" marL="0">
              <a:buNone/>
            </a:pPr>
            <a:r>
              <a:rPr lang="en-US" sz="2600" b="1" dirty="0">
                <a:solidFill>
                  <a:schemeClr val="accent1"/>
                </a:solidFill>
              </a:rPr>
              <a:t>0点</a:t>
            </a:r>
            <a:endParaRPr lang="en-US" sz="2600" dirty="0"/>
          </a:p>
        </p:txBody>
      </p:sp>
      <p:sp>
        <p:nvSpPr>
          <p:cNvPr id="6" name="Text 4"/>
          <p:cNvSpPr txBox="1"/>
          <p:nvPr/>
        </p:nvSpPr>
        <p:spPr>
          <a:xfrm>
            <a:off x="1691640" y="1554480"/>
            <a:ext cx="3017520" cy="960120"/>
          </a:xfrm>
          <a:prstGeom prst="rect">
            <a:avLst/>
          </a:prstGeom>
          <a:noFill/>
          <a:ln/>
        </p:spPr>
        <p:txBody>
          <a:bodyPr wrap="square" lIns="0" tIns="0" rIns="0" bIns="0" rtlCol="0" anchor="ctr"/>
          <a:lstStyle/>
          <a:p>
            <a:pPr indent="0" marL="0">
              <a:buNone/>
            </a:pPr>
            <a:r>
              <a:rPr lang="en-US" sz="1400" dirty="0">
                <a:solidFill>
                  <a:schemeClr val="tx1"/>
                </a:solidFill>
              </a:rPr>
              <a:t>評価に必要な内容が確認できない、または水準に達していない</a:t>
            </a:r>
            <a:endParaRPr lang="en-US" sz="1400" dirty="0"/>
          </a:p>
        </p:txBody>
      </p:sp>
      <p:sp>
        <p:nvSpPr>
          <p:cNvPr id="7" name="Shape 5"/>
          <p:cNvSpPr/>
          <p:nvPr/>
        </p:nvSpPr>
        <p:spPr>
          <a:xfrm>
            <a:off x="548640" y="2633472"/>
            <a:ext cx="4297680" cy="960120"/>
          </a:xfrm>
          <a:prstGeom prst="roundRect">
            <a:avLst>
              <a:gd name="adj" fmla="val 7619"/>
            </a:avLst>
          </a:prstGeom>
          <a:solidFill>
            <a:schemeClr val="bg2"/>
          </a:solidFill>
          <a:ln w="6350">
            <a:solidFill>
              <a:schemeClr val="bg2"/>
            </a:solidFill>
            <a:prstDash val="solid"/>
          </a:ln>
        </p:spPr>
      </p:sp>
      <p:sp>
        <p:nvSpPr>
          <p:cNvPr id="8" name="Text 6"/>
          <p:cNvSpPr txBox="1"/>
          <p:nvPr/>
        </p:nvSpPr>
        <p:spPr>
          <a:xfrm>
            <a:off x="731520" y="2633472"/>
            <a:ext cx="914400" cy="960120"/>
          </a:xfrm>
          <a:prstGeom prst="rect">
            <a:avLst/>
          </a:prstGeom>
          <a:noFill/>
          <a:ln/>
        </p:spPr>
        <p:txBody>
          <a:bodyPr wrap="square" lIns="0" tIns="0" rIns="0" bIns="0" rtlCol="0" anchor="ctr"/>
          <a:lstStyle/>
          <a:p>
            <a:pPr indent="0" marL="0">
              <a:buNone/>
            </a:pPr>
            <a:r>
              <a:rPr lang="en-US" sz="2600" b="1" dirty="0">
                <a:solidFill>
                  <a:schemeClr val="accent1"/>
                </a:solidFill>
              </a:rPr>
              <a:t>1点</a:t>
            </a:r>
            <a:endParaRPr lang="en-US" sz="2600" dirty="0"/>
          </a:p>
        </p:txBody>
      </p:sp>
      <p:sp>
        <p:nvSpPr>
          <p:cNvPr id="9" name="Text 7"/>
          <p:cNvSpPr txBox="1"/>
          <p:nvPr/>
        </p:nvSpPr>
        <p:spPr>
          <a:xfrm>
            <a:off x="1691640" y="2633472"/>
            <a:ext cx="3017520" cy="960120"/>
          </a:xfrm>
          <a:prstGeom prst="rect">
            <a:avLst/>
          </a:prstGeom>
          <a:noFill/>
          <a:ln/>
        </p:spPr>
        <p:txBody>
          <a:bodyPr wrap="square" lIns="0" tIns="0" rIns="0" bIns="0" rtlCol="0" anchor="ctr"/>
          <a:lstStyle/>
          <a:p>
            <a:pPr indent="0" marL="0">
              <a:buNone/>
            </a:pPr>
            <a:r>
              <a:rPr lang="en-US" sz="1400" dirty="0">
                <a:solidFill>
                  <a:schemeClr val="tx1"/>
                </a:solidFill>
              </a:rPr>
              <a:t>一部は確認できるが、申請レベルとしては不十分</a:t>
            </a:r>
            <a:endParaRPr lang="en-US" sz="1400" dirty="0"/>
          </a:p>
        </p:txBody>
      </p:sp>
      <p:sp>
        <p:nvSpPr>
          <p:cNvPr id="10" name="Shape 8"/>
          <p:cNvSpPr/>
          <p:nvPr/>
        </p:nvSpPr>
        <p:spPr>
          <a:xfrm>
            <a:off x="548640" y="3712464"/>
            <a:ext cx="4297680" cy="960120"/>
          </a:xfrm>
          <a:prstGeom prst="roundRect">
            <a:avLst>
              <a:gd name="adj" fmla="val 7619"/>
            </a:avLst>
          </a:prstGeom>
          <a:solidFill>
            <a:schemeClr val="accent2"/>
          </a:solidFill>
          <a:ln w="6350">
            <a:solidFill>
              <a:schemeClr val="accent2"/>
            </a:solidFill>
            <a:prstDash val="solid"/>
          </a:ln>
        </p:spPr>
      </p:sp>
      <p:sp>
        <p:nvSpPr>
          <p:cNvPr id="11" name="Text 9"/>
          <p:cNvSpPr txBox="1"/>
          <p:nvPr/>
        </p:nvSpPr>
        <p:spPr>
          <a:xfrm>
            <a:off x="731520" y="3712464"/>
            <a:ext cx="914400" cy="960120"/>
          </a:xfrm>
          <a:prstGeom prst="rect">
            <a:avLst/>
          </a:prstGeom>
          <a:noFill/>
          <a:ln/>
        </p:spPr>
        <p:txBody>
          <a:bodyPr wrap="square" lIns="0" tIns="0" rIns="0" bIns="0" rtlCol="0" anchor="ctr"/>
          <a:lstStyle/>
          <a:p>
            <a:pPr indent="0" marL="0">
              <a:buNone/>
            </a:pPr>
            <a:r>
              <a:rPr lang="en-US" sz="2600" b="1" dirty="0">
                <a:solidFill>
                  <a:schemeClr val="bg1"/>
                </a:solidFill>
              </a:rPr>
              <a:t>2点</a:t>
            </a:r>
            <a:endParaRPr lang="en-US" sz="2600" dirty="0"/>
          </a:p>
        </p:txBody>
      </p:sp>
      <p:sp>
        <p:nvSpPr>
          <p:cNvPr id="12" name="Text 10"/>
          <p:cNvSpPr txBox="1"/>
          <p:nvPr/>
        </p:nvSpPr>
        <p:spPr>
          <a:xfrm>
            <a:off x="1691640" y="3712464"/>
            <a:ext cx="3017520" cy="960120"/>
          </a:xfrm>
          <a:prstGeom prst="rect">
            <a:avLst/>
          </a:prstGeom>
          <a:noFill/>
          <a:ln/>
        </p:spPr>
        <p:txBody>
          <a:bodyPr wrap="square" lIns="0" tIns="0" rIns="0" bIns="0" rtlCol="0" anchor="ctr"/>
          <a:lstStyle/>
          <a:p>
            <a:pPr indent="0" marL="0">
              <a:buNone/>
            </a:pPr>
            <a:r>
              <a:rPr lang="en-US" sz="1400" b="1" dirty="0">
                <a:solidFill>
                  <a:schemeClr val="bg1"/>
                </a:solidFill>
              </a:rPr>
              <a:t>申請レベルとして期待する水準に達している</a:t>
            </a:r>
            <a:endParaRPr lang="en-US" sz="1400" dirty="0"/>
          </a:p>
        </p:txBody>
      </p:sp>
      <p:sp>
        <p:nvSpPr>
          <p:cNvPr id="13" name="Shape 11"/>
          <p:cNvSpPr/>
          <p:nvPr/>
        </p:nvSpPr>
        <p:spPr>
          <a:xfrm>
            <a:off x="548640" y="4791456"/>
            <a:ext cx="4297680" cy="960120"/>
          </a:xfrm>
          <a:prstGeom prst="roundRect">
            <a:avLst>
              <a:gd name="adj" fmla="val 7619"/>
            </a:avLst>
          </a:prstGeom>
          <a:solidFill>
            <a:schemeClr val="bg2"/>
          </a:solidFill>
          <a:ln w="6350">
            <a:solidFill>
              <a:schemeClr val="bg2"/>
            </a:solidFill>
            <a:prstDash val="solid"/>
          </a:ln>
        </p:spPr>
      </p:sp>
      <p:sp>
        <p:nvSpPr>
          <p:cNvPr id="14" name="Text 12"/>
          <p:cNvSpPr txBox="1"/>
          <p:nvPr/>
        </p:nvSpPr>
        <p:spPr>
          <a:xfrm>
            <a:off x="731520" y="4791456"/>
            <a:ext cx="914400" cy="960120"/>
          </a:xfrm>
          <a:prstGeom prst="rect">
            <a:avLst/>
          </a:prstGeom>
          <a:noFill/>
          <a:ln/>
        </p:spPr>
        <p:txBody>
          <a:bodyPr wrap="square" lIns="0" tIns="0" rIns="0" bIns="0" rtlCol="0" anchor="ctr"/>
          <a:lstStyle/>
          <a:p>
            <a:pPr indent="0" marL="0">
              <a:buNone/>
            </a:pPr>
            <a:r>
              <a:rPr lang="en-US" sz="2600" b="1" dirty="0">
                <a:solidFill>
                  <a:schemeClr val="accent1"/>
                </a:solidFill>
              </a:rPr>
              <a:t>3点</a:t>
            </a:r>
            <a:endParaRPr lang="en-US" sz="2600" dirty="0"/>
          </a:p>
        </p:txBody>
      </p:sp>
      <p:sp>
        <p:nvSpPr>
          <p:cNvPr id="15" name="Text 13"/>
          <p:cNvSpPr txBox="1"/>
          <p:nvPr/>
        </p:nvSpPr>
        <p:spPr>
          <a:xfrm>
            <a:off x="1691640" y="4791456"/>
            <a:ext cx="3017520" cy="960120"/>
          </a:xfrm>
          <a:prstGeom prst="rect">
            <a:avLst/>
          </a:prstGeom>
          <a:noFill/>
          <a:ln/>
        </p:spPr>
        <p:txBody>
          <a:bodyPr wrap="square" lIns="0" tIns="0" rIns="0" bIns="0" rtlCol="0" anchor="ctr"/>
          <a:lstStyle/>
          <a:p>
            <a:pPr indent="0" marL="0">
              <a:buNone/>
            </a:pPr>
            <a:r>
              <a:rPr lang="en-US" sz="1400" dirty="0">
                <a:solidFill>
                  <a:schemeClr val="tx1"/>
                </a:solidFill>
              </a:rPr>
              <a:t>期待水準を明確に上回っている</a:t>
            </a:r>
            <a:endParaRPr lang="en-US" sz="1400" dirty="0"/>
          </a:p>
        </p:txBody>
      </p:sp>
      <p:sp>
        <p:nvSpPr>
          <p:cNvPr id="16" name="Text 14"/>
          <p:cNvSpPr txBox="1"/>
          <p:nvPr/>
        </p:nvSpPr>
        <p:spPr>
          <a:xfrm>
            <a:off x="5166360" y="1554480"/>
            <a:ext cx="6400800" cy="320040"/>
          </a:xfrm>
          <a:prstGeom prst="rect">
            <a:avLst/>
          </a:prstGeom>
          <a:noFill/>
          <a:ln/>
        </p:spPr>
        <p:txBody>
          <a:bodyPr wrap="square" lIns="0" tIns="0" rIns="0" bIns="0" rtlCol="0" anchor="t"/>
          <a:lstStyle/>
          <a:p>
            <a:pPr indent="0" marL="0">
              <a:buNone/>
            </a:pPr>
            <a:r>
              <a:rPr lang="en-US" sz="1600" b="1" dirty="0">
                <a:solidFill>
                  <a:schemeClr val="tx2"/>
                </a:solidFill>
              </a:rPr>
              <a:t>レベル別「2点」の中身</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166360" y="1965960"/>
          <a:ext cx="6473952" cy="914400"/>
        </p:xfrm>
        <a:graphic>
          <a:graphicData uri="http://schemas.openxmlformats.org/drawingml/2006/table">
            <a:tbl>
              <a:tblPr/>
              <a:tblGrid>
                <a:gridCol w="1600200"/>
                <a:gridCol w="1554480"/>
                <a:gridCol w="1645920"/>
                <a:gridCol w="1673352"/>
              </a:tblGrid>
              <a:tr h="411480">
                <a:tc>
                  <a:txBody>
                    <a:bodyPr/>
                    <a:lstStyle/>
                    <a:p>
                      <a:pPr algn="ctr" indent="0" marL="0">
                        <a:buNone/>
                      </a:pPr>
                      <a:r>
                        <a:rPr lang="en-US" sz="1300" b="1" dirty="0">
                          <a:solidFill>
                            <a:srgbClr val="FFFFFF"/>
                          </a:solidFill>
                        </a:rPr>
                        <a:t>観点</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algn="ctr" indent="0" marL="0">
                        <a:buNone/>
                      </a:pPr>
                      <a:r>
                        <a:rPr lang="en-US" sz="1300" b="1" dirty="0">
                          <a:solidFill>
                            <a:srgbClr val="FFFFFF"/>
                          </a:solidFill>
                        </a:rPr>
                        <a:t>Lv.2</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algn="ctr" indent="0" marL="0">
                        <a:buNone/>
                      </a:pPr>
                      <a:r>
                        <a:rPr lang="en-US" sz="1300" b="1" dirty="0">
                          <a:solidFill>
                            <a:srgbClr val="FFFFFF"/>
                          </a:solidFill>
                        </a:rPr>
                        <a:t>Lv.3</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algn="ctr" indent="0" marL="0">
                        <a:buNone/>
                      </a:pPr>
                      <a:r>
                        <a:rPr lang="en-US" sz="1300" b="1" dirty="0">
                          <a:solidFill>
                            <a:srgbClr val="FFFFFF"/>
                          </a:solidFill>
                        </a:rPr>
                        <a:t>Lv.4</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r>
              <a:tr h="822960">
                <a:tc>
                  <a:txBody>
                    <a:bodyPr/>
                    <a:lstStyle/>
                    <a:p>
                      <a:pPr indent="0" marL="0">
                        <a:buNone/>
                      </a:pPr>
                      <a:r>
                        <a:rPr lang="en-US" sz="1300" b="1" dirty="0">
                          <a:solidFill>
                            <a:srgbClr val="0F3D3E"/>
                          </a:solidFill>
                        </a:rPr>
                        <a:t>AI活用・品質</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EEF4F2"/>
                    </a:solidFill>
                  </a:tcPr>
                </a:tc>
                <a:tc>
                  <a:txBody>
                    <a:bodyPr/>
                    <a:lstStyle/>
                    <a:p>
                      <a:pPr indent="0" marL="0">
                        <a:buNone/>
                      </a:pPr>
                      <a:r>
                        <a:rPr lang="en-US" sz="1300" dirty="0">
                          <a:solidFill>
                            <a:srgbClr val="1F2A2E"/>
                          </a:solidFill>
                        </a:rPr>
                        <a:t>本人が適切に使える</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他者でも一定品質で使える</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複数単位でも安全・安定的に使える</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685800">
                <a:tc>
                  <a:txBody>
                    <a:bodyPr/>
                    <a:lstStyle/>
                    <a:p>
                      <a:pPr indent="0" marL="0">
                        <a:buNone/>
                      </a:pPr>
                      <a:r>
                        <a:rPr lang="en-US" sz="1300" b="1" dirty="0">
                          <a:solidFill>
                            <a:srgbClr val="0F3D3E"/>
                          </a:solidFill>
                        </a:rPr>
                        <a:t>成果・実運用</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EEF4F2"/>
                    </a:solidFill>
                  </a:tcPr>
                </a:tc>
                <a:tc>
                  <a:txBody>
                    <a:bodyPr/>
                    <a:lstStyle/>
                    <a:p>
                      <a:pPr indent="0" marL="0">
                        <a:buNone/>
                      </a:pPr>
                      <a:r>
                        <a:rPr lang="en-US" sz="1300" dirty="0">
                          <a:solidFill>
                            <a:srgbClr val="1F2A2E"/>
                          </a:solidFill>
                        </a:rPr>
                        <a:t>本人の業務で成果</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案件・チームで成果</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複数単位で成果</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822960">
                <a:tc>
                  <a:txBody>
                    <a:bodyPr/>
                    <a:lstStyle/>
                    <a:p>
                      <a:pPr indent="0" marL="0">
                        <a:buNone/>
                      </a:pPr>
                      <a:r>
                        <a:rPr lang="en-US" sz="1300" b="1" dirty="0">
                          <a:solidFill>
                            <a:srgbClr val="0F3D3E"/>
                          </a:solidFill>
                        </a:rPr>
                        <a:t>再利用・展開・定着</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EEF4F2"/>
                    </a:solidFill>
                  </a:tcPr>
                </a:tc>
                <a:tc>
                  <a:txBody>
                    <a:bodyPr/>
                    <a:lstStyle/>
                    <a:p>
                      <a:pPr indent="0" marL="0">
                        <a:buNone/>
                      </a:pPr>
                      <a:r>
                        <a:rPr lang="en-US" sz="1300" dirty="0">
                          <a:solidFill>
                            <a:srgbClr val="1F2A2E"/>
                          </a:solidFill>
                        </a:rPr>
                        <a:t>本人が再利用</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所属単位内で他者が再利用</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所属単位を超えて展開・定着</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bl>
          </a:graphicData>
        </a:graphic>
      </p:graphicFrame>
      <p:sp>
        <p:nvSpPr>
          <p:cNvPr id="18" name="Shape 15"/>
          <p:cNvSpPr/>
          <p:nvPr/>
        </p:nvSpPr>
        <p:spPr>
          <a:xfrm>
            <a:off x="5166360" y="5029200"/>
            <a:ext cx="6473952" cy="1005840"/>
          </a:xfrm>
          <a:prstGeom prst="roundRect">
            <a:avLst>
              <a:gd name="adj" fmla="val 7273"/>
            </a:avLst>
          </a:prstGeom>
          <a:solidFill>
            <a:schemeClr val="accent1">
              <a:alpha val="10000"/>
            </a:schemeClr>
          </a:solidFill>
          <a:ln w="9525">
            <a:solidFill>
              <a:schemeClr val="accent1">
                <a:alpha val="50000"/>
              </a:schemeClr>
            </a:solidFill>
            <a:prstDash val="solid"/>
          </a:ln>
        </p:spPr>
      </p:sp>
      <p:sp>
        <p:nvSpPr>
          <p:cNvPr id="19" name="Text 16"/>
          <p:cNvSpPr txBox="1"/>
          <p:nvPr/>
        </p:nvSpPr>
        <p:spPr>
          <a:xfrm>
            <a:off x="5349240" y="5074920"/>
            <a:ext cx="6126480" cy="914400"/>
          </a:xfrm>
          <a:prstGeom prst="rect">
            <a:avLst/>
          </a:prstGeom>
          <a:noFill/>
          <a:ln/>
        </p:spPr>
        <p:txBody>
          <a:bodyPr wrap="square" lIns="0" tIns="0" rIns="0" bIns="0" rtlCol="0" anchor="ctr"/>
          <a:lstStyle/>
          <a:p>
            <a:pPr indent="0" marL="0">
              <a:buNone/>
            </a:pPr>
            <a:r>
              <a:rPr lang="en-US" sz="1300" dirty="0">
                <a:solidFill>
                  <a:schemeClr val="tx1"/>
                </a:solidFill>
              </a:rPr>
              <a:t>採点の手順：まず2点の条件を満たすかを確認し、明確に上回る根拠があるときだけ3点を付ける。判断材料がないときは0点にせず「情報不足」とする</a:t>
            </a:r>
            <a:endParaRPr lang="en-US" sz="1300" dirty="0"/>
          </a:p>
        </p:txBody>
      </p:sp>
      <p:sp>
        <p:nvSpPr>
          <p:cNvPr id="20" name="Text 17"/>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§8.3／02 §2・§8・§12</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2　審査の仕組み</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Gate＝必須条件。1つでも欠ければ、点数が高くても不合格</a:t>
            </a:r>
            <a:endParaRPr lang="en-US" sz="2400" dirty="0"/>
          </a:p>
        </p:txBody>
      </p:sp>
      <p:sp>
        <p:nvSpPr>
          <p:cNvPr id="4" name="Shape 2"/>
          <p:cNvSpPr/>
          <p:nvPr/>
        </p:nvSpPr>
        <p:spPr>
          <a:xfrm>
            <a:off x="548640" y="1554480"/>
            <a:ext cx="3593592" cy="502920"/>
          </a:xfrm>
          <a:prstGeom prst="roundRect">
            <a:avLst>
              <a:gd name="adj" fmla="val 14545"/>
            </a:avLst>
          </a:prstGeom>
          <a:solidFill>
            <a:schemeClr val="accent3"/>
          </a:solidFill>
          <a:ln w="6350">
            <a:solidFill>
              <a:schemeClr val="accent3"/>
            </a:solidFill>
            <a:prstDash val="solid"/>
          </a:ln>
        </p:spPr>
      </p:sp>
      <p:sp>
        <p:nvSpPr>
          <p:cNvPr id="5" name="Text 3"/>
          <p:cNvSpPr txBox="1"/>
          <p:nvPr/>
        </p:nvSpPr>
        <p:spPr>
          <a:xfrm>
            <a:off x="731520" y="1554480"/>
            <a:ext cx="3200400" cy="502920"/>
          </a:xfrm>
          <a:prstGeom prst="rect">
            <a:avLst/>
          </a:prstGeom>
          <a:noFill/>
          <a:ln/>
        </p:spPr>
        <p:txBody>
          <a:bodyPr wrap="square" lIns="0" tIns="0" rIns="0" bIns="0" rtlCol="0" anchor="ctr"/>
          <a:lstStyle/>
          <a:p>
            <a:pPr indent="0" marL="0">
              <a:buNone/>
            </a:pPr>
            <a:r>
              <a:rPr lang="en-US" sz="1600" b="1" dirty="0">
                <a:solidFill>
                  <a:schemeClr val="bg1"/>
                </a:solidFill>
              </a:rPr>
              <a:t>Lv.2 Gate（5）</a:t>
            </a:r>
            <a:endParaRPr lang="en-US" sz="1600" dirty="0"/>
          </a:p>
        </p:txBody>
      </p:sp>
      <p:sp>
        <p:nvSpPr>
          <p:cNvPr id="6" name="Shape 4"/>
          <p:cNvSpPr/>
          <p:nvPr/>
        </p:nvSpPr>
        <p:spPr>
          <a:xfrm>
            <a:off x="548640" y="2148840"/>
            <a:ext cx="3593592" cy="3657600"/>
          </a:xfrm>
          <a:prstGeom prst="roundRect">
            <a:avLst>
              <a:gd name="adj" fmla="val 2036"/>
            </a:avLst>
          </a:prstGeom>
          <a:solidFill>
            <a:schemeClr val="bg2"/>
          </a:solidFill>
          <a:ln w="6350">
            <a:solidFill>
              <a:schemeClr val="bg2"/>
            </a:solidFill>
            <a:prstDash val="solid"/>
          </a:ln>
        </p:spPr>
      </p:sp>
      <p:sp>
        <p:nvSpPr>
          <p:cNvPr id="7" name="Text 5"/>
          <p:cNvSpPr txBox="1"/>
          <p:nvPr/>
        </p:nvSpPr>
        <p:spPr>
          <a:xfrm>
            <a:off x="731520" y="2286000"/>
            <a:ext cx="3291840" cy="3703320"/>
          </a:xfrm>
          <a:prstGeom prst="rect">
            <a:avLst/>
          </a:prstGeom>
          <a:noFill/>
          <a:ln/>
        </p:spPr>
        <p:txBody>
          <a:bodyPr wrap="square" lIns="0" tIns="0" rIns="0" bIns="0" rtlCol="0" anchor="t"/>
          <a:lstStyle/>
          <a:p>
            <a:pPr indent="0" marL="0">
              <a:spcAft>
                <a:spcPts val="700"/>
              </a:spcAft>
              <a:buNone/>
            </a:pPr>
            <a:r>
              <a:rPr lang="en-US" sz="1300" dirty="0">
                <a:solidFill>
                  <a:schemeClr val="tx1"/>
                </a:solidFill>
              </a:rPr>
              <a:t>G1  実際の担当業務で利用した実績</a:t>
            </a:r>
            <a:endParaRPr lang="en-US" sz="1300" dirty="0"/>
          </a:p>
          <a:p>
            <a:pPr indent="0" marL="0">
              <a:spcAft>
                <a:spcPts val="700"/>
              </a:spcAft>
              <a:buNone/>
            </a:pPr>
            <a:r>
              <a:rPr lang="en-US" sz="1300" dirty="0">
                <a:solidFill>
                  <a:schemeClr val="tx1"/>
                </a:solidFill>
              </a:rPr>
              <a:t>G2  具体的な成果が出ている</a:t>
            </a:r>
            <a:endParaRPr lang="en-US" sz="1300" dirty="0"/>
          </a:p>
          <a:p>
            <a:pPr indent="0" marL="0">
              <a:spcAft>
                <a:spcPts val="700"/>
              </a:spcAft>
              <a:buNone/>
            </a:pPr>
            <a:r>
              <a:rPr lang="en-US" sz="1300" dirty="0">
                <a:solidFill>
                  <a:schemeClr val="tx1"/>
                </a:solidFill>
              </a:rPr>
              <a:t>G3  本人が主体的に関与している</a:t>
            </a:r>
            <a:endParaRPr lang="en-US" sz="1300" dirty="0"/>
          </a:p>
          <a:p>
            <a:pPr indent="0" marL="0">
              <a:spcAft>
                <a:spcPts val="700"/>
              </a:spcAft>
              <a:buNone/>
            </a:pPr>
            <a:r>
              <a:rPr lang="en-US" sz="1300" dirty="0">
                <a:solidFill>
                  <a:schemeClr val="tx1"/>
                </a:solidFill>
              </a:rPr>
              <a:t>G4  AI出力を確認・検証している</a:t>
            </a:r>
            <a:endParaRPr lang="en-US" sz="1300" dirty="0"/>
          </a:p>
          <a:p>
            <a:pPr indent="0" marL="0">
              <a:spcAft>
                <a:spcPts val="700"/>
              </a:spcAft>
              <a:buNone/>
            </a:pPr>
            <a:r>
              <a:rPr lang="en-US" sz="1300" dirty="0">
                <a:solidFill>
                  <a:schemeClr val="tx1"/>
                </a:solidFill>
              </a:rPr>
              <a:t>G5  情報管理・安全利用に対応している</a:t>
            </a:r>
            <a:endParaRPr lang="en-US" sz="1300" dirty="0"/>
          </a:p>
        </p:txBody>
      </p:sp>
      <p:sp>
        <p:nvSpPr>
          <p:cNvPr id="8" name="Shape 6"/>
          <p:cNvSpPr/>
          <p:nvPr/>
        </p:nvSpPr>
        <p:spPr>
          <a:xfrm>
            <a:off x="4297680" y="1554480"/>
            <a:ext cx="3593592" cy="502920"/>
          </a:xfrm>
          <a:prstGeom prst="roundRect">
            <a:avLst>
              <a:gd name="adj" fmla="val 14545"/>
            </a:avLst>
          </a:prstGeom>
          <a:solidFill>
            <a:schemeClr val="accent1"/>
          </a:solidFill>
          <a:ln w="6350">
            <a:solidFill>
              <a:schemeClr val="accent1"/>
            </a:solidFill>
            <a:prstDash val="solid"/>
          </a:ln>
        </p:spPr>
      </p:sp>
      <p:sp>
        <p:nvSpPr>
          <p:cNvPr id="9" name="Text 7"/>
          <p:cNvSpPr txBox="1"/>
          <p:nvPr/>
        </p:nvSpPr>
        <p:spPr>
          <a:xfrm>
            <a:off x="4480560" y="1554480"/>
            <a:ext cx="3200400" cy="502920"/>
          </a:xfrm>
          <a:prstGeom prst="rect">
            <a:avLst/>
          </a:prstGeom>
          <a:noFill/>
          <a:ln/>
        </p:spPr>
        <p:txBody>
          <a:bodyPr wrap="square" lIns="0" tIns="0" rIns="0" bIns="0" rtlCol="0" anchor="ctr"/>
          <a:lstStyle/>
          <a:p>
            <a:pPr indent="0" marL="0">
              <a:buNone/>
            </a:pPr>
            <a:r>
              <a:rPr lang="en-US" sz="1600" b="1" dirty="0">
                <a:solidFill>
                  <a:schemeClr val="bg1"/>
                </a:solidFill>
              </a:rPr>
              <a:t>Lv.3 Gate（6）</a:t>
            </a:r>
            <a:endParaRPr lang="en-US" sz="1600" dirty="0"/>
          </a:p>
        </p:txBody>
      </p:sp>
      <p:sp>
        <p:nvSpPr>
          <p:cNvPr id="10" name="Shape 8"/>
          <p:cNvSpPr/>
          <p:nvPr/>
        </p:nvSpPr>
        <p:spPr>
          <a:xfrm>
            <a:off x="4297680" y="2148840"/>
            <a:ext cx="3593592" cy="3657600"/>
          </a:xfrm>
          <a:prstGeom prst="roundRect">
            <a:avLst>
              <a:gd name="adj" fmla="val 2036"/>
            </a:avLst>
          </a:prstGeom>
          <a:solidFill>
            <a:schemeClr val="bg2"/>
          </a:solidFill>
          <a:ln w="6350">
            <a:solidFill>
              <a:schemeClr val="bg2"/>
            </a:solidFill>
            <a:prstDash val="solid"/>
          </a:ln>
        </p:spPr>
      </p:sp>
      <p:sp>
        <p:nvSpPr>
          <p:cNvPr id="11" name="Text 9"/>
          <p:cNvSpPr txBox="1"/>
          <p:nvPr/>
        </p:nvSpPr>
        <p:spPr>
          <a:xfrm>
            <a:off x="4480560" y="2286000"/>
            <a:ext cx="3291840" cy="3703320"/>
          </a:xfrm>
          <a:prstGeom prst="rect">
            <a:avLst/>
          </a:prstGeom>
          <a:noFill/>
          <a:ln/>
        </p:spPr>
        <p:txBody>
          <a:bodyPr wrap="square" lIns="0" tIns="0" rIns="0" bIns="0" rtlCol="0" anchor="t"/>
          <a:lstStyle/>
          <a:p>
            <a:pPr indent="0" marL="0">
              <a:spcAft>
                <a:spcPts val="700"/>
              </a:spcAft>
              <a:buNone/>
            </a:pPr>
            <a:r>
              <a:rPr lang="en-US" sz="1300" dirty="0">
                <a:solidFill>
                  <a:schemeClr val="tx1"/>
                </a:solidFill>
              </a:rPr>
              <a:t>G1  Lv.2相当のAI活用・品質</a:t>
            </a:r>
            <a:endParaRPr lang="en-US" sz="1300" dirty="0"/>
          </a:p>
          <a:p>
            <a:pPr indent="0" marL="0">
              <a:spcAft>
                <a:spcPts val="700"/>
              </a:spcAft>
              <a:buNone/>
            </a:pPr>
            <a:r>
              <a:rPr lang="en-US" sz="1300" b="1" dirty="0">
                <a:solidFill>
                  <a:schemeClr val="accent4"/>
                </a:solidFill>
              </a:rPr>
              <a:t>G2  本人以外の実利用者がいる</a:t>
            </a:r>
            <a:endParaRPr lang="en-US" sz="1300" dirty="0"/>
          </a:p>
          <a:p>
            <a:pPr indent="0" marL="0">
              <a:spcAft>
                <a:spcPts val="700"/>
              </a:spcAft>
              <a:buNone/>
            </a:pPr>
            <a:r>
              <a:rPr lang="en-US" sz="1300" dirty="0">
                <a:solidFill>
                  <a:schemeClr val="tx1"/>
                </a:solidFill>
              </a:rPr>
              <a:t>G3  他者が再利用できる形になっている</a:t>
            </a:r>
            <a:endParaRPr lang="en-US" sz="1300" dirty="0"/>
          </a:p>
          <a:p>
            <a:pPr indent="0" marL="0">
              <a:spcAft>
                <a:spcPts val="700"/>
              </a:spcAft>
              <a:buNone/>
            </a:pPr>
            <a:r>
              <a:rPr lang="en-US" sz="1300" dirty="0">
                <a:solidFill>
                  <a:schemeClr val="tx1"/>
                </a:solidFill>
              </a:rPr>
              <a:t>G4  所属単位の実業務で利用実績がある</a:t>
            </a:r>
            <a:endParaRPr lang="en-US" sz="1300" dirty="0"/>
          </a:p>
          <a:p>
            <a:pPr indent="0" marL="0">
              <a:spcAft>
                <a:spcPts val="700"/>
              </a:spcAft>
              <a:buNone/>
            </a:pPr>
            <a:r>
              <a:rPr lang="en-US" sz="1300" dirty="0">
                <a:solidFill>
                  <a:schemeClr val="tx1"/>
                </a:solidFill>
              </a:rPr>
              <a:t>G5  案件・チームとして具体的な成果</a:t>
            </a:r>
            <a:endParaRPr lang="en-US" sz="1300" dirty="0"/>
          </a:p>
          <a:p>
            <a:pPr indent="0" marL="0">
              <a:spcAft>
                <a:spcPts val="700"/>
              </a:spcAft>
              <a:buNone/>
            </a:pPr>
            <a:r>
              <a:rPr lang="en-US" sz="1300" dirty="0">
                <a:solidFill>
                  <a:schemeClr val="tx1"/>
                </a:solidFill>
              </a:rPr>
              <a:t>G6  再利用・展開・定着の2点水準の条件を満たす※</a:t>
            </a:r>
            <a:endParaRPr lang="en-US" sz="1300" dirty="0"/>
          </a:p>
        </p:txBody>
      </p:sp>
      <p:sp>
        <p:nvSpPr>
          <p:cNvPr id="12" name="Shape 10"/>
          <p:cNvSpPr/>
          <p:nvPr/>
        </p:nvSpPr>
        <p:spPr>
          <a:xfrm>
            <a:off x="8046720" y="1554480"/>
            <a:ext cx="3593592" cy="502920"/>
          </a:xfrm>
          <a:prstGeom prst="roundRect">
            <a:avLst>
              <a:gd name="adj" fmla="val 14545"/>
            </a:avLst>
          </a:prstGeom>
          <a:solidFill>
            <a:schemeClr val="tx2"/>
          </a:solidFill>
          <a:ln w="6350">
            <a:solidFill>
              <a:schemeClr val="tx2"/>
            </a:solidFill>
            <a:prstDash val="solid"/>
          </a:ln>
        </p:spPr>
      </p:sp>
      <p:sp>
        <p:nvSpPr>
          <p:cNvPr id="13" name="Text 11"/>
          <p:cNvSpPr txBox="1"/>
          <p:nvPr/>
        </p:nvSpPr>
        <p:spPr>
          <a:xfrm>
            <a:off x="8229600" y="1554480"/>
            <a:ext cx="3200400" cy="502920"/>
          </a:xfrm>
          <a:prstGeom prst="rect">
            <a:avLst/>
          </a:prstGeom>
          <a:noFill/>
          <a:ln/>
        </p:spPr>
        <p:txBody>
          <a:bodyPr wrap="square" lIns="0" tIns="0" rIns="0" bIns="0" rtlCol="0" anchor="ctr"/>
          <a:lstStyle/>
          <a:p>
            <a:pPr indent="0" marL="0">
              <a:buNone/>
            </a:pPr>
            <a:r>
              <a:rPr lang="en-US" sz="1600" b="1" dirty="0">
                <a:solidFill>
                  <a:schemeClr val="bg1"/>
                </a:solidFill>
              </a:rPr>
              <a:t>Lv.4 Gate（8）</a:t>
            </a:r>
            <a:endParaRPr lang="en-US" sz="1600" dirty="0"/>
          </a:p>
        </p:txBody>
      </p:sp>
      <p:sp>
        <p:nvSpPr>
          <p:cNvPr id="14" name="Shape 12"/>
          <p:cNvSpPr/>
          <p:nvPr/>
        </p:nvSpPr>
        <p:spPr>
          <a:xfrm>
            <a:off x="8046720" y="2148840"/>
            <a:ext cx="3593592" cy="3657600"/>
          </a:xfrm>
          <a:prstGeom prst="roundRect">
            <a:avLst>
              <a:gd name="adj" fmla="val 2036"/>
            </a:avLst>
          </a:prstGeom>
          <a:solidFill>
            <a:schemeClr val="bg2"/>
          </a:solidFill>
          <a:ln w="6350">
            <a:solidFill>
              <a:schemeClr val="bg2"/>
            </a:solidFill>
            <a:prstDash val="solid"/>
          </a:ln>
        </p:spPr>
      </p:sp>
      <p:sp>
        <p:nvSpPr>
          <p:cNvPr id="15" name="Text 13"/>
          <p:cNvSpPr txBox="1"/>
          <p:nvPr/>
        </p:nvSpPr>
        <p:spPr>
          <a:xfrm>
            <a:off x="8229600" y="2286000"/>
            <a:ext cx="3291840" cy="3703320"/>
          </a:xfrm>
          <a:prstGeom prst="rect">
            <a:avLst/>
          </a:prstGeom>
          <a:noFill/>
          <a:ln/>
        </p:spPr>
        <p:txBody>
          <a:bodyPr wrap="square" lIns="0" tIns="0" rIns="0" bIns="0" rtlCol="0" anchor="t"/>
          <a:lstStyle/>
          <a:p>
            <a:pPr indent="0" marL="0">
              <a:spcAft>
                <a:spcPts val="700"/>
              </a:spcAft>
              <a:buNone/>
            </a:pPr>
            <a:r>
              <a:rPr lang="en-US" sz="1300" dirty="0">
                <a:solidFill>
                  <a:schemeClr val="tx1"/>
                </a:solidFill>
              </a:rPr>
              <a:t>G1  Lv.3相当の再利用・実運用</a:t>
            </a:r>
            <a:endParaRPr lang="en-US" sz="1300" dirty="0"/>
          </a:p>
          <a:p>
            <a:pPr indent="0" marL="0">
              <a:spcAft>
                <a:spcPts val="700"/>
              </a:spcAft>
              <a:buNone/>
            </a:pPr>
            <a:r>
              <a:rPr lang="en-US" sz="1300" b="1" dirty="0">
                <a:solidFill>
                  <a:schemeClr val="accent4"/>
                </a:solidFill>
              </a:rPr>
              <a:t>G2  所属単位を超えた2単位以上で実利用</a:t>
            </a:r>
            <a:endParaRPr lang="en-US" sz="1300" dirty="0"/>
          </a:p>
          <a:p>
            <a:pPr indent="0" marL="0">
              <a:spcAft>
                <a:spcPts val="700"/>
              </a:spcAft>
              <a:buNone/>
            </a:pPr>
            <a:r>
              <a:rPr lang="en-US" sz="1300" dirty="0">
                <a:solidFill>
                  <a:schemeClr val="tx1"/>
                </a:solidFill>
              </a:rPr>
              <a:t>G3  複数単位で具体的な成果</a:t>
            </a:r>
            <a:endParaRPr lang="en-US" sz="1300" dirty="0"/>
          </a:p>
          <a:p>
            <a:pPr indent="0" marL="0">
              <a:spcAft>
                <a:spcPts val="700"/>
              </a:spcAft>
              <a:buNone/>
            </a:pPr>
            <a:r>
              <a:rPr lang="en-US" sz="1300" dirty="0">
                <a:solidFill>
                  <a:schemeClr val="tx1"/>
                </a:solidFill>
              </a:rPr>
              <a:t>G4  標準・テンプレート等で再利用可能</a:t>
            </a:r>
            <a:endParaRPr lang="en-US" sz="1300" dirty="0"/>
          </a:p>
          <a:p>
            <a:pPr indent="0" marL="0">
              <a:spcAft>
                <a:spcPts val="700"/>
              </a:spcAft>
              <a:buNone/>
            </a:pPr>
            <a:r>
              <a:rPr lang="en-US" sz="1300" dirty="0">
                <a:solidFill>
                  <a:schemeClr val="tx1"/>
                </a:solidFill>
              </a:rPr>
              <a:t>G5  一定期間の運用実績</a:t>
            </a:r>
            <a:endParaRPr lang="en-US" sz="1300" dirty="0"/>
          </a:p>
          <a:p>
            <a:pPr indent="0" marL="0">
              <a:spcAft>
                <a:spcPts val="700"/>
              </a:spcAft>
              <a:buNone/>
            </a:pPr>
            <a:r>
              <a:rPr lang="en-US" sz="1300" dirty="0">
                <a:solidFill>
                  <a:schemeClr val="tx1"/>
                </a:solidFill>
              </a:rPr>
              <a:t>G6  利用状況または効果を確認している</a:t>
            </a:r>
            <a:endParaRPr lang="en-US" sz="1300" dirty="0"/>
          </a:p>
          <a:p>
            <a:pPr indent="0" marL="0">
              <a:spcAft>
                <a:spcPts val="700"/>
              </a:spcAft>
              <a:buNone/>
            </a:pPr>
            <a:r>
              <a:rPr lang="en-US" sz="1300" dirty="0">
                <a:solidFill>
                  <a:schemeClr val="tx1"/>
                </a:solidFill>
              </a:rPr>
              <a:t>G7  品質・情報管理・責任分界の設計</a:t>
            </a:r>
            <a:endParaRPr lang="en-US" sz="1300" dirty="0"/>
          </a:p>
          <a:p>
            <a:pPr indent="0" marL="0">
              <a:spcAft>
                <a:spcPts val="700"/>
              </a:spcAft>
              <a:buNone/>
            </a:pPr>
            <a:r>
              <a:rPr lang="en-US" sz="1300" dirty="0">
                <a:solidFill>
                  <a:schemeClr val="tx1"/>
                </a:solidFill>
              </a:rPr>
              <a:t>G8  再利用・展開・定着の2点水準の条件を満たす※</a:t>
            </a:r>
            <a:endParaRPr lang="en-US" sz="1300" dirty="0"/>
          </a:p>
        </p:txBody>
      </p:sp>
      <p:sp>
        <p:nvSpPr>
          <p:cNvPr id="16" name="Text 14"/>
          <p:cNvSpPr txBox="1"/>
          <p:nvPr/>
        </p:nvSpPr>
        <p:spPr>
          <a:xfrm>
            <a:off x="548640" y="5897880"/>
            <a:ext cx="10972800" cy="228600"/>
          </a:xfrm>
          <a:prstGeom prst="rect">
            <a:avLst/>
          </a:prstGeom>
          <a:noFill/>
          <a:ln/>
        </p:spPr>
        <p:txBody>
          <a:bodyPr wrap="square" lIns="0" tIns="0" rIns="0" bIns="0" rtlCol="0" anchor="t"/>
          <a:lstStyle/>
          <a:p>
            <a:pPr indent="0" marL="0">
              <a:buNone/>
            </a:pPr>
            <a:r>
              <a:rPr lang="en-US" sz="1000" dirty="0">
                <a:solidFill>
                  <a:schemeClr val="accent5"/>
                </a:solidFill>
              </a:rPr>
              <a:t>赤字はレベルを分ける決定的な条件。Gate IDは L2-G1 のように「レベル-番号」で表記する</a:t>
            </a:r>
            <a:endParaRPr lang="en-US" sz="1000" dirty="0"/>
          </a:p>
        </p:txBody>
      </p:sp>
      <p:sp>
        <p:nvSpPr>
          <p:cNvPr id="17" name="Shape 15"/>
          <p:cNvSpPr/>
          <p:nvPr/>
        </p:nvSpPr>
        <p:spPr>
          <a:xfrm>
            <a:off x="685800" y="4434840"/>
            <a:ext cx="3319272" cy="1234440"/>
          </a:xfrm>
          <a:prstGeom prst="roundRect">
            <a:avLst>
              <a:gd name="adj" fmla="val 5926"/>
            </a:avLst>
          </a:prstGeom>
          <a:solidFill>
            <a:schemeClr val="accent2">
              <a:alpha val="15000"/>
            </a:schemeClr>
          </a:solidFill>
          <a:ln w="9525">
            <a:solidFill>
              <a:schemeClr val="accent2">
                <a:alpha val="50000"/>
              </a:schemeClr>
            </a:solidFill>
            <a:prstDash val="solid"/>
          </a:ln>
        </p:spPr>
      </p:sp>
      <p:sp>
        <p:nvSpPr>
          <p:cNvPr id="18" name="Text 16"/>
          <p:cNvSpPr txBox="1"/>
          <p:nvPr/>
        </p:nvSpPr>
        <p:spPr>
          <a:xfrm>
            <a:off x="822960" y="4480560"/>
            <a:ext cx="3063240" cy="1143000"/>
          </a:xfrm>
          <a:prstGeom prst="rect">
            <a:avLst/>
          </a:prstGeom>
          <a:noFill/>
          <a:ln/>
        </p:spPr>
        <p:txBody>
          <a:bodyPr wrap="square" lIns="0" tIns="0" rIns="0" bIns="0" rtlCol="0" anchor="ctr"/>
          <a:lstStyle/>
          <a:p>
            <a:pPr indent="0" marL="0">
              <a:buNone/>
            </a:pPr>
            <a:r>
              <a:rPr lang="en-US" sz="1100" b="1" dirty="0">
                <a:solidFill>
                  <a:schemeClr val="tx2"/>
                </a:solidFill>
              </a:rPr>
              <a:t>※ G6・G8の読み方　</a:t>
            </a:r>
            <a:pPr indent="0" marL="0">
              <a:buNone/>
            </a:pPr>
            <a:r>
              <a:rPr lang="en-US" sz="1100" dirty="0">
                <a:solidFill>
                  <a:schemeClr val="tx1"/>
                </a:solidFill>
              </a:rPr>
              <a:t>採点結果の点数ではなく、2点水準の条件（他者の実利用・所属単位を超えた実展開など）を満たすかをGate判定の中で直接確認する</a:t>
            </a:r>
            <a:endParaRPr lang="en-US" sz="1100" dirty="0"/>
          </a:p>
        </p:txBody>
      </p:sp>
      <p:sp>
        <p:nvSpPr>
          <p:cNvPr id="19" name="Text 17"/>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出典：02 §5.4・§6.4・§7.4</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2　審査の仕組み</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合格条件は「全Gate通過」かつ「加重平均2.0以上」の両方</a:t>
            </a:r>
            <a:endParaRPr lang="en-US" sz="2400" dirty="0"/>
          </a:p>
        </p:txBody>
      </p:sp>
      <p:sp>
        <p:nvSpPr>
          <p:cNvPr id="4" name="Shape 2"/>
          <p:cNvSpPr/>
          <p:nvPr/>
        </p:nvSpPr>
        <p:spPr>
          <a:xfrm>
            <a:off x="548640" y="1554480"/>
            <a:ext cx="4023360" cy="2514600"/>
          </a:xfrm>
          <a:prstGeom prst="roundRect">
            <a:avLst>
              <a:gd name="adj" fmla="val 2909"/>
            </a:avLst>
          </a:prstGeom>
          <a:solidFill>
            <a:schemeClr val="tx2"/>
          </a:solidFill>
          <a:ln w="6350">
            <a:solidFill>
              <a:schemeClr val="tx2"/>
            </a:solidFill>
            <a:prstDash val="solid"/>
          </a:ln>
        </p:spPr>
      </p:sp>
      <p:sp>
        <p:nvSpPr>
          <p:cNvPr id="5" name="Text 3"/>
          <p:cNvSpPr txBox="1"/>
          <p:nvPr/>
        </p:nvSpPr>
        <p:spPr>
          <a:xfrm>
            <a:off x="777240" y="1691640"/>
            <a:ext cx="3566160" cy="320040"/>
          </a:xfrm>
          <a:prstGeom prst="rect">
            <a:avLst/>
          </a:prstGeom>
          <a:noFill/>
          <a:ln/>
        </p:spPr>
        <p:txBody>
          <a:bodyPr wrap="square" lIns="0" tIns="0" rIns="0" bIns="0" rtlCol="0" anchor="t"/>
          <a:lstStyle/>
          <a:p>
            <a:pPr indent="0" marL="0">
              <a:buNone/>
            </a:pPr>
            <a:r>
              <a:rPr lang="en-US" sz="1400" b="1" dirty="0">
                <a:solidFill>
                  <a:schemeClr val="accent2"/>
                </a:solidFill>
              </a:rPr>
              <a:t>合格条件</a:t>
            </a:r>
            <a:endParaRPr lang="en-US" sz="1400" dirty="0"/>
          </a:p>
        </p:txBody>
      </p:sp>
      <p:sp>
        <p:nvSpPr>
          <p:cNvPr id="6" name="Text 4"/>
          <p:cNvSpPr txBox="1"/>
          <p:nvPr/>
        </p:nvSpPr>
        <p:spPr>
          <a:xfrm>
            <a:off x="777240" y="2103120"/>
            <a:ext cx="3566160" cy="548640"/>
          </a:xfrm>
          <a:prstGeom prst="rect">
            <a:avLst/>
          </a:prstGeom>
          <a:noFill/>
          <a:ln/>
        </p:spPr>
        <p:txBody>
          <a:bodyPr wrap="square" lIns="0" tIns="0" rIns="0" bIns="0" rtlCol="0" anchor="t"/>
          <a:lstStyle/>
          <a:p>
            <a:pPr indent="0" marL="0">
              <a:buNone/>
            </a:pPr>
            <a:r>
              <a:rPr lang="en-US" sz="2800" b="1" dirty="0">
                <a:solidFill>
                  <a:schemeClr val="bg1"/>
                </a:solidFill>
              </a:rPr>
              <a:t>全Gate通過</a:t>
            </a:r>
            <a:endParaRPr lang="en-US" sz="2800" dirty="0"/>
          </a:p>
        </p:txBody>
      </p:sp>
      <p:sp>
        <p:nvSpPr>
          <p:cNvPr id="7" name="Text 5"/>
          <p:cNvSpPr txBox="1"/>
          <p:nvPr/>
        </p:nvSpPr>
        <p:spPr>
          <a:xfrm>
            <a:off x="777240" y="2697480"/>
            <a:ext cx="3566160" cy="320040"/>
          </a:xfrm>
          <a:prstGeom prst="rect">
            <a:avLst/>
          </a:prstGeom>
          <a:noFill/>
          <a:ln/>
        </p:spPr>
        <p:txBody>
          <a:bodyPr wrap="square" lIns="0" tIns="0" rIns="0" bIns="0" rtlCol="0" anchor="t"/>
          <a:lstStyle/>
          <a:p>
            <a:pPr indent="0" marL="0">
              <a:buNone/>
            </a:pPr>
            <a:r>
              <a:rPr lang="en-US" sz="1600" dirty="0">
                <a:solidFill>
                  <a:schemeClr val="bg2"/>
                </a:solidFill>
              </a:rPr>
              <a:t>かつ</a:t>
            </a:r>
            <a:endParaRPr lang="en-US" sz="1600" dirty="0"/>
          </a:p>
        </p:txBody>
      </p:sp>
      <p:sp>
        <p:nvSpPr>
          <p:cNvPr id="8" name="Text 6"/>
          <p:cNvSpPr txBox="1"/>
          <p:nvPr/>
        </p:nvSpPr>
        <p:spPr>
          <a:xfrm>
            <a:off x="777240" y="3063240"/>
            <a:ext cx="3566160" cy="548640"/>
          </a:xfrm>
          <a:prstGeom prst="rect">
            <a:avLst/>
          </a:prstGeom>
          <a:noFill/>
          <a:ln/>
        </p:spPr>
        <p:txBody>
          <a:bodyPr wrap="square" lIns="0" tIns="0" rIns="0" bIns="0" rtlCol="0" anchor="t"/>
          <a:lstStyle/>
          <a:p>
            <a:pPr indent="0" marL="0">
              <a:buNone/>
            </a:pPr>
            <a:r>
              <a:rPr lang="en-US" sz="2800" b="1" dirty="0">
                <a:solidFill>
                  <a:schemeClr val="bg1"/>
                </a:solidFill>
              </a:rPr>
              <a:t>加重平均 2.0以上</a:t>
            </a:r>
            <a:endParaRPr lang="en-US" sz="2800" dirty="0"/>
          </a:p>
        </p:txBody>
      </p:sp>
      <p:sp>
        <p:nvSpPr>
          <p:cNvPr id="9" name="Text 7"/>
          <p:cNvSpPr txBox="1"/>
          <p:nvPr/>
        </p:nvSpPr>
        <p:spPr>
          <a:xfrm>
            <a:off x="548640" y="4297680"/>
            <a:ext cx="4023360" cy="17373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Gateを先に確認し、加重平均だけでは合格にしない</a:t>
            </a:r>
            <a:endParaRPr lang="en-US" sz="1300" dirty="0"/>
          </a:p>
          <a:p>
            <a:pPr marL="177800" indent="-177800">
              <a:spcAft>
                <a:spcPts val="400"/>
              </a:spcAft>
              <a:buSzPct val="100000"/>
              <a:buChar char="•"/>
            </a:pPr>
            <a:r>
              <a:rPr lang="en-US" sz="1300" dirty="0">
                <a:solidFill>
                  <a:schemeClr val="tx1"/>
                </a:solidFill>
              </a:rPr>
              <a:t>合否の比較は丸める前の値で行う</a:t>
            </a:r>
            <a:endParaRPr lang="en-US" sz="1300" dirty="0"/>
          </a:p>
          <a:p>
            <a:pPr marL="177800" indent="-177800">
              <a:spcAft>
                <a:spcPts val="400"/>
              </a:spcAft>
              <a:buSzPct val="100000"/>
              <a:buChar char="•"/>
            </a:pPr>
            <a:r>
              <a:rPr lang="en-US" sz="1300" dirty="0">
                <a:solidFill>
                  <a:schemeClr val="tx1"/>
                </a:solidFill>
              </a:rPr>
              <a:t>加重平均＝各観点の点数×重みの合計</a:t>
            </a:r>
            <a:endParaRPr lang="en-US" sz="1300" dirty="0"/>
          </a:p>
        </p:txBody>
      </p:sp>
      <p:sp>
        <p:nvSpPr>
          <p:cNvPr id="10" name="Shape 8"/>
          <p:cNvSpPr/>
          <p:nvPr/>
        </p:nvSpPr>
        <p:spPr>
          <a:xfrm>
            <a:off x="4846320" y="1554480"/>
            <a:ext cx="6793992" cy="2148840"/>
          </a:xfrm>
          <a:prstGeom prst="roundRect">
            <a:avLst>
              <a:gd name="adj" fmla="val 3404"/>
            </a:avLst>
          </a:prstGeom>
          <a:solidFill>
            <a:schemeClr val="bg2"/>
          </a:solidFill>
          <a:ln w="6350">
            <a:solidFill>
              <a:schemeClr val="bg2"/>
            </a:solidFill>
            <a:prstDash val="solid"/>
          </a:ln>
        </p:spPr>
      </p:sp>
      <p:sp>
        <p:nvSpPr>
          <p:cNvPr id="11" name="Text 9"/>
          <p:cNvSpPr txBox="1"/>
          <p:nvPr/>
        </p:nvSpPr>
        <p:spPr>
          <a:xfrm>
            <a:off x="5029200" y="1664208"/>
            <a:ext cx="4572000" cy="320040"/>
          </a:xfrm>
          <a:prstGeom prst="rect">
            <a:avLst/>
          </a:prstGeom>
          <a:noFill/>
          <a:ln/>
        </p:spPr>
        <p:txBody>
          <a:bodyPr wrap="square" lIns="0" tIns="0" rIns="0" bIns="0" rtlCol="0" anchor="t"/>
          <a:lstStyle/>
          <a:p>
            <a:pPr indent="0" marL="0">
              <a:buNone/>
            </a:pPr>
            <a:r>
              <a:rPr lang="en-US" sz="1500" b="1" dirty="0">
                <a:solidFill>
                  <a:schemeClr val="tx2"/>
                </a:solidFill>
              </a:rPr>
              <a:t>例A　Lv.3で申請 → 合格</a:t>
            </a:r>
            <a:endParaRPr lang="en-US" sz="1500" dirty="0"/>
          </a:p>
        </p:txBody>
      </p:sp>
      <p:sp>
        <p:nvSpPr>
          <p:cNvPr id="12" name="Shape 10"/>
          <p:cNvSpPr/>
          <p:nvPr/>
        </p:nvSpPr>
        <p:spPr>
          <a:xfrm>
            <a:off x="10378440" y="1673352"/>
            <a:ext cx="1097280" cy="329184"/>
          </a:xfrm>
          <a:prstGeom prst="roundRect">
            <a:avLst>
              <a:gd name="adj" fmla="val 41667"/>
            </a:avLst>
          </a:prstGeom>
          <a:solidFill>
            <a:schemeClr val="accent1"/>
          </a:solidFill>
          <a:ln w="6350">
            <a:solidFill>
              <a:schemeClr val="accent1"/>
            </a:solidFill>
            <a:prstDash val="solid"/>
          </a:ln>
        </p:spPr>
      </p:sp>
      <p:sp>
        <p:nvSpPr>
          <p:cNvPr id="13" name="Text 11"/>
          <p:cNvSpPr txBox="1"/>
          <p:nvPr/>
        </p:nvSpPr>
        <p:spPr>
          <a:xfrm>
            <a:off x="10378440" y="1673352"/>
            <a:ext cx="1097280" cy="329184"/>
          </a:xfrm>
          <a:prstGeom prst="rect">
            <a:avLst/>
          </a:prstGeom>
          <a:noFill/>
          <a:ln/>
        </p:spPr>
        <p:txBody>
          <a:bodyPr wrap="square" lIns="0" tIns="0" rIns="0" bIns="0" rtlCol="0" anchor="ctr"/>
          <a:lstStyle/>
          <a:p>
            <a:pPr algn="ctr" indent="0" marL="0">
              <a:buNone/>
            </a:pPr>
            <a:r>
              <a:rPr lang="en-US" sz="1100" b="1" dirty="0">
                <a:solidFill>
                  <a:schemeClr val="bg1"/>
                </a:solidFill>
              </a:rPr>
              <a:t>合格</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0" y="2057400"/>
          <a:ext cx="3566160" cy="914400"/>
        </p:xfrm>
        <a:graphic>
          <a:graphicData uri="http://schemas.openxmlformats.org/drawingml/2006/table">
            <a:tbl>
              <a:tblPr/>
              <a:tblGrid>
                <a:gridCol w="1600200"/>
                <a:gridCol w="548640"/>
                <a:gridCol w="731520"/>
                <a:gridCol w="685800"/>
              </a:tblGrid>
              <a:tr h="310896">
                <a:tc>
                  <a:txBody>
                    <a:bodyPr/>
                    <a:lstStyle/>
                    <a:p>
                      <a:pPr indent="0" marL="0">
                        <a:buNone/>
                      </a:pPr>
                      <a:r>
                        <a:rPr lang="en-US" sz="1300" dirty="0">
                          <a:solidFill>
                            <a:srgbClr val="1F2A2E"/>
                          </a:solidFill>
                        </a:rPr>
                        <a:t>AI活用・品質</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2点</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30%</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0.6</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300" dirty="0">
                          <a:solidFill>
                            <a:srgbClr val="1F2A2E"/>
                          </a:solidFill>
                        </a:rPr>
                        <a:t>成果・実運用</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2点</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40%</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0.8</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300" dirty="0">
                          <a:solidFill>
                            <a:srgbClr val="1F2A2E"/>
                          </a:solidFill>
                        </a:rPr>
                        <a:t>再利用・展開・定着</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2点</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30%</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0.6</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r>
            </a:tbl>
          </a:graphicData>
        </a:graphic>
      </p:graphicFrame>
      <p:sp>
        <p:nvSpPr>
          <p:cNvPr id="15" name="Text 12"/>
          <p:cNvSpPr txBox="1"/>
          <p:nvPr/>
        </p:nvSpPr>
        <p:spPr>
          <a:xfrm>
            <a:off x="8778240" y="2057400"/>
            <a:ext cx="2743200" cy="457200"/>
          </a:xfrm>
          <a:prstGeom prst="rect">
            <a:avLst/>
          </a:prstGeom>
          <a:noFill/>
          <a:ln/>
        </p:spPr>
        <p:txBody>
          <a:bodyPr wrap="square" lIns="0" tIns="0" rIns="0" bIns="0" rtlCol="0" anchor="ctr"/>
          <a:lstStyle/>
          <a:p>
            <a:pPr indent="0" marL="0">
              <a:buNone/>
            </a:pPr>
            <a:r>
              <a:rPr lang="en-US" sz="1300" dirty="0">
                <a:solidFill>
                  <a:schemeClr val="tx1"/>
                </a:solidFill>
              </a:rPr>
              <a:t>加重平均  </a:t>
            </a:r>
            <a:pPr indent="0" marL="0">
              <a:buNone/>
            </a:pPr>
            <a:r>
              <a:rPr lang="en-US" sz="2600" b="1" dirty="0">
                <a:solidFill>
                  <a:schemeClr val="tx2"/>
                </a:solidFill>
              </a:rPr>
              <a:t>2.0</a:t>
            </a:r>
            <a:endParaRPr lang="en-US" sz="1400" dirty="0"/>
          </a:p>
        </p:txBody>
      </p:sp>
      <p:sp>
        <p:nvSpPr>
          <p:cNvPr id="16" name="Text 13"/>
          <p:cNvSpPr txBox="1"/>
          <p:nvPr/>
        </p:nvSpPr>
        <p:spPr>
          <a:xfrm>
            <a:off x="8778240" y="2542032"/>
            <a:ext cx="2743200" cy="457200"/>
          </a:xfrm>
          <a:prstGeom prst="rect">
            <a:avLst/>
          </a:prstGeom>
          <a:noFill/>
          <a:ln/>
        </p:spPr>
        <p:txBody>
          <a:bodyPr wrap="square" lIns="0" tIns="0" rIns="0" bIns="0" rtlCol="0" anchor="t"/>
          <a:lstStyle/>
          <a:p>
            <a:pPr indent="0" marL="0">
              <a:buNone/>
            </a:pPr>
            <a:r>
              <a:rPr lang="en-US" sz="1300" b="1" dirty="0">
                <a:solidFill>
                  <a:schemeClr val="accent1"/>
                </a:solidFill>
              </a:rPr>
              <a:t>Gateすべて通過</a:t>
            </a:r>
            <a:endParaRPr lang="en-US" sz="1300" dirty="0"/>
          </a:p>
        </p:txBody>
      </p:sp>
      <p:sp>
        <p:nvSpPr>
          <p:cNvPr id="17" name="Text 14"/>
          <p:cNvSpPr txBox="1"/>
          <p:nvPr/>
        </p:nvSpPr>
        <p:spPr>
          <a:xfrm>
            <a:off x="5029200" y="3154680"/>
            <a:ext cx="6492240" cy="411480"/>
          </a:xfrm>
          <a:prstGeom prst="rect">
            <a:avLst/>
          </a:prstGeom>
          <a:noFill/>
          <a:ln/>
        </p:spPr>
        <p:txBody>
          <a:bodyPr wrap="square" lIns="0" tIns="0" rIns="0" bIns="0" rtlCol="0" anchor="t"/>
          <a:lstStyle/>
          <a:p>
            <a:pPr indent="0" marL="0">
              <a:buNone/>
            </a:pPr>
            <a:r>
              <a:rPr lang="en-US" sz="1200" dirty="0">
                <a:solidFill>
                  <a:schemeClr val="accent5"/>
                </a:solidFill>
              </a:rPr>
              <a:t>3観点とも期待水準ちょうど。それで合格になる</a:t>
            </a:r>
            <a:endParaRPr lang="en-US" sz="1200" dirty="0"/>
          </a:p>
        </p:txBody>
      </p:sp>
      <p:sp>
        <p:nvSpPr>
          <p:cNvPr id="18" name="Shape 15"/>
          <p:cNvSpPr/>
          <p:nvPr/>
        </p:nvSpPr>
        <p:spPr>
          <a:xfrm>
            <a:off x="4846320" y="3840480"/>
            <a:ext cx="6793992" cy="2148840"/>
          </a:xfrm>
          <a:prstGeom prst="roundRect">
            <a:avLst>
              <a:gd name="adj" fmla="val 3404"/>
            </a:avLst>
          </a:prstGeom>
          <a:solidFill>
            <a:schemeClr val="bg2"/>
          </a:solidFill>
          <a:ln w="6350">
            <a:solidFill>
              <a:schemeClr val="bg2"/>
            </a:solidFill>
            <a:prstDash val="solid"/>
          </a:ln>
        </p:spPr>
      </p:sp>
      <p:sp>
        <p:nvSpPr>
          <p:cNvPr id="19" name="Text 16"/>
          <p:cNvSpPr txBox="1"/>
          <p:nvPr/>
        </p:nvSpPr>
        <p:spPr>
          <a:xfrm>
            <a:off x="5029200" y="3950208"/>
            <a:ext cx="4572000" cy="320040"/>
          </a:xfrm>
          <a:prstGeom prst="rect">
            <a:avLst/>
          </a:prstGeom>
          <a:noFill/>
          <a:ln/>
        </p:spPr>
        <p:txBody>
          <a:bodyPr wrap="square" lIns="0" tIns="0" rIns="0" bIns="0" rtlCol="0" anchor="t"/>
          <a:lstStyle/>
          <a:p>
            <a:pPr indent="0" marL="0">
              <a:buNone/>
            </a:pPr>
            <a:r>
              <a:rPr lang="en-US" sz="1500" b="1" dirty="0">
                <a:solidFill>
                  <a:schemeClr val="tx2"/>
                </a:solidFill>
              </a:rPr>
              <a:t>例B　Lv.3で申請 → 不合格</a:t>
            </a:r>
            <a:endParaRPr lang="en-US" sz="1500" dirty="0"/>
          </a:p>
        </p:txBody>
      </p:sp>
      <p:sp>
        <p:nvSpPr>
          <p:cNvPr id="20" name="Shape 17"/>
          <p:cNvSpPr/>
          <p:nvPr/>
        </p:nvSpPr>
        <p:spPr>
          <a:xfrm>
            <a:off x="10378440" y="3959352"/>
            <a:ext cx="1097280" cy="329184"/>
          </a:xfrm>
          <a:prstGeom prst="roundRect">
            <a:avLst>
              <a:gd name="adj" fmla="val 41667"/>
            </a:avLst>
          </a:prstGeom>
          <a:solidFill>
            <a:schemeClr val="accent4"/>
          </a:solidFill>
          <a:ln w="6350">
            <a:solidFill>
              <a:schemeClr val="accent4"/>
            </a:solidFill>
            <a:prstDash val="solid"/>
          </a:ln>
        </p:spPr>
      </p:sp>
      <p:sp>
        <p:nvSpPr>
          <p:cNvPr id="21" name="Text 18"/>
          <p:cNvSpPr txBox="1"/>
          <p:nvPr/>
        </p:nvSpPr>
        <p:spPr>
          <a:xfrm>
            <a:off x="10378440" y="3959352"/>
            <a:ext cx="1097280" cy="329184"/>
          </a:xfrm>
          <a:prstGeom prst="rect">
            <a:avLst/>
          </a:prstGeom>
          <a:noFill/>
          <a:ln/>
        </p:spPr>
        <p:txBody>
          <a:bodyPr wrap="square" lIns="0" tIns="0" rIns="0" bIns="0" rtlCol="0" anchor="ctr"/>
          <a:lstStyle/>
          <a:p>
            <a:pPr algn="ctr" indent="0" marL="0">
              <a:buNone/>
            </a:pPr>
            <a:r>
              <a:rPr lang="en-US" sz="1100" b="1" dirty="0">
                <a:solidFill>
                  <a:schemeClr val="bg1"/>
                </a:solidFill>
              </a:rPr>
              <a:t>不合格</a:t>
            </a:r>
            <a:endParaRPr lang="en-US" sz="11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029200" y="4343400"/>
          <a:ext cx="3566160" cy="914400"/>
        </p:xfrm>
        <a:graphic>
          <a:graphicData uri="http://schemas.openxmlformats.org/drawingml/2006/table">
            <a:tbl>
              <a:tblPr/>
              <a:tblGrid>
                <a:gridCol w="1600200"/>
                <a:gridCol w="548640"/>
                <a:gridCol w="731520"/>
                <a:gridCol w="685800"/>
              </a:tblGrid>
              <a:tr h="310896">
                <a:tc>
                  <a:txBody>
                    <a:bodyPr/>
                    <a:lstStyle/>
                    <a:p>
                      <a:pPr indent="0" marL="0">
                        <a:buNone/>
                      </a:pPr>
                      <a:r>
                        <a:rPr lang="en-US" sz="1300" dirty="0">
                          <a:solidFill>
                            <a:srgbClr val="1F2A2E"/>
                          </a:solidFill>
                        </a:rPr>
                        <a:t>AI活用・品質</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1点</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30%</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0.3</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300" dirty="0">
                          <a:solidFill>
                            <a:srgbClr val="1F2A2E"/>
                          </a:solidFill>
                        </a:rPr>
                        <a:t>成果・実運用</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2点</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40%</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0.8</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r>
              <a:tr h="310896">
                <a:tc>
                  <a:txBody>
                    <a:bodyPr/>
                    <a:lstStyle/>
                    <a:p>
                      <a:pPr indent="0" marL="0">
                        <a:buNone/>
                      </a:pPr>
                      <a:r>
                        <a:rPr lang="en-US" sz="1300" dirty="0">
                          <a:solidFill>
                            <a:srgbClr val="1F2A2E"/>
                          </a:solidFill>
                        </a:rPr>
                        <a:t>再利用・展開・定着</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2点</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30%</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c>
                  <a:txBody>
                    <a:bodyPr/>
                    <a:lstStyle/>
                    <a:p>
                      <a:pPr indent="0" marL="0">
                        <a:buNone/>
                      </a:pPr>
                      <a:r>
                        <a:rPr lang="en-US" sz="1300" dirty="0">
                          <a:solidFill>
                            <a:srgbClr val="1F2A2E"/>
                          </a:solidFill>
                        </a:rPr>
                        <a:t>= 0.6</a:t>
                      </a:r>
                      <a:endParaRPr lang="en-US" sz="1300" dirty="0"/>
                    </a:p>
                  </a:txBody>
                  <a:tcPr marL="27432" marR="27432" marT="27432" marB="27432">
                    <a:lnL w="0" cap="flat" cmpd="sng" algn="ctr">
                      <a:noFill/>
                    </a:lnL>
                    <a:lnR w="0" cap="flat" cmpd="sng" algn="ctr">
                      <a:noFill/>
                    </a:lnR>
                    <a:lnT w="0" cap="flat" cmpd="sng" algn="ctr">
                      <a:noFill/>
                    </a:lnT>
                    <a:lnB w="0" cap="flat" cmpd="sng" algn="ctr">
                      <a:noFill/>
                    </a:lnB>
                  </a:tcPr>
                </a:tc>
              </a:tr>
            </a:tbl>
          </a:graphicData>
        </a:graphic>
      </p:graphicFrame>
      <p:sp>
        <p:nvSpPr>
          <p:cNvPr id="23" name="Text 19"/>
          <p:cNvSpPr txBox="1"/>
          <p:nvPr/>
        </p:nvSpPr>
        <p:spPr>
          <a:xfrm>
            <a:off x="8778240" y="4343400"/>
            <a:ext cx="2743200" cy="457200"/>
          </a:xfrm>
          <a:prstGeom prst="rect">
            <a:avLst/>
          </a:prstGeom>
          <a:noFill/>
          <a:ln/>
        </p:spPr>
        <p:txBody>
          <a:bodyPr wrap="square" lIns="0" tIns="0" rIns="0" bIns="0" rtlCol="0" anchor="ctr"/>
          <a:lstStyle/>
          <a:p>
            <a:pPr indent="0" marL="0">
              <a:buNone/>
            </a:pPr>
            <a:r>
              <a:rPr lang="en-US" sz="1300" dirty="0">
                <a:solidFill>
                  <a:schemeClr val="tx1"/>
                </a:solidFill>
              </a:rPr>
              <a:t>加重平均  </a:t>
            </a:r>
            <a:pPr indent="0" marL="0">
              <a:buNone/>
            </a:pPr>
            <a:r>
              <a:rPr lang="en-US" sz="2600" b="1" dirty="0">
                <a:solidFill>
                  <a:schemeClr val="tx2"/>
                </a:solidFill>
              </a:rPr>
              <a:t>1.7</a:t>
            </a:r>
            <a:endParaRPr lang="en-US" sz="1400" dirty="0"/>
          </a:p>
        </p:txBody>
      </p:sp>
      <p:sp>
        <p:nvSpPr>
          <p:cNvPr id="24" name="Text 20"/>
          <p:cNvSpPr txBox="1"/>
          <p:nvPr/>
        </p:nvSpPr>
        <p:spPr>
          <a:xfrm>
            <a:off x="8778240" y="4828032"/>
            <a:ext cx="2743200" cy="457200"/>
          </a:xfrm>
          <a:prstGeom prst="rect">
            <a:avLst/>
          </a:prstGeom>
          <a:noFill/>
          <a:ln/>
        </p:spPr>
        <p:txBody>
          <a:bodyPr wrap="square" lIns="0" tIns="0" rIns="0" bIns="0" rtlCol="0" anchor="t"/>
          <a:lstStyle/>
          <a:p>
            <a:pPr indent="0" marL="0">
              <a:buNone/>
            </a:pPr>
            <a:r>
              <a:rPr lang="en-US" sz="1300" b="1" dirty="0">
                <a:solidFill>
                  <a:schemeClr val="accent4"/>
                </a:solidFill>
              </a:rPr>
              <a:t>Gateはすべて通過</a:t>
            </a:r>
            <a:endParaRPr lang="en-US" sz="1300" dirty="0"/>
          </a:p>
        </p:txBody>
      </p:sp>
      <p:sp>
        <p:nvSpPr>
          <p:cNvPr id="25" name="Text 21"/>
          <p:cNvSpPr txBox="1"/>
          <p:nvPr/>
        </p:nvSpPr>
        <p:spPr>
          <a:xfrm>
            <a:off x="5029200" y="5440680"/>
            <a:ext cx="6492240" cy="411480"/>
          </a:xfrm>
          <a:prstGeom prst="rect">
            <a:avLst/>
          </a:prstGeom>
          <a:noFill/>
          <a:ln/>
        </p:spPr>
        <p:txBody>
          <a:bodyPr wrap="square" lIns="0" tIns="0" rIns="0" bIns="0" rtlCol="0" anchor="t"/>
          <a:lstStyle/>
          <a:p>
            <a:pPr indent="0" marL="0">
              <a:buNone/>
            </a:pPr>
            <a:r>
              <a:rPr lang="en-US" sz="1200" dirty="0">
                <a:solidFill>
                  <a:schemeClr val="accent5"/>
                </a:solidFill>
              </a:rPr>
              <a:t>他者向けの品質設計が弱い。全Gateを通過しても2.0未満なら不合格</a:t>
            </a:r>
            <a:endParaRPr lang="en-US" sz="1200" dirty="0"/>
          </a:p>
        </p:txBody>
      </p:sp>
      <p:sp>
        <p:nvSpPr>
          <p:cNvPr id="26" name="Text 22"/>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出典：02 §4・「加重平均の計算」・§6.4</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2　審査の仕組み</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結果は3種類。「情報が足りない」と「基準に届かない」を分けて扱う</a:t>
            </a:r>
            <a:endParaRPr lang="en-US" sz="2400" dirty="0"/>
          </a:p>
        </p:txBody>
      </p:sp>
      <p:sp>
        <p:nvSpPr>
          <p:cNvPr id="4" name="Shape 2"/>
          <p:cNvSpPr/>
          <p:nvPr/>
        </p:nvSpPr>
        <p:spPr>
          <a:xfrm>
            <a:off x="548640" y="1554480"/>
            <a:ext cx="3593592" cy="594360"/>
          </a:xfrm>
          <a:prstGeom prst="roundRect">
            <a:avLst>
              <a:gd name="adj" fmla="val 12308"/>
            </a:avLst>
          </a:prstGeom>
          <a:solidFill>
            <a:schemeClr val="accent1"/>
          </a:solidFill>
          <a:ln w="6350">
            <a:solidFill>
              <a:schemeClr val="accent1"/>
            </a:solidFill>
            <a:prstDash val="solid"/>
          </a:ln>
        </p:spPr>
      </p:sp>
      <p:sp>
        <p:nvSpPr>
          <p:cNvPr id="5" name="Text 3"/>
          <p:cNvSpPr txBox="1"/>
          <p:nvPr/>
        </p:nvSpPr>
        <p:spPr>
          <a:xfrm>
            <a:off x="731520" y="1554480"/>
            <a:ext cx="3200400" cy="594360"/>
          </a:xfrm>
          <a:prstGeom prst="rect">
            <a:avLst/>
          </a:prstGeom>
          <a:noFill/>
          <a:ln/>
        </p:spPr>
        <p:txBody>
          <a:bodyPr wrap="square" lIns="0" tIns="0" rIns="0" bIns="0" rtlCol="0" anchor="ctr"/>
          <a:lstStyle/>
          <a:p>
            <a:pPr indent="0" marL="0">
              <a:buNone/>
            </a:pPr>
            <a:r>
              <a:rPr lang="en-US" sz="2000" b="1" dirty="0">
                <a:solidFill>
                  <a:schemeClr val="bg1"/>
                </a:solidFill>
              </a:rPr>
              <a:t>合格</a:t>
            </a:r>
            <a:endParaRPr lang="en-US" sz="2000" dirty="0"/>
          </a:p>
        </p:txBody>
      </p:sp>
      <p:sp>
        <p:nvSpPr>
          <p:cNvPr id="6" name="Shape 4"/>
          <p:cNvSpPr/>
          <p:nvPr/>
        </p:nvSpPr>
        <p:spPr>
          <a:xfrm>
            <a:off x="548640" y="2240280"/>
            <a:ext cx="3593592" cy="2606040"/>
          </a:xfrm>
          <a:prstGeom prst="roundRect">
            <a:avLst>
              <a:gd name="adj" fmla="val 2807"/>
            </a:avLst>
          </a:prstGeom>
          <a:solidFill>
            <a:schemeClr val="bg2"/>
          </a:solidFill>
          <a:ln w="6350">
            <a:solidFill>
              <a:schemeClr val="bg2"/>
            </a:solidFill>
            <a:prstDash val="solid"/>
          </a:ln>
        </p:spPr>
      </p:sp>
      <p:sp>
        <p:nvSpPr>
          <p:cNvPr id="7" name="Text 5"/>
          <p:cNvSpPr txBox="1"/>
          <p:nvPr/>
        </p:nvSpPr>
        <p:spPr>
          <a:xfrm>
            <a:off x="731520" y="2359152"/>
            <a:ext cx="3200400" cy="256032"/>
          </a:xfrm>
          <a:prstGeom prst="rect">
            <a:avLst/>
          </a:prstGeom>
          <a:noFill/>
          <a:ln/>
        </p:spPr>
        <p:txBody>
          <a:bodyPr wrap="square" lIns="0" tIns="0" rIns="0" bIns="0" rtlCol="0" anchor="t"/>
          <a:lstStyle/>
          <a:p>
            <a:pPr indent="0" marL="0">
              <a:buNone/>
            </a:pPr>
            <a:r>
              <a:rPr lang="en-US" sz="1100" b="1" dirty="0">
                <a:solidFill>
                  <a:schemeClr val="accent5"/>
                </a:solidFill>
              </a:rPr>
              <a:t>条件</a:t>
            </a:r>
            <a:endParaRPr lang="en-US" sz="1100" dirty="0"/>
          </a:p>
        </p:txBody>
      </p:sp>
      <p:sp>
        <p:nvSpPr>
          <p:cNvPr id="8" name="Text 6"/>
          <p:cNvSpPr txBox="1"/>
          <p:nvPr/>
        </p:nvSpPr>
        <p:spPr>
          <a:xfrm>
            <a:off x="731520" y="2615184"/>
            <a:ext cx="3246120" cy="777240"/>
          </a:xfrm>
          <a:prstGeom prst="rect">
            <a:avLst/>
          </a:prstGeom>
          <a:noFill/>
          <a:ln/>
        </p:spPr>
        <p:txBody>
          <a:bodyPr wrap="square" lIns="0" tIns="0" rIns="0" bIns="0" rtlCol="0" anchor="t"/>
          <a:lstStyle/>
          <a:p>
            <a:pPr indent="0" marL="0">
              <a:buNone/>
            </a:pPr>
            <a:r>
              <a:rPr lang="en-US" sz="1400" dirty="0">
                <a:solidFill>
                  <a:schemeClr val="tx1"/>
                </a:solidFill>
              </a:rPr>
              <a:t>全Gateを通過し、加重平均が2.0以上</a:t>
            </a:r>
            <a:endParaRPr lang="en-US" sz="1400" dirty="0"/>
          </a:p>
        </p:txBody>
      </p:sp>
      <p:sp>
        <p:nvSpPr>
          <p:cNvPr id="9" name="Text 7"/>
          <p:cNvSpPr txBox="1"/>
          <p:nvPr/>
        </p:nvSpPr>
        <p:spPr>
          <a:xfrm>
            <a:off x="731520" y="3429000"/>
            <a:ext cx="3200400" cy="256032"/>
          </a:xfrm>
          <a:prstGeom prst="rect">
            <a:avLst/>
          </a:prstGeom>
          <a:noFill/>
          <a:ln/>
        </p:spPr>
        <p:txBody>
          <a:bodyPr wrap="square" lIns="0" tIns="0" rIns="0" bIns="0" rtlCol="0" anchor="t"/>
          <a:lstStyle/>
          <a:p>
            <a:pPr indent="0" marL="0">
              <a:buNone/>
            </a:pPr>
            <a:r>
              <a:rPr lang="en-US" sz="1100" b="1" dirty="0">
                <a:solidFill>
                  <a:schemeClr val="accent5"/>
                </a:solidFill>
              </a:rPr>
              <a:t>申請者に表示される内容</a:t>
            </a:r>
            <a:endParaRPr lang="en-US" sz="1100" dirty="0"/>
          </a:p>
        </p:txBody>
      </p:sp>
      <p:sp>
        <p:nvSpPr>
          <p:cNvPr id="10" name="Text 8"/>
          <p:cNvSpPr txBox="1"/>
          <p:nvPr/>
        </p:nvSpPr>
        <p:spPr>
          <a:xfrm>
            <a:off x="731520" y="3703320"/>
            <a:ext cx="32461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認定レベル・領域タグ</a:t>
            </a:r>
            <a:endParaRPr lang="en-US" sz="1300" dirty="0"/>
          </a:p>
          <a:p>
            <a:pPr marL="177800" indent="-177800">
              <a:spcAft>
                <a:spcPts val="400"/>
              </a:spcAft>
              <a:buSzPct val="100000"/>
              <a:buChar char="•"/>
            </a:pPr>
            <a:r>
              <a:rPr lang="en-US" sz="1300" dirty="0">
                <a:solidFill>
                  <a:schemeClr val="tx1"/>
                </a:solidFill>
              </a:rPr>
              <a:t>総合スコアと各評価点</a:t>
            </a:r>
            <a:endParaRPr lang="en-US" sz="1300" dirty="0"/>
          </a:p>
          <a:p>
            <a:pPr marL="177800" indent="-177800">
              <a:spcAft>
                <a:spcPts val="400"/>
              </a:spcAft>
              <a:buSzPct val="100000"/>
              <a:buChar char="•"/>
            </a:pPr>
            <a:r>
              <a:rPr lang="en-US" sz="1300" dirty="0">
                <a:solidFill>
                  <a:schemeClr val="tx1"/>
                </a:solidFill>
              </a:rPr>
              <a:t>評価ポイント・今後伸ばせる点</a:t>
            </a:r>
            <a:endParaRPr lang="en-US" sz="1300" dirty="0"/>
          </a:p>
        </p:txBody>
      </p:sp>
      <p:sp>
        <p:nvSpPr>
          <p:cNvPr id="11" name="Shape 9"/>
          <p:cNvSpPr/>
          <p:nvPr/>
        </p:nvSpPr>
        <p:spPr>
          <a:xfrm>
            <a:off x="4297680" y="1554480"/>
            <a:ext cx="3593592" cy="594360"/>
          </a:xfrm>
          <a:prstGeom prst="roundRect">
            <a:avLst>
              <a:gd name="adj" fmla="val 12308"/>
            </a:avLst>
          </a:prstGeom>
          <a:solidFill>
            <a:schemeClr val="accent4"/>
          </a:solidFill>
          <a:ln w="6350">
            <a:solidFill>
              <a:schemeClr val="accent4"/>
            </a:solidFill>
            <a:prstDash val="solid"/>
          </a:ln>
        </p:spPr>
      </p:sp>
      <p:sp>
        <p:nvSpPr>
          <p:cNvPr id="12" name="Text 10"/>
          <p:cNvSpPr txBox="1"/>
          <p:nvPr/>
        </p:nvSpPr>
        <p:spPr>
          <a:xfrm>
            <a:off x="4480560" y="1554480"/>
            <a:ext cx="3200400" cy="594360"/>
          </a:xfrm>
          <a:prstGeom prst="rect">
            <a:avLst/>
          </a:prstGeom>
          <a:noFill/>
          <a:ln/>
        </p:spPr>
        <p:txBody>
          <a:bodyPr wrap="square" lIns="0" tIns="0" rIns="0" bIns="0" rtlCol="0" anchor="ctr"/>
          <a:lstStyle/>
          <a:p>
            <a:pPr indent="0" marL="0">
              <a:buNone/>
            </a:pPr>
            <a:r>
              <a:rPr lang="en-US" sz="2000" b="1" dirty="0">
                <a:solidFill>
                  <a:schemeClr val="bg1"/>
                </a:solidFill>
              </a:rPr>
              <a:t>不合格</a:t>
            </a:r>
            <a:endParaRPr lang="en-US" sz="2000" dirty="0"/>
          </a:p>
        </p:txBody>
      </p:sp>
      <p:sp>
        <p:nvSpPr>
          <p:cNvPr id="13" name="Shape 11"/>
          <p:cNvSpPr/>
          <p:nvPr/>
        </p:nvSpPr>
        <p:spPr>
          <a:xfrm>
            <a:off x="4297680" y="2240280"/>
            <a:ext cx="3593592" cy="2606040"/>
          </a:xfrm>
          <a:prstGeom prst="roundRect">
            <a:avLst>
              <a:gd name="adj" fmla="val 2807"/>
            </a:avLst>
          </a:prstGeom>
          <a:solidFill>
            <a:schemeClr val="bg2"/>
          </a:solidFill>
          <a:ln w="6350">
            <a:solidFill>
              <a:schemeClr val="bg2"/>
            </a:solidFill>
            <a:prstDash val="solid"/>
          </a:ln>
        </p:spPr>
      </p:sp>
      <p:sp>
        <p:nvSpPr>
          <p:cNvPr id="14" name="Text 12"/>
          <p:cNvSpPr txBox="1"/>
          <p:nvPr/>
        </p:nvSpPr>
        <p:spPr>
          <a:xfrm>
            <a:off x="4480560" y="2359152"/>
            <a:ext cx="3200400" cy="256032"/>
          </a:xfrm>
          <a:prstGeom prst="rect">
            <a:avLst/>
          </a:prstGeom>
          <a:noFill/>
          <a:ln/>
        </p:spPr>
        <p:txBody>
          <a:bodyPr wrap="square" lIns="0" tIns="0" rIns="0" bIns="0" rtlCol="0" anchor="t"/>
          <a:lstStyle/>
          <a:p>
            <a:pPr indent="0" marL="0">
              <a:buNone/>
            </a:pPr>
            <a:r>
              <a:rPr lang="en-US" sz="1100" b="1" dirty="0">
                <a:solidFill>
                  <a:schemeClr val="accent5"/>
                </a:solidFill>
              </a:rPr>
              <a:t>条件</a:t>
            </a:r>
            <a:endParaRPr lang="en-US" sz="1100" dirty="0"/>
          </a:p>
        </p:txBody>
      </p:sp>
      <p:sp>
        <p:nvSpPr>
          <p:cNvPr id="15" name="Text 13"/>
          <p:cNvSpPr txBox="1"/>
          <p:nvPr/>
        </p:nvSpPr>
        <p:spPr>
          <a:xfrm>
            <a:off x="4480560" y="2615184"/>
            <a:ext cx="3246120" cy="777240"/>
          </a:xfrm>
          <a:prstGeom prst="rect">
            <a:avLst/>
          </a:prstGeom>
          <a:noFill/>
          <a:ln/>
        </p:spPr>
        <p:txBody>
          <a:bodyPr wrap="square" lIns="0" tIns="0" rIns="0" bIns="0" rtlCol="0" anchor="t"/>
          <a:lstStyle/>
          <a:p>
            <a:pPr indent="0" marL="0">
              <a:buNone/>
            </a:pPr>
            <a:r>
              <a:rPr lang="en-US" sz="1400" dirty="0">
                <a:solidFill>
                  <a:schemeClr val="tx1"/>
                </a:solidFill>
              </a:rPr>
              <a:t>必要な情報はそろっているが、Gate未達または加重平均2.0未満</a:t>
            </a:r>
            <a:endParaRPr lang="en-US" sz="1400" dirty="0"/>
          </a:p>
        </p:txBody>
      </p:sp>
      <p:sp>
        <p:nvSpPr>
          <p:cNvPr id="16" name="Text 14"/>
          <p:cNvSpPr txBox="1"/>
          <p:nvPr/>
        </p:nvSpPr>
        <p:spPr>
          <a:xfrm>
            <a:off x="4480560" y="3429000"/>
            <a:ext cx="3200400" cy="256032"/>
          </a:xfrm>
          <a:prstGeom prst="rect">
            <a:avLst/>
          </a:prstGeom>
          <a:noFill/>
          <a:ln/>
        </p:spPr>
        <p:txBody>
          <a:bodyPr wrap="square" lIns="0" tIns="0" rIns="0" bIns="0" rtlCol="0" anchor="t"/>
          <a:lstStyle/>
          <a:p>
            <a:pPr indent="0" marL="0">
              <a:buNone/>
            </a:pPr>
            <a:r>
              <a:rPr lang="en-US" sz="1100" b="1" dirty="0">
                <a:solidFill>
                  <a:schemeClr val="accent5"/>
                </a:solidFill>
              </a:rPr>
              <a:t>申請者に表示される内容</a:t>
            </a:r>
            <a:endParaRPr lang="en-US" sz="1100" dirty="0"/>
          </a:p>
        </p:txBody>
      </p:sp>
      <p:sp>
        <p:nvSpPr>
          <p:cNvPr id="17" name="Text 15"/>
          <p:cNvSpPr txBox="1"/>
          <p:nvPr/>
        </p:nvSpPr>
        <p:spPr>
          <a:xfrm>
            <a:off x="4480560" y="3703320"/>
            <a:ext cx="32461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未達のGate</a:t>
            </a:r>
            <a:endParaRPr lang="en-US" sz="1300" dirty="0"/>
          </a:p>
          <a:p>
            <a:pPr marL="177800" indent="-177800">
              <a:spcAft>
                <a:spcPts val="400"/>
              </a:spcAft>
              <a:buSzPct val="100000"/>
              <a:buChar char="•"/>
            </a:pPr>
            <a:r>
              <a:rPr lang="en-US" sz="1300" dirty="0">
                <a:solidFill>
                  <a:schemeClr val="tx1"/>
                </a:solidFill>
              </a:rPr>
              <a:t>各評価点と未達の理由</a:t>
            </a:r>
            <a:endParaRPr lang="en-US" sz="1300" dirty="0"/>
          </a:p>
          <a:p>
            <a:pPr marL="177800" indent="-177800">
              <a:spcAft>
                <a:spcPts val="400"/>
              </a:spcAft>
              <a:buSzPct val="100000"/>
              <a:buChar char="•"/>
            </a:pPr>
            <a:r>
              <a:rPr lang="en-US" sz="1300" dirty="0">
                <a:solidFill>
                  <a:schemeClr val="tx1"/>
                </a:solidFill>
              </a:rPr>
              <a:t>次回申請に向けた改善ポイント</a:t>
            </a:r>
            <a:endParaRPr lang="en-US" sz="1300" dirty="0"/>
          </a:p>
        </p:txBody>
      </p:sp>
      <p:sp>
        <p:nvSpPr>
          <p:cNvPr id="18" name="Shape 16"/>
          <p:cNvSpPr/>
          <p:nvPr/>
        </p:nvSpPr>
        <p:spPr>
          <a:xfrm>
            <a:off x="8046720" y="1554480"/>
            <a:ext cx="3593592" cy="594360"/>
          </a:xfrm>
          <a:prstGeom prst="roundRect">
            <a:avLst>
              <a:gd name="adj" fmla="val 12308"/>
            </a:avLst>
          </a:prstGeom>
          <a:solidFill>
            <a:schemeClr val="accent2"/>
          </a:solidFill>
          <a:ln w="6350">
            <a:solidFill>
              <a:schemeClr val="accent2"/>
            </a:solidFill>
            <a:prstDash val="solid"/>
          </a:ln>
        </p:spPr>
      </p:sp>
      <p:sp>
        <p:nvSpPr>
          <p:cNvPr id="19" name="Text 17"/>
          <p:cNvSpPr txBox="1"/>
          <p:nvPr/>
        </p:nvSpPr>
        <p:spPr>
          <a:xfrm>
            <a:off x="8229600" y="1554480"/>
            <a:ext cx="3200400" cy="594360"/>
          </a:xfrm>
          <a:prstGeom prst="rect">
            <a:avLst/>
          </a:prstGeom>
          <a:noFill/>
          <a:ln/>
        </p:spPr>
        <p:txBody>
          <a:bodyPr wrap="square" lIns="0" tIns="0" rIns="0" bIns="0" rtlCol="0" anchor="ctr"/>
          <a:lstStyle/>
          <a:p>
            <a:pPr indent="0" marL="0">
              <a:buNone/>
            </a:pPr>
            <a:r>
              <a:rPr lang="en-US" sz="2000" b="1" dirty="0">
                <a:solidFill>
                  <a:schemeClr val="bg1"/>
                </a:solidFill>
              </a:rPr>
              <a:t>情報不足・差し戻し</a:t>
            </a:r>
            <a:endParaRPr lang="en-US" sz="2000" dirty="0"/>
          </a:p>
        </p:txBody>
      </p:sp>
      <p:sp>
        <p:nvSpPr>
          <p:cNvPr id="20" name="Shape 18"/>
          <p:cNvSpPr/>
          <p:nvPr/>
        </p:nvSpPr>
        <p:spPr>
          <a:xfrm>
            <a:off x="8046720" y="2240280"/>
            <a:ext cx="3593592" cy="2606040"/>
          </a:xfrm>
          <a:prstGeom prst="roundRect">
            <a:avLst>
              <a:gd name="adj" fmla="val 2807"/>
            </a:avLst>
          </a:prstGeom>
          <a:solidFill>
            <a:schemeClr val="bg2"/>
          </a:solidFill>
          <a:ln w="6350">
            <a:solidFill>
              <a:schemeClr val="bg2"/>
            </a:solidFill>
            <a:prstDash val="solid"/>
          </a:ln>
        </p:spPr>
      </p:sp>
      <p:sp>
        <p:nvSpPr>
          <p:cNvPr id="21" name="Text 19"/>
          <p:cNvSpPr txBox="1"/>
          <p:nvPr/>
        </p:nvSpPr>
        <p:spPr>
          <a:xfrm>
            <a:off x="8229600" y="2359152"/>
            <a:ext cx="3200400" cy="256032"/>
          </a:xfrm>
          <a:prstGeom prst="rect">
            <a:avLst/>
          </a:prstGeom>
          <a:noFill/>
          <a:ln/>
        </p:spPr>
        <p:txBody>
          <a:bodyPr wrap="square" lIns="0" tIns="0" rIns="0" bIns="0" rtlCol="0" anchor="t"/>
          <a:lstStyle/>
          <a:p>
            <a:pPr indent="0" marL="0">
              <a:buNone/>
            </a:pPr>
            <a:r>
              <a:rPr lang="en-US" sz="1100" b="1" dirty="0">
                <a:solidFill>
                  <a:schemeClr val="accent5"/>
                </a:solidFill>
              </a:rPr>
              <a:t>条件</a:t>
            </a:r>
            <a:endParaRPr lang="en-US" sz="1100" dirty="0"/>
          </a:p>
        </p:txBody>
      </p:sp>
      <p:sp>
        <p:nvSpPr>
          <p:cNvPr id="22" name="Text 20"/>
          <p:cNvSpPr txBox="1"/>
          <p:nvPr/>
        </p:nvSpPr>
        <p:spPr>
          <a:xfrm>
            <a:off x="8229600" y="2615184"/>
            <a:ext cx="3246120" cy="777240"/>
          </a:xfrm>
          <a:prstGeom prst="rect">
            <a:avLst/>
          </a:prstGeom>
          <a:noFill/>
          <a:ln/>
        </p:spPr>
        <p:txBody>
          <a:bodyPr wrap="square" lIns="0" tIns="0" rIns="0" bIns="0" rtlCol="0" anchor="t"/>
          <a:lstStyle/>
          <a:p>
            <a:pPr indent="0" marL="0">
              <a:buNone/>
            </a:pPr>
            <a:r>
              <a:rPr lang="en-US" sz="1400" dirty="0">
                <a:solidFill>
                  <a:schemeClr val="tx1"/>
                </a:solidFill>
              </a:rPr>
              <a:t>基準を満たす可能性はあるが、判断材料が足りない（0点にはしない）</a:t>
            </a:r>
            <a:endParaRPr lang="en-US" sz="1400" dirty="0"/>
          </a:p>
        </p:txBody>
      </p:sp>
      <p:sp>
        <p:nvSpPr>
          <p:cNvPr id="23" name="Text 21"/>
          <p:cNvSpPr txBox="1"/>
          <p:nvPr/>
        </p:nvSpPr>
        <p:spPr>
          <a:xfrm>
            <a:off x="8229600" y="3429000"/>
            <a:ext cx="3200400" cy="256032"/>
          </a:xfrm>
          <a:prstGeom prst="rect">
            <a:avLst/>
          </a:prstGeom>
          <a:noFill/>
          <a:ln/>
        </p:spPr>
        <p:txBody>
          <a:bodyPr wrap="square" lIns="0" tIns="0" rIns="0" bIns="0" rtlCol="0" anchor="t"/>
          <a:lstStyle/>
          <a:p>
            <a:pPr indent="0" marL="0">
              <a:buNone/>
            </a:pPr>
            <a:r>
              <a:rPr lang="en-US" sz="1100" b="1" dirty="0">
                <a:solidFill>
                  <a:schemeClr val="accent5"/>
                </a:solidFill>
              </a:rPr>
              <a:t>申請者に表示される内容</a:t>
            </a:r>
            <a:endParaRPr lang="en-US" sz="1100" dirty="0"/>
          </a:p>
        </p:txBody>
      </p:sp>
      <p:sp>
        <p:nvSpPr>
          <p:cNvPr id="24" name="Text 22"/>
          <p:cNvSpPr txBox="1"/>
          <p:nvPr/>
        </p:nvSpPr>
        <p:spPr>
          <a:xfrm>
            <a:off x="8229600" y="3703320"/>
            <a:ext cx="32461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不足している項目</a:t>
            </a:r>
            <a:endParaRPr lang="en-US" sz="1300" dirty="0"/>
          </a:p>
          <a:p>
            <a:pPr marL="177800" indent="-177800">
              <a:spcAft>
                <a:spcPts val="400"/>
              </a:spcAft>
              <a:buSzPct val="100000"/>
              <a:buChar char="•"/>
            </a:pPr>
            <a:r>
              <a:rPr lang="en-US" sz="1300" dirty="0">
                <a:solidFill>
                  <a:schemeClr val="tx1"/>
                </a:solidFill>
              </a:rPr>
              <a:t>追加してほしい情報</a:t>
            </a:r>
            <a:endParaRPr lang="en-US" sz="1300" dirty="0"/>
          </a:p>
          <a:p>
            <a:pPr marL="177800" indent="-177800">
              <a:spcAft>
                <a:spcPts val="400"/>
              </a:spcAft>
              <a:buSzPct val="100000"/>
              <a:buChar char="•"/>
            </a:pPr>
            <a:r>
              <a:rPr lang="en-US" sz="1300" dirty="0">
                <a:solidFill>
                  <a:schemeClr val="tx1"/>
                </a:solidFill>
              </a:rPr>
              <a:t>修正画面への導線</a:t>
            </a:r>
            <a:endParaRPr lang="en-US" sz="1300" dirty="0"/>
          </a:p>
        </p:txBody>
      </p:sp>
      <p:sp>
        <p:nvSpPr>
          <p:cNvPr id="25" name="Shape 23"/>
          <p:cNvSpPr/>
          <p:nvPr/>
        </p:nvSpPr>
        <p:spPr>
          <a:xfrm>
            <a:off x="548640" y="5029200"/>
            <a:ext cx="11091672" cy="1051560"/>
          </a:xfrm>
          <a:prstGeom prst="roundRect">
            <a:avLst>
              <a:gd name="adj" fmla="val 6957"/>
            </a:avLst>
          </a:prstGeom>
          <a:solidFill>
            <a:schemeClr val="accent2">
              <a:alpha val="12000"/>
            </a:schemeClr>
          </a:solidFill>
          <a:ln w="9525">
            <a:solidFill>
              <a:schemeClr val="accent2">
                <a:alpha val="50000"/>
              </a:schemeClr>
            </a:solidFill>
            <a:prstDash val="solid"/>
          </a:ln>
        </p:spPr>
      </p:sp>
      <p:sp>
        <p:nvSpPr>
          <p:cNvPr id="26" name="Text 24"/>
          <p:cNvSpPr txBox="1"/>
          <p:nvPr/>
        </p:nvSpPr>
        <p:spPr>
          <a:xfrm>
            <a:off x="777240" y="5138928"/>
            <a:ext cx="2743200" cy="274320"/>
          </a:xfrm>
          <a:prstGeom prst="rect">
            <a:avLst/>
          </a:prstGeom>
          <a:noFill/>
          <a:ln/>
        </p:spPr>
        <p:txBody>
          <a:bodyPr wrap="square" lIns="0" tIns="0" rIns="0" bIns="0" rtlCol="0" anchor="t"/>
          <a:lstStyle/>
          <a:p>
            <a:pPr indent="0" marL="0">
              <a:buNone/>
            </a:pPr>
            <a:r>
              <a:rPr lang="en-US" sz="1400" b="1" dirty="0">
                <a:solidFill>
                  <a:schemeClr val="tx2"/>
                </a:solidFill>
              </a:rPr>
              <a:t>情報不足の例</a:t>
            </a:r>
            <a:endParaRPr lang="en-US" sz="1400" dirty="0"/>
          </a:p>
        </p:txBody>
      </p:sp>
      <p:sp>
        <p:nvSpPr>
          <p:cNvPr id="27" name="Text 25"/>
          <p:cNvSpPr txBox="1"/>
          <p:nvPr/>
        </p:nvSpPr>
        <p:spPr>
          <a:xfrm>
            <a:off x="777240" y="5440680"/>
            <a:ext cx="10698480" cy="594360"/>
          </a:xfrm>
          <a:prstGeom prst="rect">
            <a:avLst/>
          </a:prstGeom>
          <a:noFill/>
          <a:ln/>
        </p:spPr>
        <p:txBody>
          <a:bodyPr wrap="square" lIns="0" tIns="0" rIns="0" bIns="0" rtlCol="0" anchor="t"/>
          <a:lstStyle/>
          <a:p>
            <a:pPr indent="0" marL="0">
              <a:buNone/>
            </a:pPr>
            <a:r>
              <a:rPr lang="en-US" sz="1400" dirty="0">
                <a:solidFill>
                  <a:schemeClr val="tx1"/>
                </a:solidFill>
              </a:rPr>
              <a:t>「他部署でも利用」と書かれているが、どの部署で、何の業務に、実際に使ったのかが分からない → 不合格にはせず、情報を追加してもらうため差し戻す</a:t>
            </a:r>
            <a:endParaRPr lang="en-US" sz="1400" dirty="0"/>
          </a:p>
        </p:txBody>
      </p:sp>
      <p:sp>
        <p:nvSpPr>
          <p:cNvPr id="28" name="Text 26"/>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出典：01 §6／02 §10／03 §19・§24</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2　審査の仕組み</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判定はAIが中心で、Lv.4だけ人が最終確認する</a:t>
            </a:r>
            <a:endParaRPr lang="en-US" sz="2400" dirty="0"/>
          </a:p>
        </p:txBody>
      </p:sp>
      <p:sp>
        <p:nvSpPr>
          <p:cNvPr id="4" name="Text 2"/>
          <p:cNvSpPr txBox="1"/>
          <p:nvPr/>
        </p:nvSpPr>
        <p:spPr>
          <a:xfrm>
            <a:off x="548640" y="1463040"/>
            <a:ext cx="5486400" cy="320040"/>
          </a:xfrm>
          <a:prstGeom prst="rect">
            <a:avLst/>
          </a:prstGeom>
          <a:noFill/>
          <a:ln/>
        </p:spPr>
        <p:txBody>
          <a:bodyPr wrap="square" lIns="0" tIns="0" rIns="0" bIns="0" rtlCol="0" anchor="t"/>
          <a:lstStyle/>
          <a:p>
            <a:pPr indent="0" marL="0">
              <a:buNone/>
            </a:pPr>
            <a:r>
              <a:rPr lang="en-US" sz="1500" b="1" dirty="0">
                <a:solidFill>
                  <a:schemeClr val="tx2"/>
                </a:solidFill>
              </a:rPr>
              <a:t>レベル別の最終判定者</a:t>
            </a:r>
            <a:endParaRPr lang="en-US" sz="1500" dirty="0"/>
          </a:p>
        </p:txBody>
      </p:sp>
      <p:sp>
        <p:nvSpPr>
          <p:cNvPr id="5" name="Shape 3"/>
          <p:cNvSpPr/>
          <p:nvPr/>
        </p:nvSpPr>
        <p:spPr>
          <a:xfrm>
            <a:off x="548640" y="1828800"/>
            <a:ext cx="5486400" cy="868680"/>
          </a:xfrm>
          <a:prstGeom prst="roundRect">
            <a:avLst>
              <a:gd name="adj" fmla="val 8421"/>
            </a:avLst>
          </a:prstGeom>
          <a:solidFill>
            <a:schemeClr val="bg2"/>
          </a:solidFill>
          <a:ln w="6350">
            <a:solidFill>
              <a:schemeClr val="bg2"/>
            </a:solidFill>
            <a:prstDash val="solid"/>
          </a:ln>
        </p:spPr>
      </p:sp>
      <p:sp>
        <p:nvSpPr>
          <p:cNvPr id="6" name="Text 4"/>
          <p:cNvSpPr txBox="1"/>
          <p:nvPr/>
        </p:nvSpPr>
        <p:spPr>
          <a:xfrm>
            <a:off x="731520" y="1828800"/>
            <a:ext cx="1463040" cy="868680"/>
          </a:xfrm>
          <a:prstGeom prst="rect">
            <a:avLst/>
          </a:prstGeom>
          <a:noFill/>
          <a:ln/>
        </p:spPr>
        <p:txBody>
          <a:bodyPr wrap="square" lIns="0" tIns="0" rIns="0" bIns="0" rtlCol="0" anchor="ctr"/>
          <a:lstStyle/>
          <a:p>
            <a:pPr indent="0" marL="0">
              <a:buNone/>
            </a:pPr>
            <a:r>
              <a:rPr lang="en-US" sz="1600" b="1" dirty="0">
                <a:solidFill>
                  <a:schemeClr val="accent1"/>
                </a:solidFill>
              </a:rPr>
              <a:t>Lv.2・Lv.3</a:t>
            </a:r>
            <a:endParaRPr lang="en-US" sz="1600" dirty="0"/>
          </a:p>
        </p:txBody>
      </p:sp>
      <p:sp>
        <p:nvSpPr>
          <p:cNvPr id="7" name="Text 5"/>
          <p:cNvSpPr txBox="1"/>
          <p:nvPr/>
        </p:nvSpPr>
        <p:spPr>
          <a:xfrm>
            <a:off x="2194560" y="1828800"/>
            <a:ext cx="3703320" cy="868680"/>
          </a:xfrm>
          <a:prstGeom prst="rect">
            <a:avLst/>
          </a:prstGeom>
          <a:noFill/>
          <a:ln/>
        </p:spPr>
        <p:txBody>
          <a:bodyPr wrap="square" lIns="0" tIns="0" rIns="0" bIns="0" rtlCol="0" anchor="ctr"/>
          <a:lstStyle/>
          <a:p>
            <a:pPr indent="0" marL="0">
              <a:buNone/>
            </a:pPr>
            <a:r>
              <a:rPr lang="en-US" sz="1400" dirty="0">
                <a:solidFill>
                  <a:schemeClr val="tx1"/>
                </a:solidFill>
              </a:rPr>
              <a:t>AIの判定がそのまま審査結果になる（人の確認は原則なし）</a:t>
            </a:r>
            <a:endParaRPr lang="en-US" sz="1400" dirty="0"/>
          </a:p>
        </p:txBody>
      </p:sp>
      <p:sp>
        <p:nvSpPr>
          <p:cNvPr id="8" name="Shape 6"/>
          <p:cNvSpPr/>
          <p:nvPr/>
        </p:nvSpPr>
        <p:spPr>
          <a:xfrm>
            <a:off x="548640" y="2788920"/>
            <a:ext cx="5486400" cy="1828800"/>
          </a:xfrm>
          <a:prstGeom prst="roundRect">
            <a:avLst>
              <a:gd name="adj" fmla="val 4000"/>
            </a:avLst>
          </a:prstGeom>
          <a:solidFill>
            <a:schemeClr val="bg2"/>
          </a:solidFill>
          <a:ln w="6350">
            <a:solidFill>
              <a:schemeClr val="bg2"/>
            </a:solidFill>
            <a:prstDash val="solid"/>
          </a:ln>
        </p:spPr>
      </p:sp>
      <p:sp>
        <p:nvSpPr>
          <p:cNvPr id="9" name="Text 7"/>
          <p:cNvSpPr txBox="1"/>
          <p:nvPr/>
        </p:nvSpPr>
        <p:spPr>
          <a:xfrm>
            <a:off x="731520" y="2880360"/>
            <a:ext cx="1463040" cy="365760"/>
          </a:xfrm>
          <a:prstGeom prst="rect">
            <a:avLst/>
          </a:prstGeom>
          <a:noFill/>
          <a:ln/>
        </p:spPr>
        <p:txBody>
          <a:bodyPr wrap="square" lIns="0" tIns="0" rIns="0" bIns="0" rtlCol="0" anchor="t"/>
          <a:lstStyle/>
          <a:p>
            <a:pPr indent="0" marL="0">
              <a:buNone/>
            </a:pPr>
            <a:r>
              <a:rPr lang="en-US" sz="1600" b="1" dirty="0">
                <a:solidFill>
                  <a:schemeClr val="accent6"/>
                </a:solidFill>
              </a:rPr>
              <a:t>Lv.4</a:t>
            </a:r>
            <a:endParaRPr lang="en-US" sz="1600" dirty="0"/>
          </a:p>
        </p:txBody>
      </p:sp>
      <p:sp>
        <p:nvSpPr>
          <p:cNvPr id="10" name="Text 8"/>
          <p:cNvSpPr txBox="1"/>
          <p:nvPr/>
        </p:nvSpPr>
        <p:spPr>
          <a:xfrm>
            <a:off x="2194560" y="2880360"/>
            <a:ext cx="3703320" cy="365760"/>
          </a:xfrm>
          <a:prstGeom prst="rect">
            <a:avLst/>
          </a:prstGeom>
          <a:noFill/>
          <a:ln/>
        </p:spPr>
        <p:txBody>
          <a:bodyPr wrap="square" lIns="0" tIns="0" rIns="0" bIns="0" rtlCol="0" anchor="t"/>
          <a:lstStyle/>
          <a:p>
            <a:pPr indent="0" marL="0">
              <a:buNone/>
            </a:pPr>
            <a:r>
              <a:rPr lang="en-US" sz="1400" dirty="0">
                <a:solidFill>
                  <a:schemeClr val="tx1"/>
                </a:solidFill>
              </a:rPr>
              <a:t>AIの判定案を、人が最終確認して確定</a:t>
            </a:r>
            <a:endParaRPr lang="en-US" sz="1400" dirty="0"/>
          </a:p>
        </p:txBody>
      </p:sp>
      <p:sp>
        <p:nvSpPr>
          <p:cNvPr id="11" name="Text 9"/>
          <p:cNvSpPr txBox="1"/>
          <p:nvPr/>
        </p:nvSpPr>
        <p:spPr>
          <a:xfrm>
            <a:off x="731520" y="3291840"/>
            <a:ext cx="5166360" cy="12801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AIと同じ基準で確認し、独自の基準は足さない</a:t>
            </a:r>
            <a:endParaRPr lang="en-US" sz="1200" dirty="0"/>
          </a:p>
          <a:p>
            <a:pPr marL="177800" indent="-177800">
              <a:spcAft>
                <a:spcPts val="400"/>
              </a:spcAft>
              <a:buSzPct val="100000"/>
              <a:buChar char="•"/>
            </a:pPr>
            <a:r>
              <a:rPr lang="en-US" sz="1200" dirty="0">
                <a:solidFill>
                  <a:schemeClr val="tx1"/>
                </a:solidFill>
              </a:rPr>
              <a:t>判定を変えたときは理由を記録する</a:t>
            </a:r>
            <a:endParaRPr lang="en-US" sz="1200" dirty="0"/>
          </a:p>
          <a:p>
            <a:pPr marL="177800" indent="-177800">
              <a:spcAft>
                <a:spcPts val="400"/>
              </a:spcAft>
              <a:buSzPct val="100000"/>
              <a:buChar char="•"/>
            </a:pPr>
            <a:r>
              <a:rPr lang="en-US" sz="1200" dirty="0">
                <a:solidFill>
                  <a:schemeClr val="tx1"/>
                </a:solidFill>
              </a:rPr>
              <a:t>見る点：展開の実態、標準化・教育が形だけでないか、一定期間の定着、AI判定と記載のずれ</a:t>
            </a:r>
            <a:endParaRPr lang="en-US" sz="1200" dirty="0"/>
          </a:p>
        </p:txBody>
      </p:sp>
      <p:sp>
        <p:nvSpPr>
          <p:cNvPr id="12" name="Shape 10"/>
          <p:cNvSpPr/>
          <p:nvPr/>
        </p:nvSpPr>
        <p:spPr>
          <a:xfrm>
            <a:off x="548640" y="4709160"/>
            <a:ext cx="5486400" cy="1371600"/>
          </a:xfrm>
          <a:prstGeom prst="roundRect">
            <a:avLst>
              <a:gd name="adj" fmla="val 5333"/>
            </a:avLst>
          </a:prstGeom>
          <a:solidFill>
            <a:schemeClr val="accent5">
              <a:alpha val="15000"/>
            </a:schemeClr>
          </a:solidFill>
          <a:ln w="9525">
            <a:solidFill>
              <a:schemeClr val="accent5">
                <a:alpha val="50000"/>
              </a:schemeClr>
            </a:solidFill>
            <a:prstDash val="solid"/>
          </a:ln>
        </p:spPr>
      </p:sp>
      <p:sp>
        <p:nvSpPr>
          <p:cNvPr id="13" name="Text 11"/>
          <p:cNvSpPr txBox="1"/>
          <p:nvPr/>
        </p:nvSpPr>
        <p:spPr>
          <a:xfrm>
            <a:off x="731520" y="4800600"/>
            <a:ext cx="5120640" cy="274320"/>
          </a:xfrm>
          <a:prstGeom prst="rect">
            <a:avLst/>
          </a:prstGeom>
          <a:noFill/>
          <a:ln/>
        </p:spPr>
        <p:txBody>
          <a:bodyPr wrap="square" lIns="0" tIns="0" rIns="0" bIns="0" rtlCol="0" anchor="t"/>
          <a:lstStyle/>
          <a:p>
            <a:pPr indent="0" marL="0">
              <a:buNone/>
            </a:pPr>
            <a:r>
              <a:rPr lang="en-US" sz="1400" b="1" dirty="0">
                <a:solidFill>
                  <a:schemeClr val="tx2"/>
                </a:solidFill>
              </a:rPr>
              <a:t>システムとAIの役割分担</a:t>
            </a:r>
            <a:endParaRPr lang="en-US" sz="1400" dirty="0"/>
          </a:p>
        </p:txBody>
      </p:sp>
      <p:sp>
        <p:nvSpPr>
          <p:cNvPr id="14" name="Text 12"/>
          <p:cNvSpPr txBox="1"/>
          <p:nvPr/>
        </p:nvSpPr>
        <p:spPr>
          <a:xfrm>
            <a:off x="731520" y="5102352"/>
            <a:ext cx="5166360" cy="914400"/>
          </a:xfrm>
          <a:prstGeom prst="rect">
            <a:avLst/>
          </a:prstGeom>
          <a:noFill/>
          <a:ln/>
        </p:spPr>
        <p:txBody>
          <a:bodyPr wrap="square" lIns="0" tIns="0" rIns="0" bIns="0" rtlCol="0" anchor="t"/>
          <a:lstStyle/>
          <a:p>
            <a:pPr indent="0" marL="0">
              <a:buNone/>
            </a:pPr>
            <a:r>
              <a:rPr lang="en-US" sz="1200" b="1" dirty="0">
                <a:solidFill>
                  <a:schemeClr val="tx1"/>
                </a:solidFill>
              </a:rPr>
              <a:t>システム：</a:t>
            </a:r>
            <a:pPr indent="0" marL="0">
              <a:buNone/>
            </a:pPr>
            <a:r>
              <a:rPr lang="en-US" sz="1200" dirty="0">
                <a:solidFill>
                  <a:schemeClr val="tx1"/>
                </a:solidFill>
              </a:rPr>
              <a:t>申請資格の照合、必須・形式のチェック、選択式回答の矛盾検出、重み計算</a:t>
            </a:r>
            <a:endParaRPr lang="en-US" sz="1200" dirty="0"/>
          </a:p>
          <a:p>
            <a:pPr indent="0" marL="0">
              <a:buNone/>
            </a:pPr>
            <a:r>
              <a:rPr lang="en-US" sz="1200" b="1" dirty="0">
                <a:solidFill>
                  <a:schemeClr val="tx1"/>
                </a:solidFill>
              </a:rPr>
              <a:t>AI：</a:t>
            </a:r>
            <a:pPr indent="0" marL="0">
              <a:buNone/>
            </a:pPr>
            <a:r>
              <a:rPr lang="en-US" sz="1200" dirty="0">
                <a:solidFill>
                  <a:schemeClr val="tx1"/>
                </a:solidFill>
              </a:rPr>
              <a:t>自由記述の理解、Evidence整理、Gate・採点の判断、判定理由の作成</a:t>
            </a:r>
            <a:endParaRPr lang="en-US" sz="1200" dirty="0"/>
          </a:p>
        </p:txBody>
      </p:sp>
      <p:sp>
        <p:nvSpPr>
          <p:cNvPr id="15" name="Text 13"/>
          <p:cNvSpPr txBox="1"/>
          <p:nvPr/>
        </p:nvSpPr>
        <p:spPr>
          <a:xfrm>
            <a:off x="6309360" y="1463040"/>
            <a:ext cx="5303520" cy="320040"/>
          </a:xfrm>
          <a:prstGeom prst="rect">
            <a:avLst/>
          </a:prstGeom>
          <a:noFill/>
          <a:ln/>
        </p:spPr>
        <p:txBody>
          <a:bodyPr wrap="square" lIns="0" tIns="0" rIns="0" bIns="0" rtlCol="0" anchor="t"/>
          <a:lstStyle/>
          <a:p>
            <a:pPr indent="0" marL="0">
              <a:buNone/>
            </a:pPr>
            <a:r>
              <a:rPr lang="en-US" sz="1500" b="1" dirty="0">
                <a:solidFill>
                  <a:schemeClr val="tx2"/>
                </a:solidFill>
              </a:rPr>
              <a:t>AI審査の評価原則</a:t>
            </a:r>
            <a:endParaRPr lang="en-US" sz="1500" dirty="0"/>
          </a:p>
        </p:txBody>
      </p:sp>
      <p:sp>
        <p:nvSpPr>
          <p:cNvPr id="16" name="Shape 14"/>
          <p:cNvSpPr/>
          <p:nvPr/>
        </p:nvSpPr>
        <p:spPr>
          <a:xfrm>
            <a:off x="6309360" y="1828800"/>
            <a:ext cx="5330952" cy="1600200"/>
          </a:xfrm>
          <a:prstGeom prst="roundRect">
            <a:avLst>
              <a:gd name="adj" fmla="val 4571"/>
            </a:avLst>
          </a:prstGeom>
          <a:solidFill>
            <a:schemeClr val="accent1">
              <a:alpha val="10000"/>
            </a:schemeClr>
          </a:solidFill>
          <a:ln w="9525">
            <a:solidFill>
              <a:schemeClr val="accent1">
                <a:alpha val="50000"/>
              </a:schemeClr>
            </a:solidFill>
            <a:prstDash val="solid"/>
          </a:ln>
        </p:spPr>
      </p:sp>
      <p:sp>
        <p:nvSpPr>
          <p:cNvPr id="17" name="Text 15"/>
          <p:cNvSpPr txBox="1"/>
          <p:nvPr/>
        </p:nvSpPr>
        <p:spPr>
          <a:xfrm>
            <a:off x="6492240" y="1920240"/>
            <a:ext cx="4937760" cy="274320"/>
          </a:xfrm>
          <a:prstGeom prst="rect">
            <a:avLst/>
          </a:prstGeom>
          <a:noFill/>
          <a:ln/>
        </p:spPr>
        <p:txBody>
          <a:bodyPr wrap="square" lIns="0" tIns="0" rIns="0" bIns="0" rtlCol="0" anchor="t"/>
          <a:lstStyle/>
          <a:p>
            <a:pPr indent="0" marL="0">
              <a:buNone/>
            </a:pPr>
            <a:r>
              <a:rPr lang="en-US" sz="1400" b="1" dirty="0">
                <a:solidFill>
                  <a:schemeClr val="accent1"/>
                </a:solidFill>
              </a:rPr>
              <a:t>評価するもの</a:t>
            </a:r>
            <a:endParaRPr lang="en-US" sz="1400" dirty="0"/>
          </a:p>
        </p:txBody>
      </p:sp>
      <p:sp>
        <p:nvSpPr>
          <p:cNvPr id="18" name="Text 16"/>
          <p:cNvSpPr txBox="1"/>
          <p:nvPr/>
        </p:nvSpPr>
        <p:spPr>
          <a:xfrm>
            <a:off x="6492240" y="2240280"/>
            <a:ext cx="4983480" cy="1097280"/>
          </a:xfrm>
          <a:prstGeom prst="rect">
            <a:avLst/>
          </a:prstGeom>
          <a:noFill/>
          <a:ln/>
        </p:spPr>
        <p:txBody>
          <a:bodyPr wrap="square" lIns="0" tIns="0" rIns="0" bIns="0" rtlCol="0" anchor="t"/>
          <a:lstStyle/>
          <a:p>
            <a:pPr indent="0" marL="0">
              <a:buNone/>
            </a:pPr>
            <a:r>
              <a:rPr lang="en-US" sz="1400" dirty="0">
                <a:solidFill>
                  <a:schemeClr val="tx1"/>
                </a:solidFill>
              </a:rPr>
              <a:t>実利用、本人の関与、実際に出た成果、品質管理、安全対策、再利用性、他者による利用、展開範囲、標準化、定着状況</a:t>
            </a:r>
            <a:endParaRPr lang="en-US" sz="1400" dirty="0"/>
          </a:p>
        </p:txBody>
      </p:sp>
      <p:sp>
        <p:nvSpPr>
          <p:cNvPr id="19" name="Shape 17"/>
          <p:cNvSpPr/>
          <p:nvPr/>
        </p:nvSpPr>
        <p:spPr>
          <a:xfrm>
            <a:off x="6309360" y="3566160"/>
            <a:ext cx="5330952" cy="1600200"/>
          </a:xfrm>
          <a:prstGeom prst="roundRect">
            <a:avLst>
              <a:gd name="adj" fmla="val 4571"/>
            </a:avLst>
          </a:prstGeom>
          <a:solidFill>
            <a:schemeClr val="accent4">
              <a:alpha val="8000"/>
            </a:schemeClr>
          </a:solidFill>
          <a:ln w="9525">
            <a:solidFill>
              <a:schemeClr val="accent4">
                <a:alpha val="50000"/>
              </a:schemeClr>
            </a:solidFill>
            <a:prstDash val="solid"/>
          </a:ln>
        </p:spPr>
      </p:sp>
      <p:sp>
        <p:nvSpPr>
          <p:cNvPr id="20" name="Text 18"/>
          <p:cNvSpPr txBox="1"/>
          <p:nvPr/>
        </p:nvSpPr>
        <p:spPr>
          <a:xfrm>
            <a:off x="6492240" y="3657600"/>
            <a:ext cx="4937760" cy="274320"/>
          </a:xfrm>
          <a:prstGeom prst="rect">
            <a:avLst/>
          </a:prstGeom>
          <a:noFill/>
          <a:ln/>
        </p:spPr>
        <p:txBody>
          <a:bodyPr wrap="square" lIns="0" tIns="0" rIns="0" bIns="0" rtlCol="0" anchor="t"/>
          <a:lstStyle/>
          <a:p>
            <a:pPr indent="0" marL="0">
              <a:buNone/>
            </a:pPr>
            <a:r>
              <a:rPr lang="en-US" sz="1400" b="1" dirty="0">
                <a:solidFill>
                  <a:schemeClr val="accent4"/>
                </a:solidFill>
              </a:rPr>
              <a:t>評価しないもの（点数を上げる理由にしない）</a:t>
            </a:r>
            <a:endParaRPr lang="en-US" sz="1400" dirty="0"/>
          </a:p>
        </p:txBody>
      </p:sp>
      <p:sp>
        <p:nvSpPr>
          <p:cNvPr id="21" name="Text 19"/>
          <p:cNvSpPr txBox="1"/>
          <p:nvPr/>
        </p:nvSpPr>
        <p:spPr>
          <a:xfrm>
            <a:off x="6492240" y="3977640"/>
            <a:ext cx="4983480" cy="1097280"/>
          </a:xfrm>
          <a:prstGeom prst="rect">
            <a:avLst/>
          </a:prstGeom>
          <a:noFill/>
          <a:ln/>
        </p:spPr>
        <p:txBody>
          <a:bodyPr wrap="square" lIns="0" tIns="0" rIns="0" bIns="0" rtlCol="0" anchor="t"/>
          <a:lstStyle/>
          <a:p>
            <a:pPr indent="0" marL="0">
              <a:buNone/>
            </a:pPr>
            <a:r>
              <a:rPr lang="en-US" sz="1400" dirty="0">
                <a:solidFill>
                  <a:schemeClr val="tx1"/>
                </a:solidFill>
              </a:rPr>
              <a:t>文章の長さや上手さ、専門用語の多さ、AI製品のブランド、RAG・Agentなど技術の高度さ、役職、経験年数、案件の規模、人数</a:t>
            </a:r>
            <a:endParaRPr lang="en-US" sz="1400" dirty="0"/>
          </a:p>
        </p:txBody>
      </p:sp>
      <p:sp>
        <p:nvSpPr>
          <p:cNvPr id="22" name="Shape 20"/>
          <p:cNvSpPr/>
          <p:nvPr/>
        </p:nvSpPr>
        <p:spPr>
          <a:xfrm>
            <a:off x="6309360" y="5303520"/>
            <a:ext cx="5330952" cy="777240"/>
          </a:xfrm>
          <a:prstGeom prst="roundRect">
            <a:avLst>
              <a:gd name="adj" fmla="val 9412"/>
            </a:avLst>
          </a:prstGeom>
          <a:solidFill>
            <a:schemeClr val="tx2"/>
          </a:solidFill>
          <a:ln w="6350">
            <a:solidFill>
              <a:schemeClr val="tx2"/>
            </a:solidFill>
            <a:prstDash val="solid"/>
          </a:ln>
        </p:spPr>
      </p:sp>
      <p:sp>
        <p:nvSpPr>
          <p:cNvPr id="23" name="Text 21"/>
          <p:cNvSpPr txBox="1"/>
          <p:nvPr/>
        </p:nvSpPr>
        <p:spPr>
          <a:xfrm>
            <a:off x="6492240" y="5303520"/>
            <a:ext cx="4983480" cy="777240"/>
          </a:xfrm>
          <a:prstGeom prst="rect">
            <a:avLst/>
          </a:prstGeom>
          <a:noFill/>
          <a:ln/>
        </p:spPr>
        <p:txBody>
          <a:bodyPr wrap="square" lIns="0" tIns="0" rIns="0" bIns="0" rtlCol="0" anchor="ctr"/>
          <a:lstStyle/>
          <a:p>
            <a:pPr indent="0" marL="0">
              <a:buNone/>
            </a:pPr>
            <a:r>
              <a:rPr lang="en-US" sz="1400" b="1" dirty="0">
                <a:solidFill>
                  <a:schemeClr val="bg1"/>
                </a:solidFill>
              </a:rPr>
              <a:t>AIは書かれていない事実を推測しない。外部の情報も参照しない</a:t>
            </a:r>
            <a:endParaRPr lang="en-US" sz="1400" dirty="0"/>
          </a:p>
        </p:txBody>
      </p:sp>
      <p:sp>
        <p:nvSpPr>
          <p:cNvPr id="24" name="Text 22"/>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§8.4／01 §10・§13／02 §11／03「システムとAIの処理分担」</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3　申請フォーム</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フォームは全レベル共通。上のレベルほど質問が追加される</a:t>
            </a:r>
            <a:endParaRPr lang="en-US" sz="2400" dirty="0"/>
          </a:p>
        </p:txBody>
      </p:sp>
      <p:sp>
        <p:nvSpPr>
          <p:cNvPr id="4" name="Shape 2"/>
          <p:cNvSpPr/>
          <p:nvPr/>
        </p:nvSpPr>
        <p:spPr>
          <a:xfrm>
            <a:off x="548640" y="1508760"/>
            <a:ext cx="1490472" cy="914400"/>
          </a:xfrm>
          <a:prstGeom prst="roundRect">
            <a:avLst>
              <a:gd name="adj" fmla="val 8000"/>
            </a:avLst>
          </a:prstGeom>
          <a:solidFill>
            <a:schemeClr val="bg2"/>
          </a:solidFill>
          <a:ln w="6350">
            <a:solidFill>
              <a:schemeClr val="bg2"/>
            </a:solidFill>
            <a:prstDash val="solid"/>
          </a:ln>
        </p:spPr>
      </p:sp>
      <p:sp>
        <p:nvSpPr>
          <p:cNvPr id="5" name="Text 3"/>
          <p:cNvSpPr txBox="1"/>
          <p:nvPr/>
        </p:nvSpPr>
        <p:spPr>
          <a:xfrm>
            <a:off x="658368" y="1572768"/>
            <a:ext cx="1280160" cy="274320"/>
          </a:xfrm>
          <a:prstGeom prst="rect">
            <a:avLst/>
          </a:prstGeom>
          <a:noFill/>
          <a:ln/>
        </p:spPr>
        <p:txBody>
          <a:bodyPr wrap="square" lIns="0" tIns="0" rIns="0" bIns="0" rtlCol="0" anchor="t"/>
          <a:lstStyle/>
          <a:p>
            <a:pPr indent="0" marL="0">
              <a:buNone/>
            </a:pPr>
            <a:r>
              <a:rPr lang="en-US" sz="1300" b="1" dirty="0">
                <a:solidFill>
                  <a:schemeClr val="accent1"/>
                </a:solidFill>
              </a:rPr>
              <a:t>0</a:t>
            </a:r>
            <a:endParaRPr lang="en-US" sz="1300" dirty="0"/>
          </a:p>
        </p:txBody>
      </p:sp>
      <p:sp>
        <p:nvSpPr>
          <p:cNvPr id="6" name="Text 4"/>
          <p:cNvSpPr txBox="1"/>
          <p:nvPr/>
        </p:nvSpPr>
        <p:spPr>
          <a:xfrm>
            <a:off x="658368" y="1828800"/>
            <a:ext cx="1298448" cy="548640"/>
          </a:xfrm>
          <a:prstGeom prst="rect">
            <a:avLst/>
          </a:prstGeom>
          <a:noFill/>
          <a:ln/>
        </p:spPr>
        <p:txBody>
          <a:bodyPr wrap="square" lIns="0" tIns="0" rIns="0" bIns="0" rtlCol="0" anchor="t"/>
          <a:lstStyle/>
          <a:p>
            <a:pPr indent="0" marL="0">
              <a:buNone/>
            </a:pPr>
            <a:r>
              <a:rPr lang="en-US" sz="1300" b="1" dirty="0">
                <a:solidFill>
                  <a:schemeClr val="tx2"/>
                </a:solidFill>
              </a:rPr>
              <a:t>基本情報</a:t>
            </a:r>
            <a:endParaRPr lang="en-US" sz="1300" dirty="0"/>
          </a:p>
        </p:txBody>
      </p:sp>
      <p:sp>
        <p:nvSpPr>
          <p:cNvPr id="7" name="Shape 5"/>
          <p:cNvSpPr/>
          <p:nvPr/>
        </p:nvSpPr>
        <p:spPr>
          <a:xfrm>
            <a:off x="2148840" y="1508760"/>
            <a:ext cx="1490472" cy="914400"/>
          </a:xfrm>
          <a:prstGeom prst="roundRect">
            <a:avLst>
              <a:gd name="adj" fmla="val 8000"/>
            </a:avLst>
          </a:prstGeom>
          <a:solidFill>
            <a:schemeClr val="accent1"/>
          </a:solidFill>
          <a:ln w="6350">
            <a:solidFill>
              <a:schemeClr val="accent1"/>
            </a:solidFill>
            <a:prstDash val="solid"/>
          </a:ln>
        </p:spPr>
      </p:sp>
      <p:sp>
        <p:nvSpPr>
          <p:cNvPr id="8" name="Text 6"/>
          <p:cNvSpPr txBox="1"/>
          <p:nvPr/>
        </p:nvSpPr>
        <p:spPr>
          <a:xfrm>
            <a:off x="2258568" y="1572768"/>
            <a:ext cx="1280160" cy="274320"/>
          </a:xfrm>
          <a:prstGeom prst="rect">
            <a:avLst/>
          </a:prstGeom>
          <a:noFill/>
          <a:ln/>
        </p:spPr>
        <p:txBody>
          <a:bodyPr wrap="square" lIns="0" tIns="0" rIns="0" bIns="0" rtlCol="0" anchor="t"/>
          <a:lstStyle/>
          <a:p>
            <a:pPr indent="0" marL="0">
              <a:buNone/>
            </a:pPr>
            <a:r>
              <a:rPr lang="en-US" sz="1300" b="1" dirty="0">
                <a:solidFill>
                  <a:schemeClr val="bg2"/>
                </a:solidFill>
              </a:rPr>
              <a:t>1</a:t>
            </a:r>
            <a:endParaRPr lang="en-US" sz="1300" dirty="0"/>
          </a:p>
        </p:txBody>
      </p:sp>
      <p:sp>
        <p:nvSpPr>
          <p:cNvPr id="9" name="Text 7"/>
          <p:cNvSpPr txBox="1"/>
          <p:nvPr/>
        </p:nvSpPr>
        <p:spPr>
          <a:xfrm>
            <a:off x="2258568" y="1828800"/>
            <a:ext cx="1298448" cy="548640"/>
          </a:xfrm>
          <a:prstGeom prst="rect">
            <a:avLst/>
          </a:prstGeom>
          <a:noFill/>
          <a:ln/>
        </p:spPr>
        <p:txBody>
          <a:bodyPr wrap="square" lIns="0" tIns="0" rIns="0" bIns="0" rtlCol="0" anchor="t"/>
          <a:lstStyle/>
          <a:p>
            <a:pPr indent="0" marL="0">
              <a:buNone/>
            </a:pPr>
            <a:r>
              <a:rPr lang="en-US" sz="1300" b="1" dirty="0">
                <a:solidFill>
                  <a:schemeClr val="bg1"/>
                </a:solidFill>
              </a:rPr>
              <a:t>事例概要・課題</a:t>
            </a:r>
            <a:endParaRPr lang="en-US" sz="1300" dirty="0"/>
          </a:p>
        </p:txBody>
      </p:sp>
      <p:sp>
        <p:nvSpPr>
          <p:cNvPr id="10" name="Shape 8"/>
          <p:cNvSpPr/>
          <p:nvPr/>
        </p:nvSpPr>
        <p:spPr>
          <a:xfrm>
            <a:off x="3749040" y="1508760"/>
            <a:ext cx="1490472" cy="914400"/>
          </a:xfrm>
          <a:prstGeom prst="roundRect">
            <a:avLst>
              <a:gd name="adj" fmla="val 8000"/>
            </a:avLst>
          </a:prstGeom>
          <a:solidFill>
            <a:schemeClr val="accent1"/>
          </a:solidFill>
          <a:ln w="6350">
            <a:solidFill>
              <a:schemeClr val="accent1"/>
            </a:solidFill>
            <a:prstDash val="solid"/>
          </a:ln>
        </p:spPr>
      </p:sp>
      <p:sp>
        <p:nvSpPr>
          <p:cNvPr id="11" name="Text 9"/>
          <p:cNvSpPr txBox="1"/>
          <p:nvPr/>
        </p:nvSpPr>
        <p:spPr>
          <a:xfrm>
            <a:off x="3858768" y="1572768"/>
            <a:ext cx="1280160" cy="274320"/>
          </a:xfrm>
          <a:prstGeom prst="rect">
            <a:avLst/>
          </a:prstGeom>
          <a:noFill/>
          <a:ln/>
        </p:spPr>
        <p:txBody>
          <a:bodyPr wrap="square" lIns="0" tIns="0" rIns="0" bIns="0" rtlCol="0" anchor="t"/>
          <a:lstStyle/>
          <a:p>
            <a:pPr indent="0" marL="0">
              <a:buNone/>
            </a:pPr>
            <a:r>
              <a:rPr lang="en-US" sz="1300" b="1" dirty="0">
                <a:solidFill>
                  <a:schemeClr val="bg2"/>
                </a:solidFill>
              </a:rPr>
              <a:t>2</a:t>
            </a:r>
            <a:endParaRPr lang="en-US" sz="1300" dirty="0"/>
          </a:p>
        </p:txBody>
      </p:sp>
      <p:sp>
        <p:nvSpPr>
          <p:cNvPr id="12" name="Text 10"/>
          <p:cNvSpPr txBox="1"/>
          <p:nvPr/>
        </p:nvSpPr>
        <p:spPr>
          <a:xfrm>
            <a:off x="3858768" y="1828800"/>
            <a:ext cx="1298448" cy="548640"/>
          </a:xfrm>
          <a:prstGeom prst="rect">
            <a:avLst/>
          </a:prstGeom>
          <a:noFill/>
          <a:ln/>
        </p:spPr>
        <p:txBody>
          <a:bodyPr wrap="square" lIns="0" tIns="0" rIns="0" bIns="0" rtlCol="0" anchor="t"/>
          <a:lstStyle/>
          <a:p>
            <a:pPr indent="0" marL="0">
              <a:buNone/>
            </a:pPr>
            <a:r>
              <a:rPr lang="en-US" sz="1300" b="1" dirty="0">
                <a:solidFill>
                  <a:schemeClr val="bg1"/>
                </a:solidFill>
              </a:rPr>
              <a:t>AI活用・本人の役割</a:t>
            </a:r>
            <a:endParaRPr lang="en-US" sz="1300" dirty="0"/>
          </a:p>
        </p:txBody>
      </p:sp>
      <p:sp>
        <p:nvSpPr>
          <p:cNvPr id="13" name="Shape 11"/>
          <p:cNvSpPr/>
          <p:nvPr/>
        </p:nvSpPr>
        <p:spPr>
          <a:xfrm>
            <a:off x="5349240" y="1508760"/>
            <a:ext cx="1490472" cy="914400"/>
          </a:xfrm>
          <a:prstGeom prst="roundRect">
            <a:avLst>
              <a:gd name="adj" fmla="val 8000"/>
            </a:avLst>
          </a:prstGeom>
          <a:solidFill>
            <a:schemeClr val="accent1"/>
          </a:solidFill>
          <a:ln w="6350">
            <a:solidFill>
              <a:schemeClr val="accent1"/>
            </a:solidFill>
            <a:prstDash val="solid"/>
          </a:ln>
        </p:spPr>
      </p:sp>
      <p:sp>
        <p:nvSpPr>
          <p:cNvPr id="14" name="Text 12"/>
          <p:cNvSpPr txBox="1"/>
          <p:nvPr/>
        </p:nvSpPr>
        <p:spPr>
          <a:xfrm>
            <a:off x="5458968" y="1572768"/>
            <a:ext cx="1280160" cy="274320"/>
          </a:xfrm>
          <a:prstGeom prst="rect">
            <a:avLst/>
          </a:prstGeom>
          <a:noFill/>
          <a:ln/>
        </p:spPr>
        <p:txBody>
          <a:bodyPr wrap="square" lIns="0" tIns="0" rIns="0" bIns="0" rtlCol="0" anchor="t"/>
          <a:lstStyle/>
          <a:p>
            <a:pPr indent="0" marL="0">
              <a:buNone/>
            </a:pPr>
            <a:r>
              <a:rPr lang="en-US" sz="1300" b="1" dirty="0">
                <a:solidFill>
                  <a:schemeClr val="bg2"/>
                </a:solidFill>
              </a:rPr>
              <a:t>3</a:t>
            </a:r>
            <a:endParaRPr lang="en-US" sz="1300" dirty="0"/>
          </a:p>
        </p:txBody>
      </p:sp>
      <p:sp>
        <p:nvSpPr>
          <p:cNvPr id="15" name="Text 13"/>
          <p:cNvSpPr txBox="1"/>
          <p:nvPr/>
        </p:nvSpPr>
        <p:spPr>
          <a:xfrm>
            <a:off x="5458968" y="1828800"/>
            <a:ext cx="1298448" cy="548640"/>
          </a:xfrm>
          <a:prstGeom prst="rect">
            <a:avLst/>
          </a:prstGeom>
          <a:noFill/>
          <a:ln/>
        </p:spPr>
        <p:txBody>
          <a:bodyPr wrap="square" lIns="0" tIns="0" rIns="0" bIns="0" rtlCol="0" anchor="t"/>
          <a:lstStyle/>
          <a:p>
            <a:pPr indent="0" marL="0">
              <a:buNone/>
            </a:pPr>
            <a:r>
              <a:rPr lang="en-US" sz="1300" b="1" dirty="0">
                <a:solidFill>
                  <a:schemeClr val="bg1"/>
                </a:solidFill>
              </a:rPr>
              <a:t>成果</a:t>
            </a:r>
            <a:endParaRPr lang="en-US" sz="1300" dirty="0"/>
          </a:p>
        </p:txBody>
      </p:sp>
      <p:sp>
        <p:nvSpPr>
          <p:cNvPr id="16" name="Shape 14"/>
          <p:cNvSpPr/>
          <p:nvPr/>
        </p:nvSpPr>
        <p:spPr>
          <a:xfrm>
            <a:off x="6949440" y="1508760"/>
            <a:ext cx="1490472" cy="914400"/>
          </a:xfrm>
          <a:prstGeom prst="roundRect">
            <a:avLst>
              <a:gd name="adj" fmla="val 8000"/>
            </a:avLst>
          </a:prstGeom>
          <a:solidFill>
            <a:schemeClr val="accent1"/>
          </a:solidFill>
          <a:ln w="6350">
            <a:solidFill>
              <a:schemeClr val="accent1"/>
            </a:solidFill>
            <a:prstDash val="solid"/>
          </a:ln>
        </p:spPr>
      </p:sp>
      <p:sp>
        <p:nvSpPr>
          <p:cNvPr id="17" name="Text 15"/>
          <p:cNvSpPr txBox="1"/>
          <p:nvPr/>
        </p:nvSpPr>
        <p:spPr>
          <a:xfrm>
            <a:off x="7059168" y="1572768"/>
            <a:ext cx="1280160" cy="274320"/>
          </a:xfrm>
          <a:prstGeom prst="rect">
            <a:avLst/>
          </a:prstGeom>
          <a:noFill/>
          <a:ln/>
        </p:spPr>
        <p:txBody>
          <a:bodyPr wrap="square" lIns="0" tIns="0" rIns="0" bIns="0" rtlCol="0" anchor="t"/>
          <a:lstStyle/>
          <a:p>
            <a:pPr indent="0" marL="0">
              <a:buNone/>
            </a:pPr>
            <a:r>
              <a:rPr lang="en-US" sz="1300" b="1" dirty="0">
                <a:solidFill>
                  <a:schemeClr val="bg2"/>
                </a:solidFill>
              </a:rPr>
              <a:t>4</a:t>
            </a:r>
            <a:endParaRPr lang="en-US" sz="1300" dirty="0"/>
          </a:p>
        </p:txBody>
      </p:sp>
      <p:sp>
        <p:nvSpPr>
          <p:cNvPr id="18" name="Text 16"/>
          <p:cNvSpPr txBox="1"/>
          <p:nvPr/>
        </p:nvSpPr>
        <p:spPr>
          <a:xfrm>
            <a:off x="7059168" y="1828800"/>
            <a:ext cx="1298448" cy="548640"/>
          </a:xfrm>
          <a:prstGeom prst="rect">
            <a:avLst/>
          </a:prstGeom>
          <a:noFill/>
          <a:ln/>
        </p:spPr>
        <p:txBody>
          <a:bodyPr wrap="square" lIns="0" tIns="0" rIns="0" bIns="0" rtlCol="0" anchor="t"/>
          <a:lstStyle/>
          <a:p>
            <a:pPr indent="0" marL="0">
              <a:buNone/>
            </a:pPr>
            <a:r>
              <a:rPr lang="en-US" sz="1300" b="1" dirty="0">
                <a:solidFill>
                  <a:schemeClr val="bg1"/>
                </a:solidFill>
              </a:rPr>
              <a:t>利用・展開状況</a:t>
            </a:r>
            <a:endParaRPr lang="en-US" sz="1300" dirty="0"/>
          </a:p>
        </p:txBody>
      </p:sp>
      <p:sp>
        <p:nvSpPr>
          <p:cNvPr id="19" name="Shape 17"/>
          <p:cNvSpPr/>
          <p:nvPr/>
        </p:nvSpPr>
        <p:spPr>
          <a:xfrm>
            <a:off x="8549640" y="1508760"/>
            <a:ext cx="1490472" cy="914400"/>
          </a:xfrm>
          <a:prstGeom prst="roundRect">
            <a:avLst>
              <a:gd name="adj" fmla="val 8000"/>
            </a:avLst>
          </a:prstGeom>
          <a:solidFill>
            <a:schemeClr val="accent1"/>
          </a:solidFill>
          <a:ln w="6350">
            <a:solidFill>
              <a:schemeClr val="accent1"/>
            </a:solidFill>
            <a:prstDash val="solid"/>
          </a:ln>
        </p:spPr>
      </p:sp>
      <p:sp>
        <p:nvSpPr>
          <p:cNvPr id="20" name="Text 18"/>
          <p:cNvSpPr txBox="1"/>
          <p:nvPr/>
        </p:nvSpPr>
        <p:spPr>
          <a:xfrm>
            <a:off x="8659368" y="1572768"/>
            <a:ext cx="1280160" cy="274320"/>
          </a:xfrm>
          <a:prstGeom prst="rect">
            <a:avLst/>
          </a:prstGeom>
          <a:noFill/>
          <a:ln/>
        </p:spPr>
        <p:txBody>
          <a:bodyPr wrap="square" lIns="0" tIns="0" rIns="0" bIns="0" rtlCol="0" anchor="t"/>
          <a:lstStyle/>
          <a:p>
            <a:pPr indent="0" marL="0">
              <a:buNone/>
            </a:pPr>
            <a:r>
              <a:rPr lang="en-US" sz="1300" b="1" dirty="0">
                <a:solidFill>
                  <a:schemeClr val="bg2"/>
                </a:solidFill>
              </a:rPr>
              <a:t>5</a:t>
            </a:r>
            <a:endParaRPr lang="en-US" sz="1300" dirty="0"/>
          </a:p>
        </p:txBody>
      </p:sp>
      <p:sp>
        <p:nvSpPr>
          <p:cNvPr id="21" name="Text 19"/>
          <p:cNvSpPr txBox="1"/>
          <p:nvPr/>
        </p:nvSpPr>
        <p:spPr>
          <a:xfrm>
            <a:off x="8659368" y="1828800"/>
            <a:ext cx="1298448" cy="548640"/>
          </a:xfrm>
          <a:prstGeom prst="rect">
            <a:avLst/>
          </a:prstGeom>
          <a:noFill/>
          <a:ln/>
        </p:spPr>
        <p:txBody>
          <a:bodyPr wrap="square" lIns="0" tIns="0" rIns="0" bIns="0" rtlCol="0" anchor="t"/>
          <a:lstStyle/>
          <a:p>
            <a:pPr indent="0" marL="0">
              <a:buNone/>
            </a:pPr>
            <a:r>
              <a:rPr lang="en-US" sz="1300" b="1" dirty="0">
                <a:solidFill>
                  <a:schemeClr val="bg1"/>
                </a:solidFill>
              </a:rPr>
              <a:t>品質・安全対策</a:t>
            </a:r>
            <a:endParaRPr lang="en-US" sz="1300" dirty="0"/>
          </a:p>
        </p:txBody>
      </p:sp>
      <p:sp>
        <p:nvSpPr>
          <p:cNvPr id="22" name="Shape 20"/>
          <p:cNvSpPr/>
          <p:nvPr/>
        </p:nvSpPr>
        <p:spPr>
          <a:xfrm>
            <a:off x="10149840" y="1508760"/>
            <a:ext cx="1490472" cy="914400"/>
          </a:xfrm>
          <a:prstGeom prst="roundRect">
            <a:avLst>
              <a:gd name="adj" fmla="val 8000"/>
            </a:avLst>
          </a:prstGeom>
          <a:solidFill>
            <a:schemeClr val="bg2"/>
          </a:solidFill>
          <a:ln w="6350">
            <a:solidFill>
              <a:schemeClr val="bg2"/>
            </a:solidFill>
            <a:prstDash val="solid"/>
          </a:ln>
        </p:spPr>
      </p:sp>
      <p:sp>
        <p:nvSpPr>
          <p:cNvPr id="23" name="Text 21"/>
          <p:cNvSpPr txBox="1"/>
          <p:nvPr/>
        </p:nvSpPr>
        <p:spPr>
          <a:xfrm>
            <a:off x="10259568" y="1572768"/>
            <a:ext cx="1280160" cy="274320"/>
          </a:xfrm>
          <a:prstGeom prst="rect">
            <a:avLst/>
          </a:prstGeom>
          <a:noFill/>
          <a:ln/>
        </p:spPr>
        <p:txBody>
          <a:bodyPr wrap="square" lIns="0" tIns="0" rIns="0" bIns="0" rtlCol="0" anchor="t"/>
          <a:lstStyle/>
          <a:p>
            <a:pPr indent="0" marL="0">
              <a:buNone/>
            </a:pPr>
            <a:r>
              <a:rPr lang="en-US" sz="1300" b="1" dirty="0">
                <a:solidFill>
                  <a:schemeClr val="accent1"/>
                </a:solidFill>
              </a:rPr>
              <a:t>6</a:t>
            </a:r>
            <a:endParaRPr lang="en-US" sz="1300" dirty="0"/>
          </a:p>
        </p:txBody>
      </p:sp>
      <p:sp>
        <p:nvSpPr>
          <p:cNvPr id="24" name="Text 22"/>
          <p:cNvSpPr txBox="1"/>
          <p:nvPr/>
        </p:nvSpPr>
        <p:spPr>
          <a:xfrm>
            <a:off x="10259568" y="1828800"/>
            <a:ext cx="1298448" cy="548640"/>
          </a:xfrm>
          <a:prstGeom prst="rect">
            <a:avLst/>
          </a:prstGeom>
          <a:noFill/>
          <a:ln/>
        </p:spPr>
        <p:txBody>
          <a:bodyPr wrap="square" lIns="0" tIns="0" rIns="0" bIns="0" rtlCol="0" anchor="t"/>
          <a:lstStyle/>
          <a:p>
            <a:pPr indent="0" marL="0">
              <a:buNone/>
            </a:pPr>
            <a:r>
              <a:rPr lang="en-US" sz="1300" b="1" dirty="0">
                <a:solidFill>
                  <a:schemeClr val="tx2"/>
                </a:solidFill>
              </a:rPr>
              <a:t>公開確認</a:t>
            </a:r>
            <a:endParaRPr lang="en-US" sz="1300" dirty="0"/>
          </a:p>
        </p:txBody>
      </p:sp>
      <p:sp>
        <p:nvSpPr>
          <p:cNvPr id="25" name="Text 23"/>
          <p:cNvSpPr txBox="1"/>
          <p:nvPr/>
        </p:nvSpPr>
        <p:spPr>
          <a:xfrm>
            <a:off x="548640" y="2487168"/>
            <a:ext cx="10972800" cy="256032"/>
          </a:xfrm>
          <a:prstGeom prst="rect">
            <a:avLst/>
          </a:prstGeom>
          <a:noFill/>
          <a:ln/>
        </p:spPr>
        <p:txBody>
          <a:bodyPr wrap="square" lIns="0" tIns="0" rIns="0" bIns="0" rtlCol="0" anchor="t"/>
          <a:lstStyle/>
          <a:p>
            <a:pPr indent="0" marL="0">
              <a:buNone/>
            </a:pPr>
            <a:r>
              <a:rPr lang="en-US" sz="1100" dirty="0">
                <a:solidFill>
                  <a:schemeClr val="accent5"/>
                </a:solidFill>
              </a:rPr>
              <a:t>濃い色の1〜5は確定案のテンプレート5項目。0と6は設計で追加したセクション</a:t>
            </a:r>
            <a:endParaRPr lang="en-US" sz="1100" dirty="0"/>
          </a:p>
        </p:txBody>
      </p:sp>
      <p:sp>
        <p:nvSpPr>
          <p:cNvPr id="26" name="Shape 24"/>
          <p:cNvSpPr/>
          <p:nvPr/>
        </p:nvSpPr>
        <p:spPr>
          <a:xfrm>
            <a:off x="548640" y="2834640"/>
            <a:ext cx="3593592" cy="685800"/>
          </a:xfrm>
          <a:prstGeom prst="roundRect">
            <a:avLst>
              <a:gd name="adj" fmla="val 10667"/>
            </a:avLst>
          </a:prstGeom>
          <a:solidFill>
            <a:schemeClr val="accent3"/>
          </a:solidFill>
          <a:ln w="6350">
            <a:solidFill>
              <a:schemeClr val="accent3"/>
            </a:solidFill>
            <a:prstDash val="solid"/>
          </a:ln>
        </p:spPr>
      </p:sp>
      <p:sp>
        <p:nvSpPr>
          <p:cNvPr id="27" name="Text 25"/>
          <p:cNvSpPr txBox="1"/>
          <p:nvPr/>
        </p:nvSpPr>
        <p:spPr>
          <a:xfrm>
            <a:off x="731520" y="2862072"/>
            <a:ext cx="3291840" cy="347472"/>
          </a:xfrm>
          <a:prstGeom prst="rect">
            <a:avLst/>
          </a:prstGeom>
          <a:noFill/>
          <a:ln/>
        </p:spPr>
        <p:txBody>
          <a:bodyPr wrap="square" lIns="0" tIns="0" rIns="0" bIns="0" rtlCol="0" anchor="t"/>
          <a:lstStyle/>
          <a:p>
            <a:pPr indent="0" marL="0">
              <a:buNone/>
            </a:pPr>
            <a:r>
              <a:rPr lang="en-US" sz="1500" b="1" dirty="0">
                <a:solidFill>
                  <a:schemeClr val="bg1"/>
                </a:solidFill>
              </a:rPr>
              <a:t>Lv.2（共通）</a:t>
            </a:r>
            <a:endParaRPr lang="en-US" sz="1500" dirty="0"/>
          </a:p>
        </p:txBody>
      </p:sp>
      <p:sp>
        <p:nvSpPr>
          <p:cNvPr id="28" name="Text 26"/>
          <p:cNvSpPr txBox="1"/>
          <p:nvPr/>
        </p:nvSpPr>
        <p:spPr>
          <a:xfrm>
            <a:off x="731520" y="3182112"/>
            <a:ext cx="3291840" cy="274320"/>
          </a:xfrm>
          <a:prstGeom prst="rect">
            <a:avLst/>
          </a:prstGeom>
          <a:noFill/>
          <a:ln/>
        </p:spPr>
        <p:txBody>
          <a:bodyPr wrap="square" lIns="0" tIns="0" rIns="0" bIns="0" rtlCol="0" anchor="t"/>
          <a:lstStyle/>
          <a:p>
            <a:pPr indent="0" marL="0">
              <a:buNone/>
            </a:pPr>
            <a:r>
              <a:rPr lang="en-US" sz="1100" dirty="0">
                <a:solidFill>
                  <a:schemeClr val="bg2"/>
                </a:solidFill>
              </a:rPr>
              <a:t>約26問・入力15〜20分</a:t>
            </a:r>
            <a:endParaRPr lang="en-US" sz="1100" dirty="0"/>
          </a:p>
        </p:txBody>
      </p:sp>
      <p:sp>
        <p:nvSpPr>
          <p:cNvPr id="29" name="Shape 27"/>
          <p:cNvSpPr/>
          <p:nvPr/>
        </p:nvSpPr>
        <p:spPr>
          <a:xfrm>
            <a:off x="548640" y="3584448"/>
            <a:ext cx="3593592" cy="1783080"/>
          </a:xfrm>
          <a:prstGeom prst="roundRect">
            <a:avLst>
              <a:gd name="adj" fmla="val 4103"/>
            </a:avLst>
          </a:prstGeom>
          <a:solidFill>
            <a:schemeClr val="bg2"/>
          </a:solidFill>
          <a:ln w="6350">
            <a:solidFill>
              <a:schemeClr val="bg2"/>
            </a:solidFill>
            <a:prstDash val="solid"/>
          </a:ln>
        </p:spPr>
      </p:sp>
      <p:sp>
        <p:nvSpPr>
          <p:cNvPr id="30" name="Text 28"/>
          <p:cNvSpPr txBox="1"/>
          <p:nvPr/>
        </p:nvSpPr>
        <p:spPr>
          <a:xfrm>
            <a:off x="685800" y="3657600"/>
            <a:ext cx="3383280" cy="1664208"/>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rPr>
              <a:t>基本情報・利用状況</a:t>
            </a:r>
            <a:endParaRPr lang="en-US" sz="1200" dirty="0"/>
          </a:p>
          <a:p>
            <a:pPr marL="177800" indent="-177800">
              <a:spcAft>
                <a:spcPts val="200"/>
              </a:spcAft>
              <a:buSzPct val="100000"/>
              <a:buChar char="•"/>
            </a:pPr>
            <a:r>
              <a:rPr lang="en-US" sz="1200" dirty="0">
                <a:solidFill>
                  <a:schemeClr val="tx1"/>
                </a:solidFill>
              </a:rPr>
              <a:t>課題と目的</a:t>
            </a:r>
            <a:endParaRPr lang="en-US" sz="1200" dirty="0"/>
          </a:p>
          <a:p>
            <a:pPr marL="177800" indent="-177800">
              <a:spcAft>
                <a:spcPts val="200"/>
              </a:spcAft>
              <a:buSzPct val="100000"/>
              <a:buChar char="•"/>
            </a:pPr>
            <a:r>
              <a:rPr lang="en-US" sz="1200" dirty="0">
                <a:solidFill>
                  <a:schemeClr val="tx1"/>
                </a:solidFill>
              </a:rPr>
              <a:t>AIの使い方と本人の担当</a:t>
            </a:r>
            <a:endParaRPr lang="en-US" sz="1200" dirty="0"/>
          </a:p>
          <a:p>
            <a:pPr marL="177800" indent="-177800">
              <a:spcAft>
                <a:spcPts val="200"/>
              </a:spcAft>
              <a:buSzPct val="100000"/>
              <a:buChar char="•"/>
            </a:pPr>
            <a:r>
              <a:rPr lang="en-US" sz="1200" dirty="0">
                <a:solidFill>
                  <a:schemeClr val="tx1"/>
                </a:solidFill>
              </a:rPr>
              <a:t>成果（定量・定性）と確認期間</a:t>
            </a:r>
            <a:endParaRPr lang="en-US" sz="1200" dirty="0"/>
          </a:p>
          <a:p>
            <a:pPr marL="177800" indent="-177800">
              <a:spcAft>
                <a:spcPts val="200"/>
              </a:spcAft>
              <a:buSzPct val="100000"/>
              <a:buChar char="•"/>
            </a:pPr>
            <a:r>
              <a:rPr lang="en-US" sz="1200" dirty="0">
                <a:solidFill>
                  <a:schemeClr val="tx1"/>
                </a:solidFill>
              </a:rPr>
              <a:t>本人による再利用の形</a:t>
            </a:r>
            <a:endParaRPr lang="en-US" sz="1200" dirty="0"/>
          </a:p>
          <a:p>
            <a:pPr marL="177800" indent="-177800">
              <a:spcAft>
                <a:spcPts val="200"/>
              </a:spcAft>
              <a:buSzPct val="100000"/>
              <a:buChar char="•"/>
            </a:pPr>
            <a:r>
              <a:rPr lang="en-US" sz="1200" dirty="0">
                <a:solidFill>
                  <a:schemeClr val="tx1"/>
                </a:solidFill>
              </a:rPr>
              <a:t>出力確認・情報管理</a:t>
            </a:r>
            <a:endParaRPr lang="en-US" sz="1200" dirty="0"/>
          </a:p>
        </p:txBody>
      </p:sp>
      <p:sp>
        <p:nvSpPr>
          <p:cNvPr id="31" name="Shape 29"/>
          <p:cNvSpPr/>
          <p:nvPr/>
        </p:nvSpPr>
        <p:spPr>
          <a:xfrm>
            <a:off x="4297680" y="2834640"/>
            <a:ext cx="3593592" cy="685800"/>
          </a:xfrm>
          <a:prstGeom prst="roundRect">
            <a:avLst>
              <a:gd name="adj" fmla="val 10667"/>
            </a:avLst>
          </a:prstGeom>
          <a:solidFill>
            <a:schemeClr val="accent1"/>
          </a:solidFill>
          <a:ln w="6350">
            <a:solidFill>
              <a:schemeClr val="accent1"/>
            </a:solidFill>
            <a:prstDash val="solid"/>
          </a:ln>
        </p:spPr>
      </p:sp>
      <p:sp>
        <p:nvSpPr>
          <p:cNvPr id="32" name="Text 30"/>
          <p:cNvSpPr txBox="1"/>
          <p:nvPr/>
        </p:nvSpPr>
        <p:spPr>
          <a:xfrm>
            <a:off x="4480560" y="2862072"/>
            <a:ext cx="3291840" cy="347472"/>
          </a:xfrm>
          <a:prstGeom prst="rect">
            <a:avLst/>
          </a:prstGeom>
          <a:noFill/>
          <a:ln/>
        </p:spPr>
        <p:txBody>
          <a:bodyPr wrap="square" lIns="0" tIns="0" rIns="0" bIns="0" rtlCol="0" anchor="t"/>
          <a:lstStyle/>
          <a:p>
            <a:pPr indent="0" marL="0">
              <a:buNone/>
            </a:pPr>
            <a:r>
              <a:rPr lang="en-US" sz="1500" b="1" dirty="0">
                <a:solidFill>
                  <a:schemeClr val="bg1"/>
                </a:solidFill>
              </a:rPr>
              <a:t>Lv.3で追加</a:t>
            </a:r>
            <a:endParaRPr lang="en-US" sz="1500" dirty="0"/>
          </a:p>
        </p:txBody>
      </p:sp>
      <p:sp>
        <p:nvSpPr>
          <p:cNvPr id="33" name="Text 31"/>
          <p:cNvSpPr txBox="1"/>
          <p:nvPr/>
        </p:nvSpPr>
        <p:spPr>
          <a:xfrm>
            <a:off x="4480560" y="3182112"/>
            <a:ext cx="3291840" cy="274320"/>
          </a:xfrm>
          <a:prstGeom prst="rect">
            <a:avLst/>
          </a:prstGeom>
          <a:noFill/>
          <a:ln/>
        </p:spPr>
        <p:txBody>
          <a:bodyPr wrap="square" lIns="0" tIns="0" rIns="0" bIns="0" rtlCol="0" anchor="t"/>
          <a:lstStyle/>
          <a:p>
            <a:pPr indent="0" marL="0">
              <a:buNone/>
            </a:pPr>
            <a:r>
              <a:rPr lang="en-US" sz="1100" dirty="0">
                <a:solidFill>
                  <a:schemeClr val="bg2"/>
                </a:solidFill>
              </a:rPr>
              <a:t>＋約9問・入力20〜30分</a:t>
            </a:r>
            <a:endParaRPr lang="en-US" sz="1100" dirty="0"/>
          </a:p>
        </p:txBody>
      </p:sp>
      <p:sp>
        <p:nvSpPr>
          <p:cNvPr id="34" name="Shape 32"/>
          <p:cNvSpPr/>
          <p:nvPr/>
        </p:nvSpPr>
        <p:spPr>
          <a:xfrm>
            <a:off x="4297680" y="3584448"/>
            <a:ext cx="3593592" cy="1783080"/>
          </a:xfrm>
          <a:prstGeom prst="roundRect">
            <a:avLst>
              <a:gd name="adj" fmla="val 4103"/>
            </a:avLst>
          </a:prstGeom>
          <a:solidFill>
            <a:schemeClr val="bg2"/>
          </a:solidFill>
          <a:ln w="6350">
            <a:solidFill>
              <a:schemeClr val="bg2"/>
            </a:solidFill>
            <a:prstDash val="solid"/>
          </a:ln>
        </p:spPr>
      </p:sp>
      <p:sp>
        <p:nvSpPr>
          <p:cNvPr id="35" name="Text 33"/>
          <p:cNvSpPr txBox="1"/>
          <p:nvPr/>
        </p:nvSpPr>
        <p:spPr>
          <a:xfrm>
            <a:off x="4434840" y="3657600"/>
            <a:ext cx="3383280" cy="1664208"/>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rPr>
              <a:t>本人以外の利用者と人数</a:t>
            </a:r>
            <a:endParaRPr lang="en-US" sz="1200" dirty="0"/>
          </a:p>
          <a:p>
            <a:pPr marL="177800" indent="-177800">
              <a:spcAft>
                <a:spcPts val="200"/>
              </a:spcAft>
              <a:buSzPct val="100000"/>
              <a:buChar char="•"/>
            </a:pPr>
            <a:r>
              <a:rPr lang="en-US" sz="1200" dirty="0">
                <a:solidFill>
                  <a:schemeClr val="tx1"/>
                </a:solidFill>
              </a:rPr>
              <a:t>利用されている単位</a:t>
            </a:r>
            <a:endParaRPr lang="en-US" sz="1200" dirty="0"/>
          </a:p>
          <a:p>
            <a:pPr marL="177800" indent="-177800">
              <a:spcAft>
                <a:spcPts val="200"/>
              </a:spcAft>
              <a:buSzPct val="100000"/>
              <a:buChar char="•"/>
            </a:pPr>
            <a:r>
              <a:rPr lang="en-US" sz="1200" dirty="0">
                <a:solidFill>
                  <a:schemeClr val="tx1"/>
                </a:solidFill>
              </a:rPr>
              <a:t>他者が再利用する方法と利用状況</a:t>
            </a:r>
            <a:endParaRPr lang="en-US" sz="1200" dirty="0"/>
          </a:p>
          <a:p>
            <a:pPr marL="177800" indent="-177800">
              <a:spcAft>
                <a:spcPts val="200"/>
              </a:spcAft>
              <a:buSzPct val="100000"/>
              <a:buChar char="•"/>
            </a:pPr>
            <a:r>
              <a:rPr lang="en-US" sz="1200" dirty="0">
                <a:solidFill>
                  <a:schemeClr val="tx1"/>
                </a:solidFill>
              </a:rPr>
              <a:t>所属単位での位置付け</a:t>
            </a:r>
            <a:endParaRPr lang="en-US" sz="1200" dirty="0"/>
          </a:p>
          <a:p>
            <a:pPr marL="177800" indent="-177800">
              <a:spcAft>
                <a:spcPts val="200"/>
              </a:spcAft>
              <a:buSzPct val="100000"/>
              <a:buChar char="•"/>
            </a:pPr>
            <a:r>
              <a:rPr lang="en-US" sz="1200" dirty="0">
                <a:solidFill>
                  <a:schemeClr val="tx1"/>
                </a:solidFill>
              </a:rPr>
              <a:t>フィードバックと改善</a:t>
            </a:r>
            <a:endParaRPr lang="en-US" sz="1200" dirty="0"/>
          </a:p>
          <a:p>
            <a:pPr marL="177800" indent="-177800">
              <a:spcAft>
                <a:spcPts val="200"/>
              </a:spcAft>
              <a:buSzPct val="100000"/>
              <a:buChar char="•"/>
            </a:pPr>
            <a:r>
              <a:rPr lang="en-US" sz="1200" dirty="0">
                <a:solidFill>
                  <a:schemeClr val="tx1"/>
                </a:solidFill>
              </a:rPr>
              <a:t>他者向けの品質確認方法</a:t>
            </a:r>
            <a:endParaRPr lang="en-US" sz="1200" dirty="0"/>
          </a:p>
        </p:txBody>
      </p:sp>
      <p:sp>
        <p:nvSpPr>
          <p:cNvPr id="36" name="Shape 34"/>
          <p:cNvSpPr/>
          <p:nvPr/>
        </p:nvSpPr>
        <p:spPr>
          <a:xfrm>
            <a:off x="8046720" y="2834640"/>
            <a:ext cx="3593592" cy="685800"/>
          </a:xfrm>
          <a:prstGeom prst="roundRect">
            <a:avLst>
              <a:gd name="adj" fmla="val 10667"/>
            </a:avLst>
          </a:prstGeom>
          <a:solidFill>
            <a:schemeClr val="tx2"/>
          </a:solidFill>
          <a:ln w="6350">
            <a:solidFill>
              <a:schemeClr val="tx2"/>
            </a:solidFill>
            <a:prstDash val="solid"/>
          </a:ln>
        </p:spPr>
      </p:sp>
      <p:sp>
        <p:nvSpPr>
          <p:cNvPr id="37" name="Text 35"/>
          <p:cNvSpPr txBox="1"/>
          <p:nvPr/>
        </p:nvSpPr>
        <p:spPr>
          <a:xfrm>
            <a:off x="8229600" y="2862072"/>
            <a:ext cx="3291840" cy="347472"/>
          </a:xfrm>
          <a:prstGeom prst="rect">
            <a:avLst/>
          </a:prstGeom>
          <a:noFill/>
          <a:ln/>
        </p:spPr>
        <p:txBody>
          <a:bodyPr wrap="square" lIns="0" tIns="0" rIns="0" bIns="0" rtlCol="0" anchor="t"/>
          <a:lstStyle/>
          <a:p>
            <a:pPr indent="0" marL="0">
              <a:buNone/>
            </a:pPr>
            <a:r>
              <a:rPr lang="en-US" sz="1500" b="1" dirty="0">
                <a:solidFill>
                  <a:schemeClr val="bg1"/>
                </a:solidFill>
              </a:rPr>
              <a:t>Lv.4で追加</a:t>
            </a:r>
            <a:endParaRPr lang="en-US" sz="1500" dirty="0"/>
          </a:p>
        </p:txBody>
      </p:sp>
      <p:sp>
        <p:nvSpPr>
          <p:cNvPr id="38" name="Text 36"/>
          <p:cNvSpPr txBox="1"/>
          <p:nvPr/>
        </p:nvSpPr>
        <p:spPr>
          <a:xfrm>
            <a:off x="8229600" y="3182112"/>
            <a:ext cx="3291840" cy="274320"/>
          </a:xfrm>
          <a:prstGeom prst="rect">
            <a:avLst/>
          </a:prstGeom>
          <a:noFill/>
          <a:ln/>
        </p:spPr>
        <p:txBody>
          <a:bodyPr wrap="square" lIns="0" tIns="0" rIns="0" bIns="0" rtlCol="0" anchor="t"/>
          <a:lstStyle/>
          <a:p>
            <a:pPr indent="0" marL="0">
              <a:buNone/>
            </a:pPr>
            <a:r>
              <a:rPr lang="en-US" sz="1100" dirty="0">
                <a:solidFill>
                  <a:schemeClr val="bg2"/>
                </a:solidFill>
              </a:rPr>
              <a:t>＋約14問・入力30〜45分</a:t>
            </a:r>
            <a:endParaRPr lang="en-US" sz="1100" dirty="0"/>
          </a:p>
        </p:txBody>
      </p:sp>
      <p:sp>
        <p:nvSpPr>
          <p:cNvPr id="39" name="Shape 37"/>
          <p:cNvSpPr/>
          <p:nvPr/>
        </p:nvSpPr>
        <p:spPr>
          <a:xfrm>
            <a:off x="8046720" y="3584448"/>
            <a:ext cx="3593592" cy="1783080"/>
          </a:xfrm>
          <a:prstGeom prst="roundRect">
            <a:avLst>
              <a:gd name="adj" fmla="val 4103"/>
            </a:avLst>
          </a:prstGeom>
          <a:solidFill>
            <a:schemeClr val="bg2"/>
          </a:solidFill>
          <a:ln w="6350">
            <a:solidFill>
              <a:schemeClr val="bg2"/>
            </a:solidFill>
            <a:prstDash val="solid"/>
          </a:ln>
        </p:spPr>
      </p:sp>
      <p:sp>
        <p:nvSpPr>
          <p:cNvPr id="40" name="Text 38"/>
          <p:cNvSpPr txBox="1"/>
          <p:nvPr/>
        </p:nvSpPr>
        <p:spPr>
          <a:xfrm>
            <a:off x="8183880" y="3657600"/>
            <a:ext cx="3383280" cy="1664208"/>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rPr>
              <a:t>所属単位を超えた展開と展開先数</a:t>
            </a:r>
            <a:endParaRPr lang="en-US" sz="1200" dirty="0"/>
          </a:p>
          <a:p>
            <a:pPr marL="177800" indent="-177800">
              <a:spcAft>
                <a:spcPts val="200"/>
              </a:spcAft>
              <a:buSzPct val="100000"/>
              <a:buChar char="•"/>
            </a:pPr>
            <a:r>
              <a:rPr lang="en-US" sz="1200" dirty="0">
                <a:solidFill>
                  <a:schemeClr val="tx1"/>
                </a:solidFill>
              </a:rPr>
              <a:t>標準化と組織上の位置付け</a:t>
            </a:r>
            <a:endParaRPr lang="en-US" sz="1200" dirty="0"/>
          </a:p>
          <a:p>
            <a:pPr marL="177800" indent="-177800">
              <a:spcAft>
                <a:spcPts val="200"/>
              </a:spcAft>
              <a:buSzPct val="100000"/>
              <a:buChar char="•"/>
            </a:pPr>
            <a:r>
              <a:rPr lang="en-US" sz="1200" dirty="0">
                <a:solidFill>
                  <a:schemeClr val="tx1"/>
                </a:solidFill>
              </a:rPr>
              <a:t>教育と、教育後の利用確認</a:t>
            </a:r>
            <a:endParaRPr lang="en-US" sz="1200" dirty="0"/>
          </a:p>
          <a:p>
            <a:pPr marL="177800" indent="-177800">
              <a:spcAft>
                <a:spcPts val="200"/>
              </a:spcAft>
              <a:buSzPct val="100000"/>
              <a:buChar char="•"/>
            </a:pPr>
            <a:r>
              <a:rPr lang="en-US" sz="1200" dirty="0">
                <a:solidFill>
                  <a:schemeClr val="tx1"/>
                </a:solidFill>
              </a:rPr>
              <a:t>運用状況の確認と改善実績</a:t>
            </a:r>
            <a:endParaRPr lang="en-US" sz="1200" dirty="0"/>
          </a:p>
          <a:p>
            <a:pPr marL="177800" indent="-177800">
              <a:spcAft>
                <a:spcPts val="200"/>
              </a:spcAft>
              <a:buSzPct val="100000"/>
              <a:buChar char="•"/>
            </a:pPr>
            <a:r>
              <a:rPr lang="en-US" sz="1200" dirty="0">
                <a:solidFill>
                  <a:schemeClr val="tx1"/>
                </a:solidFill>
              </a:rPr>
              <a:t>ガバナンス（責任分界・権限・ログ）</a:t>
            </a:r>
            <a:endParaRPr lang="en-US" sz="1200" dirty="0"/>
          </a:p>
          <a:p>
            <a:pPr marL="177800" indent="-177800">
              <a:spcAft>
                <a:spcPts val="200"/>
              </a:spcAft>
              <a:buSzPct val="100000"/>
              <a:buChar char="•"/>
            </a:pPr>
            <a:r>
              <a:rPr lang="en-US" sz="1200" dirty="0">
                <a:solidFill>
                  <a:schemeClr val="tx1"/>
                </a:solidFill>
              </a:rPr>
              <a:t>小規模組織の代替ルート（4問）</a:t>
            </a:r>
            <a:endParaRPr lang="en-US" sz="1200" dirty="0"/>
          </a:p>
        </p:txBody>
      </p:sp>
      <p:sp>
        <p:nvSpPr>
          <p:cNvPr id="41" name="Shape 39"/>
          <p:cNvSpPr/>
          <p:nvPr/>
        </p:nvSpPr>
        <p:spPr>
          <a:xfrm>
            <a:off x="548640" y="5486400"/>
            <a:ext cx="11091672" cy="621792"/>
          </a:xfrm>
          <a:prstGeom prst="roundRect">
            <a:avLst>
              <a:gd name="adj" fmla="val 11765"/>
            </a:avLst>
          </a:prstGeom>
          <a:solidFill>
            <a:schemeClr val="accent2">
              <a:alpha val="12000"/>
            </a:schemeClr>
          </a:solidFill>
          <a:ln w="9525">
            <a:solidFill>
              <a:schemeClr val="accent2">
                <a:alpha val="50000"/>
              </a:schemeClr>
            </a:solidFill>
            <a:prstDash val="solid"/>
          </a:ln>
        </p:spPr>
      </p:sp>
      <p:sp>
        <p:nvSpPr>
          <p:cNvPr id="42" name="Text 40"/>
          <p:cNvSpPr txBox="1"/>
          <p:nvPr/>
        </p:nvSpPr>
        <p:spPr>
          <a:xfrm>
            <a:off x="731520" y="5486400"/>
            <a:ext cx="10789920" cy="621792"/>
          </a:xfrm>
          <a:prstGeom prst="rect">
            <a:avLst/>
          </a:prstGeom>
          <a:noFill/>
          <a:ln/>
        </p:spPr>
        <p:txBody>
          <a:bodyPr wrap="square" lIns="0" tIns="0" rIns="0" bIns="0" rtlCol="0" anchor="ctr"/>
          <a:lstStyle/>
          <a:p>
            <a:pPr indent="0" marL="0">
              <a:buNone/>
            </a:pPr>
            <a:r>
              <a:rPr lang="en-US" sz="1300" b="1" dirty="0">
                <a:solidFill>
                  <a:schemeClr val="tx2"/>
                </a:solidFill>
              </a:rPr>
              <a:t>設計の考え方　</a:t>
            </a:r>
            <a:pPr indent="0" marL="0">
              <a:buNone/>
            </a:pPr>
            <a:r>
              <a:rPr lang="en-US" sz="1300" dirty="0">
                <a:solidFill>
                  <a:schemeClr val="tx1"/>
                </a:solidFill>
              </a:rPr>
              <a:t>有無・人数・期間などの事実は選択式や数値で、背景・工夫・成果の具体像は自由記述で取る。文字数は目安で、採点には使わない</a:t>
            </a:r>
            <a:endParaRPr lang="en-US" sz="1300" dirty="0"/>
          </a:p>
        </p:txBody>
      </p:sp>
      <p:sp>
        <p:nvSpPr>
          <p:cNvPr id="43" name="Text 41"/>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出典：03「質問項目一覧」・§2〜14（問数は条件付き質問を含む概数）</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3　申請フォーム</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例外も制度の対象になる：過去の事例と、小規模組織のLv.4</a:t>
            </a:r>
            <a:endParaRPr lang="en-US" sz="2400" dirty="0"/>
          </a:p>
        </p:txBody>
      </p:sp>
      <p:sp>
        <p:nvSpPr>
          <p:cNvPr id="4" name="Shape 2"/>
          <p:cNvSpPr/>
          <p:nvPr/>
        </p:nvSpPr>
        <p:spPr>
          <a:xfrm>
            <a:off x="548640" y="1508760"/>
            <a:ext cx="5440680" cy="548640"/>
          </a:xfrm>
          <a:prstGeom prst="roundRect">
            <a:avLst>
              <a:gd name="adj" fmla="val 13333"/>
            </a:avLst>
          </a:prstGeom>
          <a:solidFill>
            <a:schemeClr val="accent1"/>
          </a:solidFill>
          <a:ln w="6350">
            <a:solidFill>
              <a:schemeClr val="accent1"/>
            </a:solidFill>
            <a:prstDash val="solid"/>
          </a:ln>
        </p:spPr>
      </p:sp>
      <p:sp>
        <p:nvSpPr>
          <p:cNvPr id="5" name="Text 3"/>
          <p:cNvSpPr txBox="1"/>
          <p:nvPr/>
        </p:nvSpPr>
        <p:spPr>
          <a:xfrm>
            <a:off x="731520" y="1508760"/>
            <a:ext cx="5120640" cy="548640"/>
          </a:xfrm>
          <a:prstGeom prst="rect">
            <a:avLst/>
          </a:prstGeom>
          <a:noFill/>
          <a:ln/>
        </p:spPr>
        <p:txBody>
          <a:bodyPr wrap="square" lIns="0" tIns="0" rIns="0" bIns="0" rtlCol="0" anchor="ctr"/>
          <a:lstStyle/>
          <a:p>
            <a:pPr indent="0" marL="0">
              <a:buNone/>
            </a:pPr>
            <a:r>
              <a:rPr lang="en-US" sz="1600" b="1" dirty="0">
                <a:solidFill>
                  <a:schemeClr val="bg1"/>
                </a:solidFill>
              </a:rPr>
              <a:t>過去に使っていた事例・利用を終えた事例</a:t>
            </a:r>
            <a:endParaRPr lang="en-US" sz="1600" dirty="0"/>
          </a:p>
        </p:txBody>
      </p:sp>
      <p:sp>
        <p:nvSpPr>
          <p:cNvPr id="6" name="Shape 4"/>
          <p:cNvSpPr/>
          <p:nvPr/>
        </p:nvSpPr>
        <p:spPr>
          <a:xfrm>
            <a:off x="548640" y="2103120"/>
            <a:ext cx="5440680" cy="3977640"/>
          </a:xfrm>
          <a:prstGeom prst="roundRect">
            <a:avLst>
              <a:gd name="adj" fmla="val 1839"/>
            </a:avLst>
          </a:prstGeom>
          <a:solidFill>
            <a:schemeClr val="bg2"/>
          </a:solidFill>
          <a:ln w="6350">
            <a:solidFill>
              <a:schemeClr val="bg2"/>
            </a:solidFill>
            <a:prstDash val="solid"/>
          </a:ln>
        </p:spPr>
      </p:sp>
      <p:sp>
        <p:nvSpPr>
          <p:cNvPr id="7" name="Text 5"/>
          <p:cNvSpPr txBox="1"/>
          <p:nvPr/>
        </p:nvSpPr>
        <p:spPr>
          <a:xfrm>
            <a:off x="731520" y="2240280"/>
            <a:ext cx="5120640" cy="594360"/>
          </a:xfrm>
          <a:prstGeom prst="rect">
            <a:avLst/>
          </a:prstGeom>
          <a:noFill/>
          <a:ln/>
        </p:spPr>
        <p:txBody>
          <a:bodyPr wrap="square" lIns="0" tIns="0" rIns="0" bIns="0" rtlCol="0" anchor="t"/>
          <a:lstStyle/>
          <a:p>
            <a:pPr indent="0" marL="0">
              <a:buNone/>
            </a:pPr>
            <a:r>
              <a:rPr lang="en-US" sz="1500" dirty="0">
                <a:solidFill>
                  <a:schemeClr val="tx1"/>
                </a:solidFill>
              </a:rPr>
              <a:t>Gateの条件は「今も使っている」ではなく</a:t>
            </a:r>
            <a:endParaRPr lang="en-US" sz="1500" dirty="0"/>
          </a:p>
          <a:p>
            <a:pPr indent="0" marL="0">
              <a:buNone/>
            </a:pPr>
            <a:r>
              <a:rPr lang="en-US" sz="1500" b="1" dirty="0">
                <a:solidFill>
                  <a:schemeClr val="accent1"/>
                </a:solidFill>
              </a:rPr>
              <a:t>「実業務で使った実績がある」</a:t>
            </a:r>
            <a:endParaRPr lang="en-US" sz="1500" dirty="0"/>
          </a:p>
        </p:txBody>
      </p:sp>
      <p:sp>
        <p:nvSpPr>
          <p:cNvPr id="8" name="Shape 6"/>
          <p:cNvSpPr/>
          <p:nvPr/>
        </p:nvSpPr>
        <p:spPr>
          <a:xfrm>
            <a:off x="731520" y="2926080"/>
            <a:ext cx="1600200" cy="329184"/>
          </a:xfrm>
          <a:prstGeom prst="roundRect">
            <a:avLst>
              <a:gd name="adj" fmla="val 41667"/>
            </a:avLst>
          </a:prstGeom>
          <a:solidFill>
            <a:schemeClr val="accent3"/>
          </a:solidFill>
          <a:ln w="6350">
            <a:solidFill>
              <a:schemeClr val="accent3"/>
            </a:solidFill>
            <a:prstDash val="solid"/>
          </a:ln>
        </p:spPr>
      </p:sp>
      <p:sp>
        <p:nvSpPr>
          <p:cNvPr id="9" name="Text 7"/>
          <p:cNvSpPr txBox="1"/>
          <p:nvPr/>
        </p:nvSpPr>
        <p:spPr>
          <a:xfrm>
            <a:off x="731520" y="2926080"/>
            <a:ext cx="1600200" cy="329184"/>
          </a:xfrm>
          <a:prstGeom prst="rect">
            <a:avLst/>
          </a:prstGeom>
          <a:noFill/>
          <a:ln/>
        </p:spPr>
        <p:txBody>
          <a:bodyPr wrap="square" lIns="0" tIns="0" rIns="0" bIns="0" rtlCol="0" anchor="ctr"/>
          <a:lstStyle/>
          <a:p>
            <a:pPr algn="ctr" indent="0" marL="0">
              <a:buNone/>
            </a:pPr>
            <a:r>
              <a:rPr lang="en-US" sz="1100" b="1" dirty="0">
                <a:solidFill>
                  <a:schemeClr val="bg1"/>
                </a:solidFill>
              </a:rPr>
              <a:t>案件終了</a:t>
            </a:r>
            <a:endParaRPr lang="en-US" sz="1100" dirty="0"/>
          </a:p>
        </p:txBody>
      </p:sp>
      <p:sp>
        <p:nvSpPr>
          <p:cNvPr id="10" name="Shape 8"/>
          <p:cNvSpPr/>
          <p:nvPr/>
        </p:nvSpPr>
        <p:spPr>
          <a:xfrm>
            <a:off x="2423160" y="2926080"/>
            <a:ext cx="1600200" cy="329184"/>
          </a:xfrm>
          <a:prstGeom prst="roundRect">
            <a:avLst>
              <a:gd name="adj" fmla="val 41667"/>
            </a:avLst>
          </a:prstGeom>
          <a:solidFill>
            <a:schemeClr val="accent3"/>
          </a:solidFill>
          <a:ln w="6350">
            <a:solidFill>
              <a:schemeClr val="accent3"/>
            </a:solidFill>
            <a:prstDash val="solid"/>
          </a:ln>
        </p:spPr>
      </p:sp>
      <p:sp>
        <p:nvSpPr>
          <p:cNvPr id="11" name="Text 9"/>
          <p:cNvSpPr txBox="1"/>
          <p:nvPr/>
        </p:nvSpPr>
        <p:spPr>
          <a:xfrm>
            <a:off x="2423160" y="2926080"/>
            <a:ext cx="1600200" cy="329184"/>
          </a:xfrm>
          <a:prstGeom prst="rect">
            <a:avLst/>
          </a:prstGeom>
          <a:noFill/>
          <a:ln/>
        </p:spPr>
        <p:txBody>
          <a:bodyPr wrap="square" lIns="0" tIns="0" rIns="0" bIns="0" rtlCol="0" anchor="ctr"/>
          <a:lstStyle/>
          <a:p>
            <a:pPr algn="ctr" indent="0" marL="0">
              <a:buNone/>
            </a:pPr>
            <a:r>
              <a:rPr lang="en-US" sz="1100" b="1" dirty="0">
                <a:solidFill>
                  <a:schemeClr val="bg1"/>
                </a:solidFill>
              </a:rPr>
              <a:t>業務終了</a:t>
            </a:r>
            <a:endParaRPr lang="en-US" sz="1100" dirty="0"/>
          </a:p>
        </p:txBody>
      </p:sp>
      <p:sp>
        <p:nvSpPr>
          <p:cNvPr id="12" name="Shape 10"/>
          <p:cNvSpPr/>
          <p:nvPr/>
        </p:nvSpPr>
        <p:spPr>
          <a:xfrm>
            <a:off x="4114800" y="2926080"/>
            <a:ext cx="1600200" cy="329184"/>
          </a:xfrm>
          <a:prstGeom prst="roundRect">
            <a:avLst>
              <a:gd name="adj" fmla="val 41667"/>
            </a:avLst>
          </a:prstGeom>
          <a:solidFill>
            <a:schemeClr val="accent3"/>
          </a:solidFill>
          <a:ln w="6350">
            <a:solidFill>
              <a:schemeClr val="accent3"/>
            </a:solidFill>
            <a:prstDash val="solid"/>
          </a:ln>
        </p:spPr>
      </p:sp>
      <p:sp>
        <p:nvSpPr>
          <p:cNvPr id="13" name="Text 11"/>
          <p:cNvSpPr txBox="1"/>
          <p:nvPr/>
        </p:nvSpPr>
        <p:spPr>
          <a:xfrm>
            <a:off x="4114800" y="2926080"/>
            <a:ext cx="1600200" cy="329184"/>
          </a:xfrm>
          <a:prstGeom prst="rect">
            <a:avLst/>
          </a:prstGeom>
          <a:noFill/>
          <a:ln/>
        </p:spPr>
        <p:txBody>
          <a:bodyPr wrap="square" lIns="0" tIns="0" rIns="0" bIns="0" rtlCol="0" anchor="ctr"/>
          <a:lstStyle/>
          <a:p>
            <a:pPr algn="ctr" indent="0" marL="0">
              <a:buNone/>
            </a:pPr>
            <a:r>
              <a:rPr lang="en-US" sz="1100" b="1" dirty="0">
                <a:solidFill>
                  <a:schemeClr val="bg1"/>
                </a:solidFill>
              </a:rPr>
              <a:t>システム刷新</a:t>
            </a:r>
            <a:endParaRPr lang="en-US" sz="1100" dirty="0"/>
          </a:p>
        </p:txBody>
      </p:sp>
      <p:sp>
        <p:nvSpPr>
          <p:cNvPr id="14" name="Shape 12"/>
          <p:cNvSpPr/>
          <p:nvPr/>
        </p:nvSpPr>
        <p:spPr>
          <a:xfrm>
            <a:off x="731520" y="3337560"/>
            <a:ext cx="1600200" cy="329184"/>
          </a:xfrm>
          <a:prstGeom prst="roundRect">
            <a:avLst>
              <a:gd name="adj" fmla="val 41667"/>
            </a:avLst>
          </a:prstGeom>
          <a:solidFill>
            <a:schemeClr val="accent3"/>
          </a:solidFill>
          <a:ln w="6350">
            <a:solidFill>
              <a:schemeClr val="accent3"/>
            </a:solidFill>
            <a:prstDash val="solid"/>
          </a:ln>
        </p:spPr>
      </p:sp>
      <p:sp>
        <p:nvSpPr>
          <p:cNvPr id="15" name="Text 13"/>
          <p:cNvSpPr txBox="1"/>
          <p:nvPr/>
        </p:nvSpPr>
        <p:spPr>
          <a:xfrm>
            <a:off x="731520" y="3337560"/>
            <a:ext cx="1600200" cy="329184"/>
          </a:xfrm>
          <a:prstGeom prst="rect">
            <a:avLst/>
          </a:prstGeom>
          <a:noFill/>
          <a:ln/>
        </p:spPr>
        <p:txBody>
          <a:bodyPr wrap="square" lIns="0" tIns="0" rIns="0" bIns="0" rtlCol="0" anchor="ctr"/>
          <a:lstStyle/>
          <a:p>
            <a:pPr algn="ctr" indent="0" marL="0">
              <a:buNone/>
            </a:pPr>
            <a:r>
              <a:rPr lang="en-US" sz="1100" b="1" dirty="0">
                <a:solidFill>
                  <a:schemeClr val="bg1"/>
                </a:solidFill>
              </a:rPr>
              <a:t>上位の仕組みへ置換</a:t>
            </a:r>
            <a:endParaRPr lang="en-US" sz="1100" dirty="0"/>
          </a:p>
        </p:txBody>
      </p:sp>
      <p:sp>
        <p:nvSpPr>
          <p:cNvPr id="16" name="Shape 14"/>
          <p:cNvSpPr/>
          <p:nvPr/>
        </p:nvSpPr>
        <p:spPr>
          <a:xfrm>
            <a:off x="2423160" y="3337560"/>
            <a:ext cx="1600200" cy="329184"/>
          </a:xfrm>
          <a:prstGeom prst="roundRect">
            <a:avLst>
              <a:gd name="adj" fmla="val 41667"/>
            </a:avLst>
          </a:prstGeom>
          <a:solidFill>
            <a:schemeClr val="accent3"/>
          </a:solidFill>
          <a:ln w="6350">
            <a:solidFill>
              <a:schemeClr val="accent3"/>
            </a:solidFill>
            <a:prstDash val="solid"/>
          </a:ln>
        </p:spPr>
      </p:sp>
      <p:sp>
        <p:nvSpPr>
          <p:cNvPr id="17" name="Text 15"/>
          <p:cNvSpPr txBox="1"/>
          <p:nvPr/>
        </p:nvSpPr>
        <p:spPr>
          <a:xfrm>
            <a:off x="2423160" y="3337560"/>
            <a:ext cx="1600200" cy="329184"/>
          </a:xfrm>
          <a:prstGeom prst="rect">
            <a:avLst/>
          </a:prstGeom>
          <a:noFill/>
          <a:ln/>
        </p:spPr>
        <p:txBody>
          <a:bodyPr wrap="square" lIns="0" tIns="0" rIns="0" bIns="0" rtlCol="0" anchor="ctr"/>
          <a:lstStyle/>
          <a:p>
            <a:pPr algn="ctr" indent="0" marL="0">
              <a:buNone/>
            </a:pPr>
            <a:r>
              <a:rPr lang="en-US" sz="1100" b="1" dirty="0">
                <a:solidFill>
                  <a:schemeClr val="bg1"/>
                </a:solidFill>
              </a:rPr>
              <a:t>期間限定業務の完了</a:t>
            </a:r>
            <a:endParaRPr lang="en-US" sz="1100" dirty="0"/>
          </a:p>
        </p:txBody>
      </p:sp>
      <p:sp>
        <p:nvSpPr>
          <p:cNvPr id="18" name="Text 16"/>
          <p:cNvSpPr txBox="1"/>
          <p:nvPr/>
        </p:nvSpPr>
        <p:spPr>
          <a:xfrm>
            <a:off x="731520" y="3840480"/>
            <a:ext cx="512064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利用を終えたこと自体は減点しない</a:t>
            </a:r>
            <a:endParaRPr lang="en-US" sz="1300" dirty="0"/>
          </a:p>
          <a:p>
            <a:pPr marL="177800" indent="-177800">
              <a:spcAft>
                <a:spcPts val="400"/>
              </a:spcAft>
              <a:buSzPct val="100000"/>
              <a:buChar char="•"/>
            </a:pPr>
            <a:r>
              <a:rPr lang="en-US" sz="1300" dirty="0">
                <a:solidFill>
                  <a:schemeClr val="tx1"/>
                </a:solidFill>
              </a:rPr>
              <a:t>品質などの問題で中止した場合は、利用中の成果・品質と終了理由で評価する</a:t>
            </a:r>
            <a:endParaRPr lang="en-US" sz="1300" dirty="0"/>
          </a:p>
        </p:txBody>
      </p:sp>
      <p:sp>
        <p:nvSpPr>
          <p:cNvPr id="19" name="Shape 17"/>
          <p:cNvSpPr/>
          <p:nvPr/>
        </p:nvSpPr>
        <p:spPr>
          <a:xfrm>
            <a:off x="731520" y="4846320"/>
            <a:ext cx="5074920" cy="1097280"/>
          </a:xfrm>
          <a:prstGeom prst="roundRect">
            <a:avLst>
              <a:gd name="adj" fmla="val 6667"/>
            </a:avLst>
          </a:prstGeom>
          <a:solidFill>
            <a:schemeClr val="accent1">
              <a:alpha val="12000"/>
            </a:schemeClr>
          </a:solidFill>
          <a:ln w="9525">
            <a:solidFill>
              <a:schemeClr val="accent1">
                <a:alpha val="50000"/>
              </a:schemeClr>
            </a:solidFill>
            <a:prstDash val="solid"/>
          </a:ln>
        </p:spPr>
      </p:sp>
      <p:sp>
        <p:nvSpPr>
          <p:cNvPr id="20" name="Text 18"/>
          <p:cNvSpPr txBox="1"/>
          <p:nvPr/>
        </p:nvSpPr>
        <p:spPr>
          <a:xfrm>
            <a:off x="868680" y="4892040"/>
            <a:ext cx="4846320" cy="1005840"/>
          </a:xfrm>
          <a:prstGeom prst="rect">
            <a:avLst/>
          </a:prstGeom>
          <a:noFill/>
          <a:ln/>
        </p:spPr>
        <p:txBody>
          <a:bodyPr wrap="square" lIns="0" tIns="0" rIns="0" bIns="0" rtlCol="0" anchor="ctr"/>
          <a:lstStyle/>
          <a:p>
            <a:pPr indent="0" marL="0">
              <a:buNone/>
            </a:pPr>
            <a:r>
              <a:rPr lang="en-US" sz="1300" b="1" dirty="0">
                <a:solidFill>
                  <a:schemeClr val="accent1"/>
                </a:solidFill>
              </a:rPr>
              <a:t>Lv.2の合格例　</a:t>
            </a:r>
            <a:pPr indent="0" marL="0">
              <a:buNone/>
            </a:pPr>
            <a:r>
              <a:rPr lang="en-US" sz="1300" dirty="0">
                <a:solidFill>
                  <a:schemeClr val="tx1"/>
                </a:solidFill>
              </a:rPr>
              <a:t>月次の運用報告書作成にAIを利用。作成時間が約90分から40分に短縮。4か月使ったあと案件終了で利用終了</a:t>
            </a:r>
            <a:endParaRPr lang="en-US" sz="1300" dirty="0"/>
          </a:p>
        </p:txBody>
      </p:sp>
      <p:sp>
        <p:nvSpPr>
          <p:cNvPr id="21" name="Shape 19"/>
          <p:cNvSpPr/>
          <p:nvPr/>
        </p:nvSpPr>
        <p:spPr>
          <a:xfrm>
            <a:off x="6199632" y="1508760"/>
            <a:ext cx="5440680" cy="548640"/>
          </a:xfrm>
          <a:prstGeom prst="roundRect">
            <a:avLst>
              <a:gd name="adj" fmla="val 13333"/>
            </a:avLst>
          </a:prstGeom>
          <a:solidFill>
            <a:schemeClr val="tx2"/>
          </a:solidFill>
          <a:ln w="6350">
            <a:solidFill>
              <a:schemeClr val="tx2"/>
            </a:solidFill>
            <a:prstDash val="solid"/>
          </a:ln>
        </p:spPr>
      </p:sp>
      <p:sp>
        <p:nvSpPr>
          <p:cNvPr id="22" name="Text 20"/>
          <p:cNvSpPr txBox="1"/>
          <p:nvPr/>
        </p:nvSpPr>
        <p:spPr>
          <a:xfrm>
            <a:off x="6382512" y="1508760"/>
            <a:ext cx="5120640" cy="548640"/>
          </a:xfrm>
          <a:prstGeom prst="rect">
            <a:avLst/>
          </a:prstGeom>
          <a:noFill/>
          <a:ln/>
        </p:spPr>
        <p:txBody>
          <a:bodyPr wrap="square" lIns="0" tIns="0" rIns="0" bIns="0" rtlCol="0" anchor="ctr"/>
          <a:lstStyle/>
          <a:p>
            <a:pPr indent="0" marL="0">
              <a:buNone/>
            </a:pPr>
            <a:r>
              <a:rPr lang="en-US" sz="1600" b="1" dirty="0">
                <a:solidFill>
                  <a:schemeClr val="bg1"/>
                </a:solidFill>
              </a:rPr>
              <a:t>小規模組織のLv.4代替ルート</a:t>
            </a:r>
            <a:endParaRPr lang="en-US" sz="1600" dirty="0"/>
          </a:p>
        </p:txBody>
      </p:sp>
      <p:sp>
        <p:nvSpPr>
          <p:cNvPr id="23" name="Shape 21"/>
          <p:cNvSpPr/>
          <p:nvPr/>
        </p:nvSpPr>
        <p:spPr>
          <a:xfrm>
            <a:off x="6199632" y="2103120"/>
            <a:ext cx="5440680" cy="3977640"/>
          </a:xfrm>
          <a:prstGeom prst="roundRect">
            <a:avLst>
              <a:gd name="adj" fmla="val 1839"/>
            </a:avLst>
          </a:prstGeom>
          <a:solidFill>
            <a:schemeClr val="bg2"/>
          </a:solidFill>
          <a:ln w="6350">
            <a:solidFill>
              <a:schemeClr val="bg2"/>
            </a:solidFill>
            <a:prstDash val="solid"/>
          </a:ln>
        </p:spPr>
      </p:sp>
      <p:sp>
        <p:nvSpPr>
          <p:cNvPr id="24" name="Text 22"/>
          <p:cNvSpPr txBox="1"/>
          <p:nvPr/>
        </p:nvSpPr>
        <p:spPr>
          <a:xfrm>
            <a:off x="6382512" y="2240280"/>
            <a:ext cx="5120640" cy="594360"/>
          </a:xfrm>
          <a:prstGeom prst="rect">
            <a:avLst/>
          </a:prstGeom>
          <a:noFill/>
          <a:ln/>
        </p:spPr>
        <p:txBody>
          <a:bodyPr wrap="square" lIns="0" tIns="0" rIns="0" bIns="0" rtlCol="0" anchor="t"/>
          <a:lstStyle/>
          <a:p>
            <a:pPr indent="0" marL="0">
              <a:buNone/>
            </a:pPr>
            <a:r>
              <a:rPr lang="en-US" sz="1400" dirty="0">
                <a:solidFill>
                  <a:schemeClr val="tx1"/>
                </a:solidFill>
              </a:rPr>
              <a:t>複数の単位に分けられない規模の組織は、次の4つを満たせば「組織展開」とみなす</a:t>
            </a:r>
            <a:endParaRPr lang="en-US" sz="1400" dirty="0"/>
          </a:p>
        </p:txBody>
      </p:sp>
      <p:sp>
        <p:nvSpPr>
          <p:cNvPr id="25" name="Shape 23"/>
          <p:cNvSpPr/>
          <p:nvPr/>
        </p:nvSpPr>
        <p:spPr>
          <a:xfrm>
            <a:off x="6382512" y="2926080"/>
            <a:ext cx="384048" cy="384048"/>
          </a:xfrm>
          <a:prstGeom prst="ellipse">
            <a:avLst/>
          </a:prstGeom>
          <a:solidFill>
            <a:schemeClr val="tx2"/>
          </a:solidFill>
          <a:ln w="6350">
            <a:solidFill>
              <a:schemeClr val="tx2"/>
            </a:solidFill>
            <a:prstDash val="solid"/>
          </a:ln>
        </p:spPr>
      </p:sp>
      <p:sp>
        <p:nvSpPr>
          <p:cNvPr id="26" name="Text 24"/>
          <p:cNvSpPr txBox="1"/>
          <p:nvPr/>
        </p:nvSpPr>
        <p:spPr>
          <a:xfrm>
            <a:off x="6382512" y="2926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7" name="Text 25"/>
          <p:cNvSpPr txBox="1"/>
          <p:nvPr/>
        </p:nvSpPr>
        <p:spPr>
          <a:xfrm>
            <a:off x="6903720" y="2926080"/>
            <a:ext cx="4572000" cy="384048"/>
          </a:xfrm>
          <a:prstGeom prst="rect">
            <a:avLst/>
          </a:prstGeom>
          <a:noFill/>
          <a:ln/>
        </p:spPr>
        <p:txBody>
          <a:bodyPr wrap="square" lIns="0" tIns="0" rIns="0" bIns="0" rtlCol="0" anchor="ctr"/>
          <a:lstStyle/>
          <a:p>
            <a:pPr indent="0" marL="0">
              <a:buNone/>
            </a:pPr>
            <a:r>
              <a:rPr lang="en-US" sz="1400" dirty="0">
                <a:solidFill>
                  <a:schemeClr val="tx1"/>
                </a:solidFill>
              </a:rPr>
              <a:t>経営層の承認を得ている</a:t>
            </a:r>
            <a:endParaRPr lang="en-US" sz="1400" dirty="0"/>
          </a:p>
        </p:txBody>
      </p:sp>
      <p:sp>
        <p:nvSpPr>
          <p:cNvPr id="28" name="Shape 26"/>
          <p:cNvSpPr/>
          <p:nvPr/>
        </p:nvSpPr>
        <p:spPr>
          <a:xfrm>
            <a:off x="6382512" y="3474720"/>
            <a:ext cx="384048" cy="384048"/>
          </a:xfrm>
          <a:prstGeom prst="ellipse">
            <a:avLst/>
          </a:prstGeom>
          <a:solidFill>
            <a:schemeClr val="tx2"/>
          </a:solidFill>
          <a:ln w="6350">
            <a:solidFill>
              <a:schemeClr val="tx2"/>
            </a:solidFill>
            <a:prstDash val="solid"/>
          </a:ln>
        </p:spPr>
      </p:sp>
      <p:sp>
        <p:nvSpPr>
          <p:cNvPr id="29" name="Text 27"/>
          <p:cNvSpPr txBox="1"/>
          <p:nvPr/>
        </p:nvSpPr>
        <p:spPr>
          <a:xfrm>
            <a:off x="6382512" y="34747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0" name="Text 28"/>
          <p:cNvSpPr txBox="1"/>
          <p:nvPr/>
        </p:nvSpPr>
        <p:spPr>
          <a:xfrm>
            <a:off x="6903720" y="3474720"/>
            <a:ext cx="4572000" cy="384048"/>
          </a:xfrm>
          <a:prstGeom prst="rect">
            <a:avLst/>
          </a:prstGeom>
          <a:noFill/>
          <a:ln/>
        </p:spPr>
        <p:txBody>
          <a:bodyPr wrap="square" lIns="0" tIns="0" rIns="0" bIns="0" rtlCol="0" anchor="ctr"/>
          <a:lstStyle/>
          <a:p>
            <a:pPr indent="0" marL="0">
              <a:buNone/>
            </a:pPr>
            <a:r>
              <a:rPr lang="en-US" sz="1400" dirty="0">
                <a:solidFill>
                  <a:schemeClr val="tx1"/>
                </a:solidFill>
              </a:rPr>
              <a:t>全社共通の標準・ルールとして正式に位置付けている</a:t>
            </a:r>
            <a:endParaRPr lang="en-US" sz="1400" dirty="0"/>
          </a:p>
        </p:txBody>
      </p:sp>
      <p:sp>
        <p:nvSpPr>
          <p:cNvPr id="31" name="Shape 29"/>
          <p:cNvSpPr/>
          <p:nvPr/>
        </p:nvSpPr>
        <p:spPr>
          <a:xfrm>
            <a:off x="6382512" y="4023360"/>
            <a:ext cx="384048" cy="384048"/>
          </a:xfrm>
          <a:prstGeom prst="ellipse">
            <a:avLst/>
          </a:prstGeom>
          <a:solidFill>
            <a:schemeClr val="tx2"/>
          </a:solidFill>
          <a:ln w="6350">
            <a:solidFill>
              <a:schemeClr val="tx2"/>
            </a:solidFill>
            <a:prstDash val="solid"/>
          </a:ln>
        </p:spPr>
      </p:sp>
      <p:sp>
        <p:nvSpPr>
          <p:cNvPr id="32" name="Text 30"/>
          <p:cNvSpPr txBox="1"/>
          <p:nvPr/>
        </p:nvSpPr>
        <p:spPr>
          <a:xfrm>
            <a:off x="6382512" y="4023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31"/>
          <p:cNvSpPr txBox="1"/>
          <p:nvPr/>
        </p:nvSpPr>
        <p:spPr>
          <a:xfrm>
            <a:off x="6903720" y="4023360"/>
            <a:ext cx="4572000" cy="384048"/>
          </a:xfrm>
          <a:prstGeom prst="rect">
            <a:avLst/>
          </a:prstGeom>
          <a:noFill/>
          <a:ln/>
        </p:spPr>
        <p:txBody>
          <a:bodyPr wrap="square" lIns="0" tIns="0" rIns="0" bIns="0" rtlCol="0" anchor="ctr"/>
          <a:lstStyle/>
          <a:p>
            <a:pPr indent="0" marL="0">
              <a:buNone/>
            </a:pPr>
            <a:r>
              <a:rPr lang="en-US" sz="1400" dirty="0">
                <a:solidFill>
                  <a:schemeClr val="tx1"/>
                </a:solidFill>
              </a:rPr>
              <a:t>組織全体で実際に運用している</a:t>
            </a:r>
            <a:endParaRPr lang="en-US" sz="1400" dirty="0"/>
          </a:p>
        </p:txBody>
      </p:sp>
      <p:sp>
        <p:nvSpPr>
          <p:cNvPr id="34" name="Shape 32"/>
          <p:cNvSpPr/>
          <p:nvPr/>
        </p:nvSpPr>
        <p:spPr>
          <a:xfrm>
            <a:off x="6382512" y="4572000"/>
            <a:ext cx="384048" cy="384048"/>
          </a:xfrm>
          <a:prstGeom prst="ellipse">
            <a:avLst/>
          </a:prstGeom>
          <a:solidFill>
            <a:schemeClr val="tx2"/>
          </a:solidFill>
          <a:ln w="6350">
            <a:solidFill>
              <a:schemeClr val="tx2"/>
            </a:solidFill>
            <a:prstDash val="solid"/>
          </a:ln>
        </p:spPr>
      </p:sp>
      <p:sp>
        <p:nvSpPr>
          <p:cNvPr id="35" name="Text 33"/>
          <p:cNvSpPr txBox="1"/>
          <p:nvPr/>
        </p:nvSpPr>
        <p:spPr>
          <a:xfrm>
            <a:off x="6382512" y="45720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6" name="Text 34"/>
          <p:cNvSpPr txBox="1"/>
          <p:nvPr/>
        </p:nvSpPr>
        <p:spPr>
          <a:xfrm>
            <a:off x="6903720" y="4572000"/>
            <a:ext cx="4572000" cy="384048"/>
          </a:xfrm>
          <a:prstGeom prst="rect">
            <a:avLst/>
          </a:prstGeom>
          <a:noFill/>
          <a:ln/>
        </p:spPr>
        <p:txBody>
          <a:bodyPr wrap="square" lIns="0" tIns="0" rIns="0" bIns="0" rtlCol="0" anchor="ctr"/>
          <a:lstStyle/>
          <a:p>
            <a:pPr indent="0" marL="0">
              <a:buNone/>
            </a:pPr>
            <a:r>
              <a:rPr lang="en-US" sz="1400" dirty="0">
                <a:solidFill>
                  <a:schemeClr val="tx1"/>
                </a:solidFill>
              </a:rPr>
              <a:t>運用状況または効果を確認している</a:t>
            </a:r>
            <a:endParaRPr lang="en-US" sz="1400" dirty="0"/>
          </a:p>
        </p:txBody>
      </p:sp>
      <p:sp>
        <p:nvSpPr>
          <p:cNvPr id="37" name="Shape 35"/>
          <p:cNvSpPr/>
          <p:nvPr/>
        </p:nvSpPr>
        <p:spPr>
          <a:xfrm>
            <a:off x="6382512" y="5212080"/>
            <a:ext cx="5074920" cy="731520"/>
          </a:xfrm>
          <a:prstGeom prst="roundRect">
            <a:avLst>
              <a:gd name="adj" fmla="val 10000"/>
            </a:avLst>
          </a:prstGeom>
          <a:solidFill>
            <a:schemeClr val="accent5">
              <a:alpha val="15000"/>
            </a:schemeClr>
          </a:solidFill>
          <a:ln w="9525">
            <a:solidFill>
              <a:schemeClr val="accent5">
                <a:alpha val="50000"/>
              </a:schemeClr>
            </a:solidFill>
            <a:prstDash val="solid"/>
          </a:ln>
        </p:spPr>
      </p:sp>
      <p:sp>
        <p:nvSpPr>
          <p:cNvPr id="38" name="Text 36"/>
          <p:cNvSpPr txBox="1"/>
          <p:nvPr/>
        </p:nvSpPr>
        <p:spPr>
          <a:xfrm>
            <a:off x="6519672" y="5212080"/>
            <a:ext cx="4846320" cy="731520"/>
          </a:xfrm>
          <a:prstGeom prst="rect">
            <a:avLst/>
          </a:prstGeom>
          <a:noFill/>
          <a:ln/>
        </p:spPr>
        <p:txBody>
          <a:bodyPr wrap="square" lIns="0" tIns="0" rIns="0" bIns="0" rtlCol="0" anchor="ctr"/>
          <a:lstStyle/>
          <a:p>
            <a:pPr indent="0" marL="0">
              <a:buNone/>
            </a:pPr>
            <a:r>
              <a:rPr lang="en-US" sz="1200" dirty="0">
                <a:solidFill>
                  <a:schemeClr val="tx1"/>
                </a:solidFill>
              </a:rPr>
              <a:t>フォームのQ4-11で「小規模組織のため全社展開」を選ぶと、専用の4問（Q4-S1〜S4）が表示される</a:t>
            </a:r>
            <a:endParaRPr lang="en-US" sz="1200" dirty="0"/>
          </a:p>
        </p:txBody>
      </p:sp>
      <p:sp>
        <p:nvSpPr>
          <p:cNvPr id="39" name="Text 37"/>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§3.4／01 §12／02 §5.5・§7.5・§9／03 §10</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4　合格事例の公開</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合格事例は匿名化して社内の学習教材にする。認定と公開は別に管理する</a:t>
            </a:r>
            <a:endParaRPr lang="en-US" sz="2400" dirty="0"/>
          </a:p>
        </p:txBody>
      </p:sp>
      <p:sp>
        <p:nvSpPr>
          <p:cNvPr id="4" name="Shape 2"/>
          <p:cNvSpPr/>
          <p:nvPr/>
        </p:nvSpPr>
        <p:spPr>
          <a:xfrm>
            <a:off x="548640" y="1545336"/>
            <a:ext cx="384048" cy="384048"/>
          </a:xfrm>
          <a:prstGeom prst="ellipse">
            <a:avLst/>
          </a:prstGeom>
          <a:solidFill>
            <a:schemeClr val="accent5"/>
          </a:solidFill>
          <a:ln w="6350">
            <a:solidFill>
              <a:schemeClr val="accent5"/>
            </a:solidFill>
            <a:prstDash val="solid"/>
          </a:ln>
        </p:spPr>
      </p:sp>
      <p:sp>
        <p:nvSpPr>
          <p:cNvPr id="5" name="Text 3"/>
          <p:cNvSpPr txBox="1"/>
          <p:nvPr/>
        </p:nvSpPr>
        <p:spPr>
          <a:xfrm>
            <a:off x="548640" y="154533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Shape 4"/>
          <p:cNvSpPr/>
          <p:nvPr/>
        </p:nvSpPr>
        <p:spPr>
          <a:xfrm>
            <a:off x="1051560" y="1508760"/>
            <a:ext cx="3429000" cy="457200"/>
          </a:xfrm>
          <a:prstGeom prst="roundRect">
            <a:avLst>
              <a:gd name="adj" fmla="val 16000"/>
            </a:avLst>
          </a:prstGeom>
          <a:solidFill>
            <a:schemeClr val="bg2"/>
          </a:solidFill>
          <a:ln w="6350">
            <a:solidFill>
              <a:schemeClr val="bg2"/>
            </a:solidFill>
            <a:prstDash val="solid"/>
          </a:ln>
        </p:spPr>
      </p:sp>
      <p:sp>
        <p:nvSpPr>
          <p:cNvPr id="7" name="Text 5"/>
          <p:cNvSpPr txBox="1"/>
          <p:nvPr/>
        </p:nvSpPr>
        <p:spPr>
          <a:xfrm>
            <a:off x="1188720" y="1508760"/>
            <a:ext cx="3200400" cy="457200"/>
          </a:xfrm>
          <a:prstGeom prst="rect">
            <a:avLst/>
          </a:prstGeom>
          <a:noFill/>
          <a:ln/>
        </p:spPr>
        <p:txBody>
          <a:bodyPr wrap="square" lIns="0" tIns="0" rIns="0" bIns="0" rtlCol="0" anchor="ctr"/>
          <a:lstStyle/>
          <a:p>
            <a:pPr indent="0" marL="0">
              <a:buNone/>
            </a:pPr>
            <a:r>
              <a:rPr lang="en-US" sz="1300" b="1" dirty="0">
                <a:solidFill>
                  <a:schemeClr val="tx1"/>
                </a:solidFill>
              </a:rPr>
              <a:t>認定合格</a:t>
            </a:r>
            <a:endParaRPr lang="en-US" sz="1300" dirty="0"/>
          </a:p>
        </p:txBody>
      </p:sp>
      <p:sp>
        <p:nvSpPr>
          <p:cNvPr id="8" name="Shape 6"/>
          <p:cNvSpPr/>
          <p:nvPr/>
        </p:nvSpPr>
        <p:spPr>
          <a:xfrm>
            <a:off x="548640" y="2112264"/>
            <a:ext cx="384048" cy="384048"/>
          </a:xfrm>
          <a:prstGeom prst="ellipse">
            <a:avLst/>
          </a:prstGeom>
          <a:solidFill>
            <a:schemeClr val="accent1"/>
          </a:solidFill>
          <a:ln w="6350">
            <a:solidFill>
              <a:schemeClr val="accent1"/>
            </a:solidFill>
            <a:prstDash val="solid"/>
          </a:ln>
        </p:spPr>
      </p:sp>
      <p:sp>
        <p:nvSpPr>
          <p:cNvPr id="9" name="Text 7"/>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Shape 8"/>
          <p:cNvSpPr/>
          <p:nvPr/>
        </p:nvSpPr>
        <p:spPr>
          <a:xfrm>
            <a:off x="1051560" y="2075688"/>
            <a:ext cx="3429000" cy="457200"/>
          </a:xfrm>
          <a:prstGeom prst="roundRect">
            <a:avLst>
              <a:gd name="adj" fmla="val 16000"/>
            </a:avLst>
          </a:prstGeom>
          <a:solidFill>
            <a:schemeClr val="bg2"/>
          </a:solidFill>
          <a:ln w="6350">
            <a:solidFill>
              <a:schemeClr val="bg2"/>
            </a:solidFill>
            <a:prstDash val="solid"/>
          </a:ln>
        </p:spPr>
      </p:sp>
      <p:sp>
        <p:nvSpPr>
          <p:cNvPr id="11" name="Text 9"/>
          <p:cNvSpPr txBox="1"/>
          <p:nvPr/>
        </p:nvSpPr>
        <p:spPr>
          <a:xfrm>
            <a:off x="1188720" y="2075688"/>
            <a:ext cx="3200400" cy="457200"/>
          </a:xfrm>
          <a:prstGeom prst="rect">
            <a:avLst/>
          </a:prstGeom>
          <a:noFill/>
          <a:ln/>
        </p:spPr>
        <p:txBody>
          <a:bodyPr wrap="square" lIns="0" tIns="0" rIns="0" bIns="0" rtlCol="0" anchor="ctr"/>
          <a:lstStyle/>
          <a:p>
            <a:pPr indent="0" marL="0">
              <a:buNone/>
            </a:pPr>
            <a:r>
              <a:rPr lang="en-US" sz="1300" dirty="0">
                <a:solidFill>
                  <a:schemeClr val="tx1"/>
                </a:solidFill>
              </a:rPr>
              <a:t>公開する情報を抽出</a:t>
            </a:r>
            <a:endParaRPr lang="en-US" sz="1300" dirty="0"/>
          </a:p>
        </p:txBody>
      </p:sp>
      <p:sp>
        <p:nvSpPr>
          <p:cNvPr id="12" name="Shape 10"/>
          <p:cNvSpPr/>
          <p:nvPr/>
        </p:nvSpPr>
        <p:spPr>
          <a:xfrm>
            <a:off x="548640" y="2679192"/>
            <a:ext cx="384048" cy="384048"/>
          </a:xfrm>
          <a:prstGeom prst="ellipse">
            <a:avLst/>
          </a:prstGeom>
          <a:solidFill>
            <a:schemeClr val="accent1"/>
          </a:solidFill>
          <a:ln w="6350">
            <a:solidFill>
              <a:schemeClr val="accent1"/>
            </a:solidFill>
            <a:prstDash val="solid"/>
          </a:ln>
        </p:spPr>
      </p:sp>
      <p:sp>
        <p:nvSpPr>
          <p:cNvPr id="13" name="Text 11"/>
          <p:cNvSpPr txBox="1"/>
          <p:nvPr/>
        </p:nvSpPr>
        <p:spPr>
          <a:xfrm>
            <a:off x="548640" y="26791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Shape 12"/>
          <p:cNvSpPr/>
          <p:nvPr/>
        </p:nvSpPr>
        <p:spPr>
          <a:xfrm>
            <a:off x="1051560" y="2642616"/>
            <a:ext cx="3429000" cy="457200"/>
          </a:xfrm>
          <a:prstGeom prst="roundRect">
            <a:avLst>
              <a:gd name="adj" fmla="val 16000"/>
            </a:avLst>
          </a:prstGeom>
          <a:solidFill>
            <a:schemeClr val="bg2"/>
          </a:solidFill>
          <a:ln w="6350">
            <a:solidFill>
              <a:schemeClr val="bg2"/>
            </a:solidFill>
            <a:prstDash val="solid"/>
          </a:ln>
        </p:spPr>
      </p:sp>
      <p:sp>
        <p:nvSpPr>
          <p:cNvPr id="15" name="Text 13"/>
          <p:cNvSpPr txBox="1"/>
          <p:nvPr/>
        </p:nvSpPr>
        <p:spPr>
          <a:xfrm>
            <a:off x="1188720" y="2642616"/>
            <a:ext cx="3200400" cy="457200"/>
          </a:xfrm>
          <a:prstGeom prst="rect">
            <a:avLst/>
          </a:prstGeom>
          <a:noFill/>
          <a:ln/>
        </p:spPr>
        <p:txBody>
          <a:bodyPr wrap="square" lIns="0" tIns="0" rIns="0" bIns="0" rtlCol="0" anchor="ctr"/>
          <a:lstStyle/>
          <a:p>
            <a:pPr indent="0" marL="0">
              <a:buNone/>
            </a:pPr>
            <a:r>
              <a:rPr lang="en-US" sz="1300" dirty="0">
                <a:solidFill>
                  <a:schemeClr val="tx1"/>
                </a:solidFill>
              </a:rPr>
              <a:t>AIが公開用の文章を生成</a:t>
            </a:r>
            <a:endParaRPr lang="en-US" sz="1300" dirty="0"/>
          </a:p>
        </p:txBody>
      </p:sp>
      <p:sp>
        <p:nvSpPr>
          <p:cNvPr id="16" name="Shape 14"/>
          <p:cNvSpPr/>
          <p:nvPr/>
        </p:nvSpPr>
        <p:spPr>
          <a:xfrm>
            <a:off x="548640" y="3246120"/>
            <a:ext cx="384048" cy="384048"/>
          </a:xfrm>
          <a:prstGeom prst="ellipse">
            <a:avLst/>
          </a:prstGeom>
          <a:solidFill>
            <a:schemeClr val="accent1"/>
          </a:solidFill>
          <a:ln w="6350">
            <a:solidFill>
              <a:schemeClr val="accent1"/>
            </a:solidFill>
            <a:prstDash val="solid"/>
          </a:ln>
        </p:spPr>
      </p:sp>
      <p:sp>
        <p:nvSpPr>
          <p:cNvPr id="17" name="Text 15"/>
          <p:cNvSpPr txBox="1"/>
          <p:nvPr/>
        </p:nvSpPr>
        <p:spPr>
          <a:xfrm>
            <a:off x="548640" y="324612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Shape 16"/>
          <p:cNvSpPr/>
          <p:nvPr/>
        </p:nvSpPr>
        <p:spPr>
          <a:xfrm>
            <a:off x="1051560" y="3209544"/>
            <a:ext cx="3429000" cy="457200"/>
          </a:xfrm>
          <a:prstGeom prst="roundRect">
            <a:avLst>
              <a:gd name="adj" fmla="val 16000"/>
            </a:avLst>
          </a:prstGeom>
          <a:solidFill>
            <a:schemeClr val="bg2"/>
          </a:solidFill>
          <a:ln w="6350">
            <a:solidFill>
              <a:schemeClr val="bg2"/>
            </a:solidFill>
            <a:prstDash val="solid"/>
          </a:ln>
        </p:spPr>
      </p:sp>
      <p:sp>
        <p:nvSpPr>
          <p:cNvPr id="19" name="Text 17"/>
          <p:cNvSpPr txBox="1"/>
          <p:nvPr/>
        </p:nvSpPr>
        <p:spPr>
          <a:xfrm>
            <a:off x="1188720" y="3209544"/>
            <a:ext cx="3200400" cy="457200"/>
          </a:xfrm>
          <a:prstGeom prst="rect">
            <a:avLst/>
          </a:prstGeom>
          <a:noFill/>
          <a:ln/>
        </p:spPr>
        <p:txBody>
          <a:bodyPr wrap="square" lIns="0" tIns="0" rIns="0" bIns="0" rtlCol="0" anchor="ctr"/>
          <a:lstStyle/>
          <a:p>
            <a:pPr indent="0" marL="0">
              <a:buNone/>
            </a:pPr>
            <a:r>
              <a:rPr lang="en-US" sz="1300" dirty="0">
                <a:solidFill>
                  <a:schemeClr val="tx1"/>
                </a:solidFill>
              </a:rPr>
              <a:t>匿名化・一般化</a:t>
            </a:r>
            <a:endParaRPr lang="en-US" sz="1300" dirty="0"/>
          </a:p>
        </p:txBody>
      </p:sp>
      <p:sp>
        <p:nvSpPr>
          <p:cNvPr id="20" name="Shape 18"/>
          <p:cNvSpPr/>
          <p:nvPr/>
        </p:nvSpPr>
        <p:spPr>
          <a:xfrm>
            <a:off x="548640" y="3813048"/>
            <a:ext cx="384048" cy="384048"/>
          </a:xfrm>
          <a:prstGeom prst="ellipse">
            <a:avLst/>
          </a:prstGeom>
          <a:solidFill>
            <a:schemeClr val="accent1"/>
          </a:solidFill>
          <a:ln w="6350">
            <a:solidFill>
              <a:schemeClr val="accent1"/>
            </a:solidFill>
            <a:prstDash val="solid"/>
          </a:ln>
        </p:spPr>
      </p:sp>
      <p:sp>
        <p:nvSpPr>
          <p:cNvPr id="21" name="Text 19"/>
          <p:cNvSpPr txBox="1"/>
          <p:nvPr/>
        </p:nvSpPr>
        <p:spPr>
          <a:xfrm>
            <a:off x="548640" y="38130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2" name="Shape 20"/>
          <p:cNvSpPr/>
          <p:nvPr/>
        </p:nvSpPr>
        <p:spPr>
          <a:xfrm>
            <a:off x="1051560" y="3776472"/>
            <a:ext cx="3429000" cy="457200"/>
          </a:xfrm>
          <a:prstGeom prst="roundRect">
            <a:avLst>
              <a:gd name="adj" fmla="val 16000"/>
            </a:avLst>
          </a:prstGeom>
          <a:solidFill>
            <a:schemeClr val="bg2"/>
          </a:solidFill>
          <a:ln w="6350">
            <a:solidFill>
              <a:schemeClr val="bg2"/>
            </a:solidFill>
            <a:prstDash val="solid"/>
          </a:ln>
        </p:spPr>
      </p:sp>
      <p:sp>
        <p:nvSpPr>
          <p:cNvPr id="23" name="Text 21"/>
          <p:cNvSpPr txBox="1"/>
          <p:nvPr/>
        </p:nvSpPr>
        <p:spPr>
          <a:xfrm>
            <a:off x="1188720" y="3776472"/>
            <a:ext cx="3200400" cy="457200"/>
          </a:xfrm>
          <a:prstGeom prst="rect">
            <a:avLst/>
          </a:prstGeom>
          <a:noFill/>
          <a:ln/>
        </p:spPr>
        <p:txBody>
          <a:bodyPr wrap="square" lIns="0" tIns="0" rIns="0" bIns="0" rtlCol="0" anchor="ctr"/>
          <a:lstStyle/>
          <a:p>
            <a:pPr indent="0" marL="0">
              <a:buNone/>
            </a:pPr>
            <a:r>
              <a:rPr lang="en-US" sz="1300" dirty="0">
                <a:solidFill>
                  <a:schemeClr val="tx1"/>
                </a:solidFill>
              </a:rPr>
              <a:t>再識別リスクの確認</a:t>
            </a:r>
            <a:endParaRPr lang="en-US" sz="1300" dirty="0"/>
          </a:p>
        </p:txBody>
      </p:sp>
      <p:sp>
        <p:nvSpPr>
          <p:cNvPr id="24" name="Shape 22"/>
          <p:cNvSpPr/>
          <p:nvPr/>
        </p:nvSpPr>
        <p:spPr>
          <a:xfrm>
            <a:off x="548640" y="4379976"/>
            <a:ext cx="384048" cy="384048"/>
          </a:xfrm>
          <a:prstGeom prst="ellipse">
            <a:avLst/>
          </a:prstGeom>
          <a:solidFill>
            <a:schemeClr val="accent2"/>
          </a:solidFill>
          <a:ln w="6350">
            <a:solidFill>
              <a:schemeClr val="accent2"/>
            </a:solidFill>
            <a:prstDash val="solid"/>
          </a:ln>
        </p:spPr>
      </p:sp>
      <p:sp>
        <p:nvSpPr>
          <p:cNvPr id="25" name="Text 23"/>
          <p:cNvSpPr txBox="1"/>
          <p:nvPr/>
        </p:nvSpPr>
        <p:spPr>
          <a:xfrm>
            <a:off x="548640" y="437997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6" name="Shape 24"/>
          <p:cNvSpPr/>
          <p:nvPr/>
        </p:nvSpPr>
        <p:spPr>
          <a:xfrm>
            <a:off x="1051560" y="4343400"/>
            <a:ext cx="3429000" cy="457200"/>
          </a:xfrm>
          <a:prstGeom prst="roundRect">
            <a:avLst>
              <a:gd name="adj" fmla="val 16000"/>
            </a:avLst>
          </a:prstGeom>
          <a:solidFill>
            <a:schemeClr val="bg2"/>
          </a:solidFill>
          <a:ln w="6350">
            <a:solidFill>
              <a:schemeClr val="bg2"/>
            </a:solidFill>
            <a:prstDash val="solid"/>
          </a:ln>
        </p:spPr>
      </p:sp>
      <p:sp>
        <p:nvSpPr>
          <p:cNvPr id="27" name="Text 25"/>
          <p:cNvSpPr txBox="1"/>
          <p:nvPr/>
        </p:nvSpPr>
        <p:spPr>
          <a:xfrm>
            <a:off x="1188720" y="4343400"/>
            <a:ext cx="3200400" cy="457200"/>
          </a:xfrm>
          <a:prstGeom prst="rect">
            <a:avLst/>
          </a:prstGeom>
          <a:noFill/>
          <a:ln/>
        </p:spPr>
        <p:txBody>
          <a:bodyPr wrap="square" lIns="0" tIns="0" rIns="0" bIns="0" rtlCol="0" anchor="ctr"/>
          <a:lstStyle/>
          <a:p>
            <a:pPr indent="0" marL="0">
              <a:buNone/>
            </a:pPr>
            <a:r>
              <a:rPr lang="en-US" sz="1300" dirty="0">
                <a:solidFill>
                  <a:schemeClr val="tx1"/>
                </a:solidFill>
              </a:rPr>
              <a:t>申請者または承認者が確認</a:t>
            </a:r>
            <a:endParaRPr lang="en-US" sz="1300" dirty="0"/>
          </a:p>
        </p:txBody>
      </p:sp>
      <p:sp>
        <p:nvSpPr>
          <p:cNvPr id="28" name="Shape 26"/>
          <p:cNvSpPr/>
          <p:nvPr/>
        </p:nvSpPr>
        <p:spPr>
          <a:xfrm>
            <a:off x="548640" y="4946904"/>
            <a:ext cx="384048" cy="384048"/>
          </a:xfrm>
          <a:prstGeom prst="ellipse">
            <a:avLst/>
          </a:prstGeom>
          <a:solidFill>
            <a:schemeClr val="accent2"/>
          </a:solidFill>
          <a:ln w="6350">
            <a:solidFill>
              <a:schemeClr val="accent2"/>
            </a:solidFill>
            <a:prstDash val="solid"/>
          </a:ln>
        </p:spPr>
      </p:sp>
      <p:sp>
        <p:nvSpPr>
          <p:cNvPr id="29" name="Text 27"/>
          <p:cNvSpPr txBox="1"/>
          <p:nvPr/>
        </p:nvSpPr>
        <p:spPr>
          <a:xfrm>
            <a:off x="548640" y="4946904"/>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30" name="Shape 28"/>
          <p:cNvSpPr/>
          <p:nvPr/>
        </p:nvSpPr>
        <p:spPr>
          <a:xfrm>
            <a:off x="1051560" y="4910328"/>
            <a:ext cx="3429000" cy="457200"/>
          </a:xfrm>
          <a:prstGeom prst="roundRect">
            <a:avLst>
              <a:gd name="adj" fmla="val 16000"/>
            </a:avLst>
          </a:prstGeom>
          <a:solidFill>
            <a:schemeClr val="bg2"/>
          </a:solidFill>
          <a:ln w="6350">
            <a:solidFill>
              <a:schemeClr val="bg2"/>
            </a:solidFill>
            <a:prstDash val="solid"/>
          </a:ln>
        </p:spPr>
      </p:sp>
      <p:sp>
        <p:nvSpPr>
          <p:cNvPr id="31" name="Text 29"/>
          <p:cNvSpPr txBox="1"/>
          <p:nvPr/>
        </p:nvSpPr>
        <p:spPr>
          <a:xfrm>
            <a:off x="1188720" y="4910328"/>
            <a:ext cx="3200400" cy="457200"/>
          </a:xfrm>
          <a:prstGeom prst="rect">
            <a:avLst/>
          </a:prstGeom>
          <a:noFill/>
          <a:ln/>
        </p:spPr>
        <p:txBody>
          <a:bodyPr wrap="square" lIns="0" tIns="0" rIns="0" bIns="0" rtlCol="0" anchor="ctr"/>
          <a:lstStyle/>
          <a:p>
            <a:pPr indent="0" marL="0">
              <a:buNone/>
            </a:pPr>
            <a:r>
              <a:rPr lang="en-US" sz="1300" dirty="0">
                <a:solidFill>
                  <a:schemeClr val="tx1"/>
                </a:solidFill>
              </a:rPr>
              <a:t>公開承認</a:t>
            </a:r>
            <a:endParaRPr lang="en-US" sz="1300" dirty="0"/>
          </a:p>
        </p:txBody>
      </p:sp>
      <p:sp>
        <p:nvSpPr>
          <p:cNvPr id="32" name="Shape 30"/>
          <p:cNvSpPr/>
          <p:nvPr/>
        </p:nvSpPr>
        <p:spPr>
          <a:xfrm>
            <a:off x="548640" y="5513832"/>
            <a:ext cx="384048" cy="384048"/>
          </a:xfrm>
          <a:prstGeom prst="ellipse">
            <a:avLst/>
          </a:prstGeom>
          <a:solidFill>
            <a:schemeClr val="accent5"/>
          </a:solidFill>
          <a:ln w="6350">
            <a:solidFill>
              <a:schemeClr val="accent5"/>
            </a:solidFill>
            <a:prstDash val="solid"/>
          </a:ln>
        </p:spPr>
      </p:sp>
      <p:sp>
        <p:nvSpPr>
          <p:cNvPr id="33" name="Text 31"/>
          <p:cNvSpPr txBox="1"/>
          <p:nvPr/>
        </p:nvSpPr>
        <p:spPr>
          <a:xfrm>
            <a:off x="548640" y="551383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34" name="Shape 32"/>
          <p:cNvSpPr/>
          <p:nvPr/>
        </p:nvSpPr>
        <p:spPr>
          <a:xfrm>
            <a:off x="1051560" y="5477256"/>
            <a:ext cx="3429000" cy="457200"/>
          </a:xfrm>
          <a:prstGeom prst="roundRect">
            <a:avLst>
              <a:gd name="adj" fmla="val 16000"/>
            </a:avLst>
          </a:prstGeom>
          <a:solidFill>
            <a:schemeClr val="bg2"/>
          </a:solidFill>
          <a:ln w="6350">
            <a:solidFill>
              <a:schemeClr val="bg2"/>
            </a:solidFill>
            <a:prstDash val="solid"/>
          </a:ln>
        </p:spPr>
      </p:sp>
      <p:sp>
        <p:nvSpPr>
          <p:cNvPr id="35" name="Text 33"/>
          <p:cNvSpPr txBox="1"/>
          <p:nvPr/>
        </p:nvSpPr>
        <p:spPr>
          <a:xfrm>
            <a:off x="1188720" y="5477256"/>
            <a:ext cx="3200400" cy="457200"/>
          </a:xfrm>
          <a:prstGeom prst="rect">
            <a:avLst/>
          </a:prstGeom>
          <a:noFill/>
          <a:ln/>
        </p:spPr>
        <p:txBody>
          <a:bodyPr wrap="square" lIns="0" tIns="0" rIns="0" bIns="0" rtlCol="0" anchor="ctr"/>
          <a:lstStyle/>
          <a:p>
            <a:pPr indent="0" marL="0">
              <a:buNone/>
            </a:pPr>
            <a:r>
              <a:rPr lang="en-US" sz="1300" b="1" dirty="0">
                <a:solidFill>
                  <a:schemeClr val="tx1"/>
                </a:solidFill>
              </a:rPr>
              <a:t>事例ライブラリに掲載</a:t>
            </a:r>
            <a:endParaRPr lang="en-US" sz="1300" dirty="0"/>
          </a:p>
        </p:txBody>
      </p:sp>
      <p:sp>
        <p:nvSpPr>
          <p:cNvPr id="36" name="Text 34"/>
          <p:cNvSpPr txBox="1"/>
          <p:nvPr/>
        </p:nvSpPr>
        <p:spPr>
          <a:xfrm>
            <a:off x="548640" y="5943600"/>
            <a:ext cx="3931920" cy="228600"/>
          </a:xfrm>
          <a:prstGeom prst="rect">
            <a:avLst/>
          </a:prstGeom>
          <a:noFill/>
          <a:ln/>
        </p:spPr>
        <p:txBody>
          <a:bodyPr wrap="square" lIns="0" tIns="0" rIns="0" bIns="0" rtlCol="0" anchor="t"/>
          <a:lstStyle/>
          <a:p>
            <a:pPr indent="0" marL="0">
              <a:buNone/>
            </a:pPr>
            <a:r>
              <a:rPr lang="en-US" sz="1000" dirty="0">
                <a:solidFill>
                  <a:schemeClr val="accent5"/>
                </a:solidFill>
              </a:rPr>
              <a:t>緑＝AI　橙＝人の確認</a:t>
            </a:r>
            <a:endParaRPr lang="en-US" sz="1000" dirty="0"/>
          </a:p>
        </p:txBody>
      </p:sp>
      <p:sp>
        <p:nvSpPr>
          <p:cNvPr id="37" name="Shape 35"/>
          <p:cNvSpPr/>
          <p:nvPr/>
        </p:nvSpPr>
        <p:spPr>
          <a:xfrm>
            <a:off x="4800600" y="1508760"/>
            <a:ext cx="6839712" cy="1554480"/>
          </a:xfrm>
          <a:prstGeom prst="roundRect">
            <a:avLst>
              <a:gd name="adj" fmla="val 4706"/>
            </a:avLst>
          </a:prstGeom>
          <a:solidFill>
            <a:schemeClr val="tx2"/>
          </a:solidFill>
          <a:ln w="6350">
            <a:solidFill>
              <a:schemeClr val="tx2"/>
            </a:solidFill>
            <a:prstDash val="solid"/>
          </a:ln>
        </p:spPr>
      </p:sp>
      <p:sp>
        <p:nvSpPr>
          <p:cNvPr id="38" name="Text 36"/>
          <p:cNvSpPr txBox="1"/>
          <p:nvPr/>
        </p:nvSpPr>
        <p:spPr>
          <a:xfrm>
            <a:off x="4983480" y="1600200"/>
            <a:ext cx="6400800" cy="320040"/>
          </a:xfrm>
          <a:prstGeom prst="rect">
            <a:avLst/>
          </a:prstGeom>
          <a:noFill/>
          <a:ln/>
        </p:spPr>
        <p:txBody>
          <a:bodyPr wrap="square" lIns="0" tIns="0" rIns="0" bIns="0" rtlCol="0" anchor="t"/>
          <a:lstStyle/>
          <a:p>
            <a:pPr indent="0" marL="0">
              <a:buNone/>
            </a:pPr>
            <a:r>
              <a:rPr lang="en-US" sz="1500" b="1" dirty="0">
                <a:solidFill>
                  <a:schemeClr val="accent2"/>
                </a:solidFill>
              </a:rPr>
              <a:t>公開の原則</a:t>
            </a:r>
            <a:endParaRPr lang="en-US" sz="1500" dirty="0"/>
          </a:p>
        </p:txBody>
      </p:sp>
      <p:sp>
        <p:nvSpPr>
          <p:cNvPr id="39" name="Text 37"/>
          <p:cNvSpPr txBox="1"/>
          <p:nvPr/>
        </p:nvSpPr>
        <p:spPr>
          <a:xfrm>
            <a:off x="4983480" y="1901952"/>
            <a:ext cx="6492240" cy="1115568"/>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bg1"/>
                </a:solidFill>
              </a:rPr>
              <a:t>認定の可否と公開の可否は分けて管理する</a:t>
            </a:r>
            <a:endParaRPr lang="en-US" sz="1300" dirty="0"/>
          </a:p>
          <a:p>
            <a:pPr marL="177800" indent="-177800">
              <a:spcAft>
                <a:spcPts val="400"/>
              </a:spcAft>
              <a:buSzPct val="100000"/>
              <a:buChar char="•"/>
            </a:pPr>
            <a:r>
              <a:rPr lang="en-US" sz="1300" dirty="0">
                <a:solidFill>
                  <a:schemeClr val="bg1"/>
                </a:solidFill>
              </a:rPr>
              <a:t>AIだけで自動公開しない。必ず人が確認する</a:t>
            </a:r>
            <a:endParaRPr lang="en-US" sz="1300" dirty="0"/>
          </a:p>
          <a:p>
            <a:pPr marL="177800" indent="-177800">
              <a:spcAft>
                <a:spcPts val="400"/>
              </a:spcAft>
              <a:buSzPct val="100000"/>
              <a:buChar char="•"/>
            </a:pPr>
            <a:r>
              <a:rPr lang="en-US" sz="1300" dirty="0">
                <a:solidFill>
                  <a:schemeClr val="bg1"/>
                </a:solidFill>
              </a:rPr>
              <a:t>AIは成果を誇張したり、事実を創作したりしない</a:t>
            </a:r>
            <a:endParaRPr lang="en-US" sz="1300" dirty="0"/>
          </a:p>
          <a:p>
            <a:pPr marL="177800" indent="-177800">
              <a:spcAft>
                <a:spcPts val="400"/>
              </a:spcAft>
              <a:buSzPct val="100000"/>
              <a:buChar char="•"/>
            </a:pPr>
            <a:r>
              <a:rPr lang="en-US" sz="1300" dirty="0">
                <a:solidFill>
                  <a:schemeClr val="bg1"/>
                </a:solidFill>
              </a:rPr>
              <a:t>公開後も修正・非公開化できるよう履歴を残す</a:t>
            </a:r>
            <a:endParaRPr lang="en-US" sz="1300" dirty="0"/>
          </a:p>
        </p:txBody>
      </p:sp>
      <p:sp>
        <p:nvSpPr>
          <p:cNvPr id="40" name="Text 38"/>
          <p:cNvSpPr txBox="1"/>
          <p:nvPr/>
        </p:nvSpPr>
        <p:spPr>
          <a:xfrm>
            <a:off x="4800600" y="3154680"/>
            <a:ext cx="6400800" cy="292608"/>
          </a:xfrm>
          <a:prstGeom prst="rect">
            <a:avLst/>
          </a:prstGeom>
          <a:noFill/>
          <a:ln/>
        </p:spPr>
        <p:txBody>
          <a:bodyPr wrap="square" lIns="0" tIns="0" rIns="0" bIns="0" rtlCol="0" anchor="t"/>
          <a:lstStyle/>
          <a:p>
            <a:pPr indent="0" marL="0">
              <a:buNone/>
            </a:pPr>
            <a:r>
              <a:rPr lang="en-US" sz="1400" b="1" dirty="0">
                <a:solidFill>
                  <a:schemeClr val="tx2"/>
                </a:solidFill>
              </a:rPr>
              <a:t>匿名化の例</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800600" y="3474720"/>
          <a:ext cx="6839712" cy="914400"/>
        </p:xfrm>
        <a:graphic>
          <a:graphicData uri="http://schemas.openxmlformats.org/drawingml/2006/table">
            <a:tbl>
              <a:tblPr/>
              <a:tblGrid>
                <a:gridCol w="1188720"/>
                <a:gridCol w="3182112"/>
                <a:gridCol w="2468880"/>
              </a:tblGrid>
              <a:tr h="301752">
                <a:tc>
                  <a:txBody>
                    <a:bodyPr/>
                    <a:lstStyle/>
                    <a:p>
                      <a:pPr indent="0" marL="0">
                        <a:buNone/>
                      </a:pPr>
                      <a:r>
                        <a:rPr lang="en-US" sz="1200" b="1" dirty="0">
                          <a:solidFill>
                            <a:srgbClr val="FFFFFF"/>
                          </a:solidFill>
                        </a:rPr>
                        <a:t>区分</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1F6E6B"/>
                    </a:solidFill>
                  </a:tcPr>
                </a:tc>
                <a:tc>
                  <a:txBody>
                    <a:bodyPr/>
                    <a:lstStyle/>
                    <a:p>
                      <a:pPr indent="0" marL="0">
                        <a:buNone/>
                      </a:pPr>
                      <a:r>
                        <a:rPr lang="en-US" sz="1200" b="1" dirty="0">
                          <a:solidFill>
                            <a:srgbClr val="FFFFFF"/>
                          </a:solidFill>
                        </a:rPr>
                        <a:t>元の記載</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1F6E6B"/>
                    </a:solidFill>
                  </a:tcPr>
                </a:tc>
                <a:tc>
                  <a:txBody>
                    <a:bodyPr/>
                    <a:lstStyle/>
                    <a:p>
                      <a:pPr indent="0" marL="0">
                        <a:buNone/>
                      </a:pPr>
                      <a:r>
                        <a:rPr lang="en-US" sz="1200" b="1" dirty="0">
                          <a:solidFill>
                            <a:srgbClr val="FFFFFF"/>
                          </a:solidFill>
                        </a:rPr>
                        <a:t>公開版</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1F6E6B"/>
                    </a:solidFill>
                  </a:tcPr>
                </a:tc>
              </a:tr>
              <a:tr h="301752">
                <a:tc>
                  <a:txBody>
                    <a:bodyPr/>
                    <a:lstStyle/>
                    <a:p>
                      <a:pPr indent="0" marL="0">
                        <a:buNone/>
                      </a:pPr>
                      <a:r>
                        <a:rPr lang="en-US" sz="1200" dirty="0">
                          <a:solidFill>
                            <a:srgbClr val="1F2A2E"/>
                          </a:solidFill>
                        </a:rPr>
                        <a:t>人名</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山田太郎</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申請者</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01752">
                <a:tc>
                  <a:txBody>
                    <a:bodyPr/>
                    <a:lstStyle/>
                    <a:p>
                      <a:pPr indent="0" marL="0">
                        <a:buNone/>
                      </a:pPr>
                      <a:r>
                        <a:rPr lang="en-US" sz="1200" dirty="0">
                          <a:solidFill>
                            <a:srgbClr val="1F2A2E"/>
                          </a:solidFill>
                        </a:rPr>
                        <a:t>顧客名</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○○株式会社</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製造業A社</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01752">
                <a:tc>
                  <a:txBody>
                    <a:bodyPr/>
                    <a:lstStyle/>
                    <a:p>
                      <a:pPr indent="0" marL="0">
                        <a:buNone/>
                      </a:pPr>
                      <a:r>
                        <a:rPr lang="en-US" sz="1200" dirty="0">
                          <a:solidFill>
                            <a:srgbClr val="1F2A2E"/>
                          </a:solidFill>
                        </a:rPr>
                        <a:t>案件名</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○○基幹システム更改PJ</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基幹システム更改案件</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01752">
                <a:tc>
                  <a:txBody>
                    <a:bodyPr/>
                    <a:lstStyle/>
                    <a:p>
                      <a:pPr indent="0" marL="0">
                        <a:buNone/>
                      </a:pPr>
                      <a:r>
                        <a:rPr lang="en-US" sz="1200" dirty="0">
                          <a:solidFill>
                            <a:srgbClr val="1F2A2E"/>
                          </a:solidFill>
                        </a:rPr>
                        <a:t>部署名</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第三システムサービス部○○グループ</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システム運用部門</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01752">
                <a:tc>
                  <a:txBody>
                    <a:bodyPr/>
                    <a:lstStyle/>
                    <a:p>
                      <a:pPr indent="0" marL="0">
                        <a:buNone/>
                      </a:pPr>
                      <a:r>
                        <a:rPr lang="en-US" sz="1200" dirty="0">
                          <a:solidFill>
                            <a:srgbClr val="1F2A2E"/>
                          </a:solidFill>
                        </a:rPr>
                        <a:t>システム名</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○○監視統合基盤</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監視システム</a:t>
                      </a:r>
                      <a:endParaRPr lang="en-US" sz="1200" dirty="0"/>
                    </a:p>
                  </a:txBody>
                  <a:tcPr marL="45720" marR="45720" marT="45720" marB="45720"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bl>
          </a:graphicData>
        </a:graphic>
      </p:graphicFrame>
      <p:sp>
        <p:nvSpPr>
          <p:cNvPr id="42" name="Text 39"/>
          <p:cNvSpPr txBox="1"/>
          <p:nvPr/>
        </p:nvSpPr>
        <p:spPr>
          <a:xfrm>
            <a:off x="4800600" y="5669280"/>
            <a:ext cx="6839712" cy="457200"/>
          </a:xfrm>
          <a:prstGeom prst="rect">
            <a:avLst/>
          </a:prstGeom>
          <a:noFill/>
          <a:ln/>
        </p:spPr>
        <p:txBody>
          <a:bodyPr wrap="square" lIns="0" tIns="0" rIns="0" bIns="0" rtlCol="0" anchor="t"/>
          <a:lstStyle/>
          <a:p>
            <a:pPr indent="0" marL="0">
              <a:buNone/>
            </a:pPr>
            <a:r>
              <a:rPr lang="en-US" sz="1100" dirty="0">
                <a:solidFill>
                  <a:schemeClr val="tx1"/>
                </a:solidFill>
              </a:rPr>
              <a:t>URL・IP・ID・認証情報・プロンプト全文などは削除。地域・業種・時期などの組み合わせで特定されないかも確認する</a:t>
            </a:r>
            <a:endParaRPr lang="en-US" sz="1100" dirty="0"/>
          </a:p>
        </p:txBody>
      </p:sp>
      <p:sp>
        <p:nvSpPr>
          <p:cNvPr id="43" name="Text 40"/>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出典：01 §14〜16／04「ガイドラインの結論」・§8〜10・§16・§28〜29</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5　採点エージェントの検証</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採点エージェントの精度は「正解が分かっているサンプル」で確かめる</a:t>
            </a:r>
            <a:endParaRPr lang="en-US" sz="2400" dirty="0"/>
          </a:p>
        </p:txBody>
      </p:sp>
      <p:sp>
        <p:nvSpPr>
          <p:cNvPr id="4" name="Shape 2"/>
          <p:cNvSpPr/>
          <p:nvPr/>
        </p:nvSpPr>
        <p:spPr>
          <a:xfrm>
            <a:off x="548640" y="1554480"/>
            <a:ext cx="1984248" cy="1188720"/>
          </a:xfrm>
          <a:prstGeom prst="roundRect">
            <a:avLst>
              <a:gd name="adj" fmla="val 6154"/>
            </a:avLst>
          </a:prstGeom>
          <a:solidFill>
            <a:schemeClr val="bg2"/>
          </a:solidFill>
          <a:ln w="6350">
            <a:solidFill>
              <a:schemeClr val="bg2"/>
            </a:solidFill>
            <a:prstDash val="solid"/>
          </a:ln>
        </p:spPr>
      </p:sp>
      <p:sp>
        <p:nvSpPr>
          <p:cNvPr id="5" name="Text 3"/>
          <p:cNvSpPr txBox="1"/>
          <p:nvPr/>
        </p:nvSpPr>
        <p:spPr>
          <a:xfrm>
            <a:off x="685800" y="1691640"/>
            <a:ext cx="1737360" cy="365760"/>
          </a:xfrm>
          <a:prstGeom prst="rect">
            <a:avLst/>
          </a:prstGeom>
          <a:noFill/>
          <a:ln/>
        </p:spPr>
        <p:txBody>
          <a:bodyPr wrap="square" lIns="0" tIns="0" rIns="0" bIns="0" rtlCol="0" anchor="t"/>
          <a:lstStyle/>
          <a:p>
            <a:pPr indent="0" marL="0">
              <a:buNone/>
            </a:pPr>
            <a:r>
              <a:rPr lang="en-US" sz="1600" b="1" dirty="0">
                <a:solidFill>
                  <a:schemeClr val="tx2"/>
                </a:solidFill>
              </a:rPr>
              <a:t>作成指示書</a:t>
            </a:r>
            <a:endParaRPr lang="en-US" sz="1600" dirty="0"/>
          </a:p>
        </p:txBody>
      </p:sp>
      <p:sp>
        <p:nvSpPr>
          <p:cNvPr id="6" name="Text 4"/>
          <p:cNvSpPr txBox="1"/>
          <p:nvPr/>
        </p:nvSpPr>
        <p:spPr>
          <a:xfrm>
            <a:off x="685800" y="2103120"/>
            <a:ext cx="1737360" cy="548640"/>
          </a:xfrm>
          <a:prstGeom prst="rect">
            <a:avLst/>
          </a:prstGeom>
          <a:noFill/>
          <a:ln/>
        </p:spPr>
        <p:txBody>
          <a:bodyPr wrap="square" lIns="0" tIns="0" rIns="0" bIns="0" rtlCol="0" anchor="t"/>
          <a:lstStyle/>
          <a:p>
            <a:pPr indent="0" marL="0">
              <a:buNone/>
            </a:pPr>
            <a:r>
              <a:rPr lang="en-US" sz="1200" dirty="0">
                <a:solidFill>
                  <a:schemeClr val="tx1"/>
                </a:solidFill>
              </a:rPr>
              <a:t>md 5本＋CLAUDE.md</a:t>
            </a:r>
            <a:endParaRPr lang="en-US" sz="1200" dirty="0"/>
          </a:p>
        </p:txBody>
      </p:sp>
      <p:sp>
        <p:nvSpPr>
          <p:cNvPr id="7" name="Shape 5"/>
          <p:cNvSpPr/>
          <p:nvPr/>
        </p:nvSpPr>
        <p:spPr>
          <a:xfrm>
            <a:off x="2560320" y="2011680"/>
            <a:ext cx="219456" cy="274320"/>
          </a:xfrm>
          <a:prstGeom prst="rightArrow">
            <a:avLst/>
          </a:prstGeom>
          <a:solidFill>
            <a:schemeClr val="accent3"/>
          </a:solidFill>
          <a:ln w="6350">
            <a:solidFill>
              <a:schemeClr val="accent3"/>
            </a:solidFill>
            <a:prstDash val="solid"/>
          </a:ln>
        </p:spPr>
      </p:sp>
      <p:sp>
        <p:nvSpPr>
          <p:cNvPr id="8" name="Shape 6"/>
          <p:cNvSpPr/>
          <p:nvPr/>
        </p:nvSpPr>
        <p:spPr>
          <a:xfrm>
            <a:off x="2807208" y="1554480"/>
            <a:ext cx="1984248" cy="1188720"/>
          </a:xfrm>
          <a:prstGeom prst="roundRect">
            <a:avLst>
              <a:gd name="adj" fmla="val 6154"/>
            </a:avLst>
          </a:prstGeom>
          <a:solidFill>
            <a:schemeClr val="bg2"/>
          </a:solidFill>
          <a:ln w="6350">
            <a:solidFill>
              <a:schemeClr val="bg2"/>
            </a:solidFill>
            <a:prstDash val="solid"/>
          </a:ln>
        </p:spPr>
      </p:sp>
      <p:sp>
        <p:nvSpPr>
          <p:cNvPr id="9" name="Text 7"/>
          <p:cNvSpPr txBox="1"/>
          <p:nvPr/>
        </p:nvSpPr>
        <p:spPr>
          <a:xfrm>
            <a:off x="2944368" y="1691640"/>
            <a:ext cx="1737360" cy="365760"/>
          </a:xfrm>
          <a:prstGeom prst="rect">
            <a:avLst/>
          </a:prstGeom>
          <a:noFill/>
          <a:ln/>
        </p:spPr>
        <p:txBody>
          <a:bodyPr wrap="square" lIns="0" tIns="0" rIns="0" bIns="0" rtlCol="0" anchor="t"/>
          <a:lstStyle/>
          <a:p>
            <a:pPr indent="0" marL="0">
              <a:buNone/>
            </a:pPr>
            <a:r>
              <a:rPr lang="en-US" sz="1600" b="1" dirty="0">
                <a:solidFill>
                  <a:schemeClr val="tx2"/>
                </a:solidFill>
              </a:rPr>
              <a:t>サンプル事例</a:t>
            </a:r>
            <a:endParaRPr lang="en-US" sz="1600" dirty="0"/>
          </a:p>
        </p:txBody>
      </p:sp>
      <p:sp>
        <p:nvSpPr>
          <p:cNvPr id="10" name="Text 8"/>
          <p:cNvSpPr txBox="1"/>
          <p:nvPr/>
        </p:nvSpPr>
        <p:spPr>
          <a:xfrm>
            <a:off x="2944368" y="2103120"/>
            <a:ext cx="1737360" cy="548640"/>
          </a:xfrm>
          <a:prstGeom prst="rect">
            <a:avLst/>
          </a:prstGeom>
          <a:noFill/>
          <a:ln/>
        </p:spPr>
        <p:txBody>
          <a:bodyPr wrap="square" lIns="0" tIns="0" rIns="0" bIns="0" rtlCol="0" anchor="t"/>
          <a:lstStyle/>
          <a:p>
            <a:pPr indent="0" marL="0">
              <a:buNone/>
            </a:pPr>
            <a:r>
              <a:rPr lang="en-US" sz="1200" dirty="0">
                <a:solidFill>
                  <a:schemeClr val="tx1"/>
                </a:solidFill>
              </a:rPr>
              <a:t>88件（正解つき）</a:t>
            </a:r>
            <a:endParaRPr lang="en-US" sz="1200" dirty="0"/>
          </a:p>
        </p:txBody>
      </p:sp>
      <p:sp>
        <p:nvSpPr>
          <p:cNvPr id="11" name="Shape 9"/>
          <p:cNvSpPr/>
          <p:nvPr/>
        </p:nvSpPr>
        <p:spPr>
          <a:xfrm>
            <a:off x="4818888" y="2011680"/>
            <a:ext cx="219456" cy="274320"/>
          </a:xfrm>
          <a:prstGeom prst="rightArrow">
            <a:avLst/>
          </a:prstGeom>
          <a:solidFill>
            <a:schemeClr val="accent3"/>
          </a:solidFill>
          <a:ln w="6350">
            <a:solidFill>
              <a:schemeClr val="accent3"/>
            </a:solidFill>
            <a:prstDash val="solid"/>
          </a:ln>
        </p:spPr>
      </p:sp>
      <p:sp>
        <p:nvSpPr>
          <p:cNvPr id="12" name="Shape 10"/>
          <p:cNvSpPr/>
          <p:nvPr/>
        </p:nvSpPr>
        <p:spPr>
          <a:xfrm>
            <a:off x="5065776" y="1554480"/>
            <a:ext cx="1984248" cy="1188720"/>
          </a:xfrm>
          <a:prstGeom prst="roundRect">
            <a:avLst>
              <a:gd name="adj" fmla="val 6154"/>
            </a:avLst>
          </a:prstGeom>
          <a:solidFill>
            <a:schemeClr val="bg2"/>
          </a:solidFill>
          <a:ln w="6350">
            <a:solidFill>
              <a:schemeClr val="bg2"/>
            </a:solidFill>
            <a:prstDash val="solid"/>
          </a:ln>
        </p:spPr>
      </p:sp>
      <p:sp>
        <p:nvSpPr>
          <p:cNvPr id="13" name="Text 11"/>
          <p:cNvSpPr txBox="1"/>
          <p:nvPr/>
        </p:nvSpPr>
        <p:spPr>
          <a:xfrm>
            <a:off x="5202936" y="1691640"/>
            <a:ext cx="1737360" cy="365760"/>
          </a:xfrm>
          <a:prstGeom prst="rect">
            <a:avLst/>
          </a:prstGeom>
          <a:noFill/>
          <a:ln/>
        </p:spPr>
        <p:txBody>
          <a:bodyPr wrap="square" lIns="0" tIns="0" rIns="0" bIns="0" rtlCol="0" anchor="t"/>
          <a:lstStyle/>
          <a:p>
            <a:pPr indent="0" marL="0">
              <a:buNone/>
            </a:pPr>
            <a:r>
              <a:rPr lang="en-US" sz="1600" b="1" dirty="0">
                <a:solidFill>
                  <a:schemeClr val="tx2"/>
                </a:solidFill>
              </a:rPr>
              <a:t>正解を除去</a:t>
            </a:r>
            <a:endParaRPr lang="en-US" sz="1600" dirty="0"/>
          </a:p>
        </p:txBody>
      </p:sp>
      <p:sp>
        <p:nvSpPr>
          <p:cNvPr id="14" name="Text 12"/>
          <p:cNvSpPr txBox="1"/>
          <p:nvPr/>
        </p:nvSpPr>
        <p:spPr>
          <a:xfrm>
            <a:off x="5202936" y="2103120"/>
            <a:ext cx="1737360" cy="548640"/>
          </a:xfrm>
          <a:prstGeom prst="rect">
            <a:avLst/>
          </a:prstGeom>
          <a:noFill/>
          <a:ln/>
        </p:spPr>
        <p:txBody>
          <a:bodyPr wrap="square" lIns="0" tIns="0" rIns="0" bIns="0" rtlCol="0" anchor="t"/>
          <a:lstStyle/>
          <a:p>
            <a:pPr indent="0" marL="0">
              <a:buNone/>
            </a:pPr>
            <a:r>
              <a:rPr lang="en-US" sz="1200" dirty="0">
                <a:solidFill>
                  <a:schemeClr val="tx1"/>
                </a:solidFill>
              </a:rPr>
              <a:t>教材メタ情報を外す</a:t>
            </a:r>
            <a:endParaRPr lang="en-US" sz="1200" dirty="0"/>
          </a:p>
        </p:txBody>
      </p:sp>
      <p:sp>
        <p:nvSpPr>
          <p:cNvPr id="15" name="Shape 13"/>
          <p:cNvSpPr/>
          <p:nvPr/>
        </p:nvSpPr>
        <p:spPr>
          <a:xfrm>
            <a:off x="7077456" y="2011680"/>
            <a:ext cx="219456" cy="274320"/>
          </a:xfrm>
          <a:prstGeom prst="rightArrow">
            <a:avLst/>
          </a:prstGeom>
          <a:solidFill>
            <a:schemeClr val="accent3"/>
          </a:solidFill>
          <a:ln w="6350">
            <a:solidFill>
              <a:schemeClr val="accent3"/>
            </a:solidFill>
            <a:prstDash val="solid"/>
          </a:ln>
        </p:spPr>
      </p:sp>
      <p:sp>
        <p:nvSpPr>
          <p:cNvPr id="16" name="Shape 14"/>
          <p:cNvSpPr/>
          <p:nvPr/>
        </p:nvSpPr>
        <p:spPr>
          <a:xfrm>
            <a:off x="7324344" y="1554480"/>
            <a:ext cx="1984248" cy="1188720"/>
          </a:xfrm>
          <a:prstGeom prst="roundRect">
            <a:avLst>
              <a:gd name="adj" fmla="val 6154"/>
            </a:avLst>
          </a:prstGeom>
          <a:solidFill>
            <a:schemeClr val="tx2"/>
          </a:solidFill>
          <a:ln w="6350">
            <a:solidFill>
              <a:schemeClr val="tx2"/>
            </a:solidFill>
            <a:prstDash val="solid"/>
          </a:ln>
        </p:spPr>
      </p:sp>
      <p:sp>
        <p:nvSpPr>
          <p:cNvPr id="17" name="Text 15"/>
          <p:cNvSpPr txBox="1"/>
          <p:nvPr/>
        </p:nvSpPr>
        <p:spPr>
          <a:xfrm>
            <a:off x="7461504" y="1691640"/>
            <a:ext cx="1737360" cy="365760"/>
          </a:xfrm>
          <a:prstGeom prst="rect">
            <a:avLst/>
          </a:prstGeom>
          <a:noFill/>
          <a:ln/>
        </p:spPr>
        <p:txBody>
          <a:bodyPr wrap="square" lIns="0" tIns="0" rIns="0" bIns="0" rtlCol="0" anchor="t"/>
          <a:lstStyle/>
          <a:p>
            <a:pPr indent="0" marL="0">
              <a:buNone/>
            </a:pPr>
            <a:r>
              <a:rPr lang="en-US" sz="1600" b="1" dirty="0">
                <a:solidFill>
                  <a:schemeClr val="bg1"/>
                </a:solidFill>
              </a:rPr>
              <a:t>採点エージェント</a:t>
            </a:r>
            <a:endParaRPr lang="en-US" sz="1600" dirty="0"/>
          </a:p>
        </p:txBody>
      </p:sp>
      <p:sp>
        <p:nvSpPr>
          <p:cNvPr id="18" name="Text 16"/>
          <p:cNvSpPr txBox="1"/>
          <p:nvPr/>
        </p:nvSpPr>
        <p:spPr>
          <a:xfrm>
            <a:off x="7461504" y="2103120"/>
            <a:ext cx="1737360" cy="548640"/>
          </a:xfrm>
          <a:prstGeom prst="rect">
            <a:avLst/>
          </a:prstGeom>
          <a:noFill/>
          <a:ln/>
        </p:spPr>
        <p:txBody>
          <a:bodyPr wrap="square" lIns="0" tIns="0" rIns="0" bIns="0" rtlCol="0" anchor="t"/>
          <a:lstStyle/>
          <a:p>
            <a:pPr indent="0" marL="0">
              <a:buNone/>
            </a:pPr>
            <a:r>
              <a:rPr lang="en-US" sz="1200" dirty="0">
                <a:solidFill>
                  <a:schemeClr val="bg2"/>
                </a:solidFill>
              </a:rPr>
              <a:t>審査を実行</a:t>
            </a:r>
            <a:endParaRPr lang="en-US" sz="1200" dirty="0"/>
          </a:p>
        </p:txBody>
      </p:sp>
      <p:sp>
        <p:nvSpPr>
          <p:cNvPr id="19" name="Shape 17"/>
          <p:cNvSpPr/>
          <p:nvPr/>
        </p:nvSpPr>
        <p:spPr>
          <a:xfrm>
            <a:off x="9336024" y="2011680"/>
            <a:ext cx="219456" cy="274320"/>
          </a:xfrm>
          <a:prstGeom prst="rightArrow">
            <a:avLst/>
          </a:prstGeom>
          <a:solidFill>
            <a:schemeClr val="accent3"/>
          </a:solidFill>
          <a:ln w="6350">
            <a:solidFill>
              <a:schemeClr val="accent3"/>
            </a:solidFill>
            <a:prstDash val="solid"/>
          </a:ln>
        </p:spPr>
      </p:sp>
      <p:sp>
        <p:nvSpPr>
          <p:cNvPr id="20" name="Shape 18"/>
          <p:cNvSpPr/>
          <p:nvPr/>
        </p:nvSpPr>
        <p:spPr>
          <a:xfrm>
            <a:off x="9582912" y="1554480"/>
            <a:ext cx="1984248" cy="1188720"/>
          </a:xfrm>
          <a:prstGeom prst="roundRect">
            <a:avLst>
              <a:gd name="adj" fmla="val 6154"/>
            </a:avLst>
          </a:prstGeom>
          <a:solidFill>
            <a:schemeClr val="accent2"/>
          </a:solidFill>
          <a:ln w="6350">
            <a:solidFill>
              <a:schemeClr val="accent2"/>
            </a:solidFill>
            <a:prstDash val="solid"/>
          </a:ln>
        </p:spPr>
      </p:sp>
      <p:sp>
        <p:nvSpPr>
          <p:cNvPr id="21" name="Text 19"/>
          <p:cNvSpPr txBox="1"/>
          <p:nvPr/>
        </p:nvSpPr>
        <p:spPr>
          <a:xfrm>
            <a:off x="9720072" y="1691640"/>
            <a:ext cx="1737360" cy="365760"/>
          </a:xfrm>
          <a:prstGeom prst="rect">
            <a:avLst/>
          </a:prstGeom>
          <a:noFill/>
          <a:ln/>
        </p:spPr>
        <p:txBody>
          <a:bodyPr wrap="square" lIns="0" tIns="0" rIns="0" bIns="0" rtlCol="0" anchor="t"/>
          <a:lstStyle/>
          <a:p>
            <a:pPr indent="0" marL="0">
              <a:buNone/>
            </a:pPr>
            <a:r>
              <a:rPr lang="en-US" sz="1600" b="1" dirty="0">
                <a:solidFill>
                  <a:schemeClr val="bg1"/>
                </a:solidFill>
              </a:rPr>
              <a:t>突合</a:t>
            </a:r>
            <a:endParaRPr lang="en-US" sz="1600" dirty="0"/>
          </a:p>
        </p:txBody>
      </p:sp>
      <p:sp>
        <p:nvSpPr>
          <p:cNvPr id="22" name="Text 20"/>
          <p:cNvSpPr txBox="1"/>
          <p:nvPr/>
        </p:nvSpPr>
        <p:spPr>
          <a:xfrm>
            <a:off x="9720072" y="2103120"/>
            <a:ext cx="1737360" cy="548640"/>
          </a:xfrm>
          <a:prstGeom prst="rect">
            <a:avLst/>
          </a:prstGeom>
          <a:noFill/>
          <a:ln/>
        </p:spPr>
        <p:txBody>
          <a:bodyPr wrap="square" lIns="0" tIns="0" rIns="0" bIns="0" rtlCol="0" anchor="t"/>
          <a:lstStyle/>
          <a:p>
            <a:pPr indent="0" marL="0">
              <a:buNone/>
            </a:pPr>
            <a:r>
              <a:rPr lang="en-US" sz="1200" dirty="0">
                <a:solidFill>
                  <a:schemeClr val="bg2"/>
                </a:solidFill>
              </a:rPr>
              <a:t>想定判定と比べる</a:t>
            </a:r>
            <a:endParaRPr lang="en-US" sz="1200" dirty="0"/>
          </a:p>
        </p:txBody>
      </p:sp>
      <p:sp>
        <p:nvSpPr>
          <p:cNvPr id="23" name="Text 21"/>
          <p:cNvSpPr txBox="1"/>
          <p:nvPr/>
        </p:nvSpPr>
        <p:spPr>
          <a:xfrm>
            <a:off x="548640" y="3017520"/>
            <a:ext cx="7315200" cy="320040"/>
          </a:xfrm>
          <a:prstGeom prst="rect">
            <a:avLst/>
          </a:prstGeom>
          <a:noFill/>
          <a:ln/>
        </p:spPr>
        <p:txBody>
          <a:bodyPr wrap="square" lIns="0" tIns="0" rIns="0" bIns="0" rtlCol="0" anchor="t"/>
          <a:lstStyle/>
          <a:p>
            <a:pPr indent="0" marL="0">
              <a:buNone/>
            </a:pPr>
            <a:r>
              <a:rPr lang="en-US" sz="1500" b="1" dirty="0">
                <a:solidFill>
                  <a:schemeClr val="tx2"/>
                </a:solidFill>
              </a:rPr>
              <a:t>突合で確かめる3つの段階</a:t>
            </a:r>
            <a:endParaRPr lang="en-US" sz="1500" dirty="0"/>
          </a:p>
        </p:txBody>
      </p:sp>
      <p:sp>
        <p:nvSpPr>
          <p:cNvPr id="24" name="Shape 22"/>
          <p:cNvSpPr/>
          <p:nvPr/>
        </p:nvSpPr>
        <p:spPr>
          <a:xfrm>
            <a:off x="548640" y="3429000"/>
            <a:ext cx="3593592" cy="1325880"/>
          </a:xfrm>
          <a:prstGeom prst="roundRect">
            <a:avLst>
              <a:gd name="adj" fmla="val 5517"/>
            </a:avLst>
          </a:prstGeom>
          <a:solidFill>
            <a:schemeClr val="bg2"/>
          </a:solidFill>
          <a:ln w="6350">
            <a:solidFill>
              <a:schemeClr val="bg2"/>
            </a:solidFill>
            <a:prstDash val="solid"/>
          </a:ln>
        </p:spPr>
      </p:sp>
      <p:sp>
        <p:nvSpPr>
          <p:cNvPr id="25" name="Shape 23"/>
          <p:cNvSpPr/>
          <p:nvPr/>
        </p:nvSpPr>
        <p:spPr>
          <a:xfrm>
            <a:off x="731520" y="3584448"/>
            <a:ext cx="411480" cy="411480"/>
          </a:xfrm>
          <a:prstGeom prst="ellipse">
            <a:avLst/>
          </a:prstGeom>
          <a:solidFill>
            <a:schemeClr val="accent1"/>
          </a:solidFill>
          <a:ln w="6350">
            <a:solidFill>
              <a:schemeClr val="accent1"/>
            </a:solidFill>
            <a:prstDash val="solid"/>
          </a:ln>
        </p:spPr>
      </p:sp>
      <p:sp>
        <p:nvSpPr>
          <p:cNvPr id="26" name="Text 24"/>
          <p:cNvSpPr txBox="1"/>
          <p:nvPr/>
        </p:nvSpPr>
        <p:spPr>
          <a:xfrm>
            <a:off x="731520" y="35844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7" name="Text 25"/>
          <p:cNvSpPr txBox="1"/>
          <p:nvPr/>
        </p:nvSpPr>
        <p:spPr>
          <a:xfrm>
            <a:off x="1280160" y="3584448"/>
            <a:ext cx="2651760" cy="411480"/>
          </a:xfrm>
          <a:prstGeom prst="rect">
            <a:avLst/>
          </a:prstGeom>
          <a:noFill/>
          <a:ln/>
        </p:spPr>
        <p:txBody>
          <a:bodyPr wrap="square" lIns="0" tIns="0" rIns="0" bIns="0" rtlCol="0" anchor="ctr"/>
          <a:lstStyle/>
          <a:p>
            <a:pPr indent="0" marL="0">
              <a:buNone/>
            </a:pPr>
            <a:r>
              <a:rPr lang="en-US" sz="1600" b="1" dirty="0">
                <a:solidFill>
                  <a:schemeClr val="tx2"/>
                </a:solidFill>
              </a:rPr>
              <a:t>判定</a:t>
            </a:r>
            <a:endParaRPr lang="en-US" sz="1600" dirty="0"/>
          </a:p>
        </p:txBody>
      </p:sp>
      <p:sp>
        <p:nvSpPr>
          <p:cNvPr id="28" name="Text 26"/>
          <p:cNvSpPr txBox="1"/>
          <p:nvPr/>
        </p:nvSpPr>
        <p:spPr>
          <a:xfrm>
            <a:off x="731520" y="4114800"/>
            <a:ext cx="3246120" cy="594360"/>
          </a:xfrm>
          <a:prstGeom prst="rect">
            <a:avLst/>
          </a:prstGeom>
          <a:noFill/>
          <a:ln/>
        </p:spPr>
        <p:txBody>
          <a:bodyPr wrap="square" lIns="0" tIns="0" rIns="0" bIns="0" rtlCol="0" anchor="t"/>
          <a:lstStyle/>
          <a:p>
            <a:pPr indent="0" marL="0">
              <a:buNone/>
            </a:pPr>
            <a:r>
              <a:rPr lang="en-US" sz="1300" dirty="0">
                <a:solidFill>
                  <a:schemeClr val="tx1"/>
                </a:solidFill>
              </a:rPr>
              <a:t>合格／不合格／情報不足の3区分が想定と一致するか</a:t>
            </a:r>
            <a:endParaRPr lang="en-US" sz="1300" dirty="0"/>
          </a:p>
        </p:txBody>
      </p:sp>
      <p:sp>
        <p:nvSpPr>
          <p:cNvPr id="29" name="Shape 27"/>
          <p:cNvSpPr/>
          <p:nvPr/>
        </p:nvSpPr>
        <p:spPr>
          <a:xfrm>
            <a:off x="4297680" y="3429000"/>
            <a:ext cx="3593592" cy="1325880"/>
          </a:xfrm>
          <a:prstGeom prst="roundRect">
            <a:avLst>
              <a:gd name="adj" fmla="val 5517"/>
            </a:avLst>
          </a:prstGeom>
          <a:solidFill>
            <a:schemeClr val="bg2"/>
          </a:solidFill>
          <a:ln w="6350">
            <a:solidFill>
              <a:schemeClr val="bg2"/>
            </a:solidFill>
            <a:prstDash val="solid"/>
          </a:ln>
        </p:spPr>
      </p:sp>
      <p:sp>
        <p:nvSpPr>
          <p:cNvPr id="30" name="Shape 28"/>
          <p:cNvSpPr/>
          <p:nvPr/>
        </p:nvSpPr>
        <p:spPr>
          <a:xfrm>
            <a:off x="4480560" y="3584448"/>
            <a:ext cx="411480" cy="411480"/>
          </a:xfrm>
          <a:prstGeom prst="ellipse">
            <a:avLst/>
          </a:prstGeom>
          <a:solidFill>
            <a:schemeClr val="accent1"/>
          </a:solidFill>
          <a:ln w="6350">
            <a:solidFill>
              <a:schemeClr val="accent1"/>
            </a:solidFill>
            <a:prstDash val="solid"/>
          </a:ln>
        </p:spPr>
      </p:sp>
      <p:sp>
        <p:nvSpPr>
          <p:cNvPr id="31" name="Text 29"/>
          <p:cNvSpPr txBox="1"/>
          <p:nvPr/>
        </p:nvSpPr>
        <p:spPr>
          <a:xfrm>
            <a:off x="4480560" y="35844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2" name="Text 30"/>
          <p:cNvSpPr txBox="1"/>
          <p:nvPr/>
        </p:nvSpPr>
        <p:spPr>
          <a:xfrm>
            <a:off x="5029200" y="3584448"/>
            <a:ext cx="2651760" cy="411480"/>
          </a:xfrm>
          <a:prstGeom prst="rect">
            <a:avLst/>
          </a:prstGeom>
          <a:noFill/>
          <a:ln/>
        </p:spPr>
        <p:txBody>
          <a:bodyPr wrap="square" lIns="0" tIns="0" rIns="0" bIns="0" rtlCol="0" anchor="ctr"/>
          <a:lstStyle/>
          <a:p>
            <a:pPr indent="0" marL="0">
              <a:buNone/>
            </a:pPr>
            <a:r>
              <a:rPr lang="en-US" sz="1600" b="1" dirty="0">
                <a:solidFill>
                  <a:schemeClr val="tx2"/>
                </a:solidFill>
              </a:rPr>
              <a:t>Gate</a:t>
            </a:r>
            <a:endParaRPr lang="en-US" sz="1600" dirty="0"/>
          </a:p>
        </p:txBody>
      </p:sp>
      <p:sp>
        <p:nvSpPr>
          <p:cNvPr id="33" name="Text 31"/>
          <p:cNvSpPr txBox="1"/>
          <p:nvPr/>
        </p:nvSpPr>
        <p:spPr>
          <a:xfrm>
            <a:off x="4480560" y="4114800"/>
            <a:ext cx="3246120" cy="594360"/>
          </a:xfrm>
          <a:prstGeom prst="rect">
            <a:avLst/>
          </a:prstGeom>
          <a:noFill/>
          <a:ln/>
        </p:spPr>
        <p:txBody>
          <a:bodyPr wrap="square" lIns="0" tIns="0" rIns="0" bIns="0" rtlCol="0" anchor="t"/>
          <a:lstStyle/>
          <a:p>
            <a:pPr indent="0" marL="0">
              <a:buNone/>
            </a:pPr>
            <a:r>
              <a:rPr lang="en-US" sz="1300" dirty="0">
                <a:solidFill>
                  <a:schemeClr val="tx1"/>
                </a:solidFill>
              </a:rPr>
              <a:t>Gateごとの○×が想定と一致するか（どこで落としたか）</a:t>
            </a:r>
            <a:endParaRPr lang="en-US" sz="1300" dirty="0"/>
          </a:p>
        </p:txBody>
      </p:sp>
      <p:sp>
        <p:nvSpPr>
          <p:cNvPr id="34" name="Shape 32"/>
          <p:cNvSpPr/>
          <p:nvPr/>
        </p:nvSpPr>
        <p:spPr>
          <a:xfrm>
            <a:off x="8046720" y="3429000"/>
            <a:ext cx="3593592" cy="1325880"/>
          </a:xfrm>
          <a:prstGeom prst="roundRect">
            <a:avLst>
              <a:gd name="adj" fmla="val 5517"/>
            </a:avLst>
          </a:prstGeom>
          <a:solidFill>
            <a:schemeClr val="bg2"/>
          </a:solidFill>
          <a:ln w="6350">
            <a:solidFill>
              <a:schemeClr val="bg2"/>
            </a:solidFill>
            <a:prstDash val="solid"/>
          </a:ln>
        </p:spPr>
      </p:sp>
      <p:sp>
        <p:nvSpPr>
          <p:cNvPr id="35" name="Shape 33"/>
          <p:cNvSpPr/>
          <p:nvPr/>
        </p:nvSpPr>
        <p:spPr>
          <a:xfrm>
            <a:off x="8229600" y="3584448"/>
            <a:ext cx="411480" cy="411480"/>
          </a:xfrm>
          <a:prstGeom prst="ellipse">
            <a:avLst/>
          </a:prstGeom>
          <a:solidFill>
            <a:schemeClr val="accent1"/>
          </a:solidFill>
          <a:ln w="6350">
            <a:solidFill>
              <a:schemeClr val="accent1"/>
            </a:solidFill>
            <a:prstDash val="solid"/>
          </a:ln>
        </p:spPr>
      </p:sp>
      <p:sp>
        <p:nvSpPr>
          <p:cNvPr id="36" name="Text 34"/>
          <p:cNvSpPr txBox="1"/>
          <p:nvPr/>
        </p:nvSpPr>
        <p:spPr>
          <a:xfrm>
            <a:off x="8229600" y="35844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7" name="Text 35"/>
          <p:cNvSpPr txBox="1"/>
          <p:nvPr/>
        </p:nvSpPr>
        <p:spPr>
          <a:xfrm>
            <a:off x="8778240" y="3584448"/>
            <a:ext cx="2651760" cy="411480"/>
          </a:xfrm>
          <a:prstGeom prst="rect">
            <a:avLst/>
          </a:prstGeom>
          <a:noFill/>
          <a:ln/>
        </p:spPr>
        <p:txBody>
          <a:bodyPr wrap="square" lIns="0" tIns="0" rIns="0" bIns="0" rtlCol="0" anchor="ctr"/>
          <a:lstStyle/>
          <a:p>
            <a:pPr indent="0" marL="0">
              <a:buNone/>
            </a:pPr>
            <a:r>
              <a:rPr lang="en-US" sz="1600" b="1" dirty="0">
                <a:solidFill>
                  <a:schemeClr val="tx2"/>
                </a:solidFill>
              </a:rPr>
              <a:t>スコア</a:t>
            </a:r>
            <a:endParaRPr lang="en-US" sz="1600" dirty="0"/>
          </a:p>
        </p:txBody>
      </p:sp>
      <p:sp>
        <p:nvSpPr>
          <p:cNvPr id="38" name="Text 36"/>
          <p:cNvSpPr txBox="1"/>
          <p:nvPr/>
        </p:nvSpPr>
        <p:spPr>
          <a:xfrm>
            <a:off x="8229600" y="4114800"/>
            <a:ext cx="3246120" cy="594360"/>
          </a:xfrm>
          <a:prstGeom prst="rect">
            <a:avLst/>
          </a:prstGeom>
          <a:noFill/>
          <a:ln/>
        </p:spPr>
        <p:txBody>
          <a:bodyPr wrap="square" lIns="0" tIns="0" rIns="0" bIns="0" rtlCol="0" anchor="t"/>
          <a:lstStyle/>
          <a:p>
            <a:pPr indent="0" marL="0">
              <a:buNone/>
            </a:pPr>
            <a:r>
              <a:rPr lang="en-US" sz="1300" dirty="0">
                <a:solidFill>
                  <a:schemeClr val="tx1"/>
                </a:solidFill>
              </a:rPr>
              <a:t>3観点の点数と加重平均が想定と一致するか</a:t>
            </a:r>
            <a:endParaRPr lang="en-US" sz="1300" dirty="0"/>
          </a:p>
        </p:txBody>
      </p:sp>
      <p:sp>
        <p:nvSpPr>
          <p:cNvPr id="39" name="Shape 37"/>
          <p:cNvSpPr/>
          <p:nvPr/>
        </p:nvSpPr>
        <p:spPr>
          <a:xfrm>
            <a:off x="548640" y="4983480"/>
            <a:ext cx="11091672" cy="1097280"/>
          </a:xfrm>
          <a:prstGeom prst="roundRect">
            <a:avLst>
              <a:gd name="adj" fmla="val 6667"/>
            </a:avLst>
          </a:prstGeom>
          <a:solidFill>
            <a:schemeClr val="accent2">
              <a:alpha val="12000"/>
            </a:schemeClr>
          </a:solidFill>
          <a:ln w="9525">
            <a:solidFill>
              <a:schemeClr val="accent2">
                <a:alpha val="50000"/>
              </a:schemeClr>
            </a:solidFill>
            <a:prstDash val="solid"/>
          </a:ln>
        </p:spPr>
      </p:sp>
      <p:sp>
        <p:nvSpPr>
          <p:cNvPr id="40" name="Text 38"/>
          <p:cNvSpPr txBox="1"/>
          <p:nvPr/>
        </p:nvSpPr>
        <p:spPr>
          <a:xfrm>
            <a:off x="777240" y="5074920"/>
            <a:ext cx="2743200" cy="274320"/>
          </a:xfrm>
          <a:prstGeom prst="rect">
            <a:avLst/>
          </a:prstGeom>
          <a:noFill/>
          <a:ln/>
        </p:spPr>
        <p:txBody>
          <a:bodyPr wrap="square" lIns="0" tIns="0" rIns="0" bIns="0" rtlCol="0" anchor="t"/>
          <a:lstStyle/>
          <a:p>
            <a:pPr indent="0" marL="0">
              <a:buNone/>
            </a:pPr>
            <a:r>
              <a:rPr lang="en-US" sz="1400" b="1" dirty="0">
                <a:solidFill>
                  <a:schemeClr val="tx2"/>
                </a:solidFill>
              </a:rPr>
              <a:t>現在の状況</a:t>
            </a:r>
            <a:endParaRPr lang="en-US" sz="1400" dirty="0"/>
          </a:p>
        </p:txBody>
      </p:sp>
      <p:sp>
        <p:nvSpPr>
          <p:cNvPr id="41" name="Text 39"/>
          <p:cNvSpPr txBox="1"/>
          <p:nvPr/>
        </p:nvSpPr>
        <p:spPr>
          <a:xfrm>
            <a:off x="777240" y="5376672"/>
            <a:ext cx="10698480" cy="640080"/>
          </a:xfrm>
          <a:prstGeom prst="rect">
            <a:avLst/>
          </a:prstGeom>
          <a:noFill/>
          <a:ln/>
        </p:spPr>
        <p:txBody>
          <a:bodyPr wrap="square" lIns="0" tIns="0" rIns="0" bIns="0" rtlCol="0" anchor="t"/>
          <a:lstStyle/>
          <a:p>
            <a:pPr indent="0" marL="0">
              <a:buNone/>
            </a:pPr>
            <a:r>
              <a:rPr lang="en-US" sz="1400" dirty="0">
                <a:solidFill>
                  <a:schemeClr val="tx1"/>
                </a:solidFill>
              </a:rPr>
              <a:t>採点エージェントを作成し、88件のサンプルを使って「評価基準どおりに判定できるか」を確認している段階。サンプルは境界事例（v1.3）まで含めて作成済み</a:t>
            </a:r>
            <a:endParaRPr lang="en-US" sz="1400" dirty="0"/>
          </a:p>
        </p:txBody>
      </p:sp>
      <p:sp>
        <p:nvSpPr>
          <p:cNvPr id="42" name="Text 40"/>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出典：01_共通作成方針 §1・§4-2／CLAUDE.md</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5　採点エージェントの検証</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サンプルは作成指示書に沿って作る。上位資料と矛盾させないのが大原則</a:t>
            </a:r>
            <a:endParaRPr lang="en-US" sz="2400" dirty="0"/>
          </a:p>
        </p:txBody>
      </p:sp>
      <p:sp>
        <p:nvSpPr>
          <p:cNvPr id="4" name="Shape 2"/>
          <p:cNvSpPr/>
          <p:nvPr/>
        </p:nvSpPr>
        <p:spPr>
          <a:xfrm>
            <a:off x="548640" y="1508760"/>
            <a:ext cx="1737360" cy="731520"/>
          </a:xfrm>
          <a:prstGeom prst="roundRect">
            <a:avLst>
              <a:gd name="adj" fmla="val 10000"/>
            </a:avLst>
          </a:prstGeom>
          <a:solidFill>
            <a:schemeClr val="tx2"/>
          </a:solidFill>
          <a:ln w="6350">
            <a:solidFill>
              <a:schemeClr val="tx2"/>
            </a:solidFill>
            <a:prstDash val="solid"/>
          </a:ln>
        </p:spPr>
      </p:sp>
      <p:sp>
        <p:nvSpPr>
          <p:cNvPr id="5" name="Text 3"/>
          <p:cNvSpPr txBox="1"/>
          <p:nvPr/>
        </p:nvSpPr>
        <p:spPr>
          <a:xfrm>
            <a:off x="548640" y="150876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上位資料</a:t>
            </a:r>
            <a:endParaRPr lang="en-US" sz="1400" dirty="0"/>
          </a:p>
        </p:txBody>
      </p:sp>
      <p:sp>
        <p:nvSpPr>
          <p:cNvPr id="6" name="Shape 4"/>
          <p:cNvSpPr/>
          <p:nvPr/>
        </p:nvSpPr>
        <p:spPr>
          <a:xfrm>
            <a:off x="2377440" y="1508760"/>
            <a:ext cx="4572000" cy="731520"/>
          </a:xfrm>
          <a:prstGeom prst="roundRect">
            <a:avLst>
              <a:gd name="adj" fmla="val 10000"/>
            </a:avLst>
          </a:prstGeom>
          <a:solidFill>
            <a:schemeClr val="bg2"/>
          </a:solidFill>
          <a:ln w="6350">
            <a:solidFill>
              <a:schemeClr val="bg2"/>
            </a:solidFill>
            <a:prstDash val="solid"/>
          </a:ln>
        </p:spPr>
      </p:sp>
      <p:sp>
        <p:nvSpPr>
          <p:cNvPr id="7" name="Text 5"/>
          <p:cNvSpPr txBox="1"/>
          <p:nvPr/>
        </p:nvSpPr>
        <p:spPr>
          <a:xfrm>
            <a:off x="2560320" y="1581912"/>
            <a:ext cx="4297680" cy="274320"/>
          </a:xfrm>
          <a:prstGeom prst="rect">
            <a:avLst/>
          </a:prstGeom>
          <a:noFill/>
          <a:ln/>
        </p:spPr>
        <p:txBody>
          <a:bodyPr wrap="square" lIns="0" tIns="0" rIns="0" bIns="0" rtlCol="0" anchor="t"/>
          <a:lstStyle/>
          <a:p>
            <a:pPr indent="0" marL="0">
              <a:buNone/>
            </a:pPr>
            <a:r>
              <a:rPr lang="en-US" sz="1300" b="1" dirty="0">
                <a:solidFill>
                  <a:schemeClr val="tx2"/>
                </a:solidFill>
              </a:rPr>
              <a:t>確定案PDF・設計資料01〜04</a:t>
            </a:r>
            <a:endParaRPr lang="en-US" sz="1300" dirty="0"/>
          </a:p>
        </p:txBody>
      </p:sp>
      <p:sp>
        <p:nvSpPr>
          <p:cNvPr id="8" name="Text 6"/>
          <p:cNvSpPr txBox="1"/>
          <p:nvPr/>
        </p:nvSpPr>
        <p:spPr>
          <a:xfrm>
            <a:off x="2560320" y="1856232"/>
            <a:ext cx="4297680" cy="347472"/>
          </a:xfrm>
          <a:prstGeom prst="rect">
            <a:avLst/>
          </a:prstGeom>
          <a:noFill/>
          <a:ln/>
        </p:spPr>
        <p:txBody>
          <a:bodyPr wrap="square" lIns="0" tIns="0" rIns="0" bIns="0" rtlCol="0" anchor="t"/>
          <a:lstStyle/>
          <a:p>
            <a:pPr indent="0" marL="0">
              <a:buNone/>
            </a:pPr>
            <a:r>
              <a:rPr lang="en-US" sz="1100" dirty="0">
                <a:solidFill>
                  <a:schemeClr val="tx1"/>
                </a:solidFill>
              </a:rPr>
              <a:t>判定ルールの正本。作成指示書はこれと矛盾させない</a:t>
            </a:r>
            <a:endParaRPr lang="en-US" sz="1100" dirty="0"/>
          </a:p>
        </p:txBody>
      </p:sp>
      <p:sp>
        <p:nvSpPr>
          <p:cNvPr id="9" name="Shape 7"/>
          <p:cNvSpPr/>
          <p:nvPr/>
        </p:nvSpPr>
        <p:spPr>
          <a:xfrm>
            <a:off x="548640" y="2350008"/>
            <a:ext cx="1737360" cy="731520"/>
          </a:xfrm>
          <a:prstGeom prst="roundRect">
            <a:avLst>
              <a:gd name="adj" fmla="val 10000"/>
            </a:avLst>
          </a:prstGeom>
          <a:solidFill>
            <a:schemeClr val="accent1"/>
          </a:solidFill>
          <a:ln w="6350">
            <a:solidFill>
              <a:schemeClr val="accent1"/>
            </a:solidFill>
            <a:prstDash val="solid"/>
          </a:ln>
        </p:spPr>
      </p:sp>
      <p:sp>
        <p:nvSpPr>
          <p:cNvPr id="10" name="Text 8"/>
          <p:cNvSpPr txBox="1"/>
          <p:nvPr/>
        </p:nvSpPr>
        <p:spPr>
          <a:xfrm>
            <a:off x="548640" y="2350008"/>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作業ルール</a:t>
            </a:r>
            <a:endParaRPr lang="en-US" sz="1400" dirty="0"/>
          </a:p>
        </p:txBody>
      </p:sp>
      <p:sp>
        <p:nvSpPr>
          <p:cNvPr id="11" name="Shape 9"/>
          <p:cNvSpPr/>
          <p:nvPr/>
        </p:nvSpPr>
        <p:spPr>
          <a:xfrm>
            <a:off x="2377440" y="2350008"/>
            <a:ext cx="4572000" cy="731520"/>
          </a:xfrm>
          <a:prstGeom prst="roundRect">
            <a:avLst>
              <a:gd name="adj" fmla="val 10000"/>
            </a:avLst>
          </a:prstGeom>
          <a:solidFill>
            <a:schemeClr val="bg2"/>
          </a:solidFill>
          <a:ln w="6350">
            <a:solidFill>
              <a:schemeClr val="bg2"/>
            </a:solidFill>
            <a:prstDash val="solid"/>
          </a:ln>
        </p:spPr>
      </p:sp>
      <p:sp>
        <p:nvSpPr>
          <p:cNvPr id="12" name="Text 10"/>
          <p:cNvSpPr txBox="1"/>
          <p:nvPr/>
        </p:nvSpPr>
        <p:spPr>
          <a:xfrm>
            <a:off x="2560320" y="2423160"/>
            <a:ext cx="4297680" cy="274320"/>
          </a:xfrm>
          <a:prstGeom prst="rect">
            <a:avLst/>
          </a:prstGeom>
          <a:noFill/>
          <a:ln/>
        </p:spPr>
        <p:txBody>
          <a:bodyPr wrap="square" lIns="0" tIns="0" rIns="0" bIns="0" rtlCol="0" anchor="t"/>
          <a:lstStyle/>
          <a:p>
            <a:pPr indent="0" marL="0">
              <a:buNone/>
            </a:pPr>
            <a:r>
              <a:rPr lang="en-US" sz="1300" b="1" dirty="0">
                <a:solidFill>
                  <a:schemeClr val="tx2"/>
                </a:solidFill>
              </a:rPr>
              <a:t>CLAUDE.md</a:t>
            </a:r>
            <a:endParaRPr lang="en-US" sz="1300" dirty="0"/>
          </a:p>
        </p:txBody>
      </p:sp>
      <p:sp>
        <p:nvSpPr>
          <p:cNvPr id="13" name="Text 11"/>
          <p:cNvSpPr txBox="1"/>
          <p:nvPr/>
        </p:nvSpPr>
        <p:spPr>
          <a:xfrm>
            <a:off x="2560320" y="2697480"/>
            <a:ext cx="4297680" cy="347472"/>
          </a:xfrm>
          <a:prstGeom prst="rect">
            <a:avLst/>
          </a:prstGeom>
          <a:noFill/>
          <a:ln/>
        </p:spPr>
        <p:txBody>
          <a:bodyPr wrap="square" lIns="0" tIns="0" rIns="0" bIns="0" rtlCol="0" anchor="t"/>
          <a:lstStyle/>
          <a:p>
            <a:pPr indent="0" marL="0">
              <a:buNone/>
            </a:pPr>
            <a:r>
              <a:rPr lang="en-US" sz="1100" dirty="0">
                <a:solidFill>
                  <a:schemeClr val="tx1"/>
                </a:solidFill>
              </a:rPr>
              <a:t>資料の優先順位、審査ロジックの中核、変えてはいけない制約</a:t>
            </a:r>
            <a:endParaRPr lang="en-US" sz="1100" dirty="0"/>
          </a:p>
        </p:txBody>
      </p:sp>
      <p:sp>
        <p:nvSpPr>
          <p:cNvPr id="14" name="Shape 12"/>
          <p:cNvSpPr/>
          <p:nvPr/>
        </p:nvSpPr>
        <p:spPr>
          <a:xfrm>
            <a:off x="548640" y="3191256"/>
            <a:ext cx="1737360" cy="731520"/>
          </a:xfrm>
          <a:prstGeom prst="roundRect">
            <a:avLst>
              <a:gd name="adj" fmla="val 10000"/>
            </a:avLst>
          </a:prstGeom>
          <a:solidFill>
            <a:schemeClr val="accent1"/>
          </a:solidFill>
          <a:ln w="6350">
            <a:solidFill>
              <a:schemeClr val="accent1"/>
            </a:solidFill>
            <a:prstDash val="solid"/>
          </a:ln>
        </p:spPr>
      </p:sp>
      <p:sp>
        <p:nvSpPr>
          <p:cNvPr id="15" name="Text 13"/>
          <p:cNvSpPr txBox="1"/>
          <p:nvPr/>
        </p:nvSpPr>
        <p:spPr>
          <a:xfrm>
            <a:off x="548640" y="3191256"/>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共通方針</a:t>
            </a:r>
            <a:endParaRPr lang="en-US" sz="1400" dirty="0"/>
          </a:p>
        </p:txBody>
      </p:sp>
      <p:sp>
        <p:nvSpPr>
          <p:cNvPr id="16" name="Shape 14"/>
          <p:cNvSpPr/>
          <p:nvPr/>
        </p:nvSpPr>
        <p:spPr>
          <a:xfrm>
            <a:off x="2377440" y="3191256"/>
            <a:ext cx="4572000" cy="731520"/>
          </a:xfrm>
          <a:prstGeom prst="roundRect">
            <a:avLst>
              <a:gd name="adj" fmla="val 10000"/>
            </a:avLst>
          </a:prstGeom>
          <a:solidFill>
            <a:schemeClr val="bg2"/>
          </a:solidFill>
          <a:ln w="6350">
            <a:solidFill>
              <a:schemeClr val="bg2"/>
            </a:solidFill>
            <a:prstDash val="solid"/>
          </a:ln>
        </p:spPr>
      </p:sp>
      <p:sp>
        <p:nvSpPr>
          <p:cNvPr id="17" name="Text 15"/>
          <p:cNvSpPr txBox="1"/>
          <p:nvPr/>
        </p:nvSpPr>
        <p:spPr>
          <a:xfrm>
            <a:off x="2560320" y="3264408"/>
            <a:ext cx="4297680" cy="274320"/>
          </a:xfrm>
          <a:prstGeom prst="rect">
            <a:avLst/>
          </a:prstGeom>
          <a:noFill/>
          <a:ln/>
        </p:spPr>
        <p:txBody>
          <a:bodyPr wrap="square" lIns="0" tIns="0" rIns="0" bIns="0" rtlCol="0" anchor="t"/>
          <a:lstStyle/>
          <a:p>
            <a:pPr indent="0" marL="0">
              <a:buNone/>
            </a:pPr>
            <a:r>
              <a:rPr lang="en-US" sz="1300" b="1" dirty="0">
                <a:solidFill>
                  <a:schemeClr val="tx2"/>
                </a:solidFill>
              </a:rPr>
              <a:t>01_共通作成方針.md（v1.4）</a:t>
            </a:r>
            <a:endParaRPr lang="en-US" sz="1300" dirty="0"/>
          </a:p>
        </p:txBody>
      </p:sp>
      <p:sp>
        <p:nvSpPr>
          <p:cNvPr id="18" name="Text 16"/>
          <p:cNvSpPr txBox="1"/>
          <p:nvPr/>
        </p:nvSpPr>
        <p:spPr>
          <a:xfrm>
            <a:off x="2560320" y="3538728"/>
            <a:ext cx="4297680" cy="347472"/>
          </a:xfrm>
          <a:prstGeom prst="rect">
            <a:avLst/>
          </a:prstGeom>
          <a:noFill/>
          <a:ln/>
        </p:spPr>
        <p:txBody>
          <a:bodyPr wrap="square" lIns="0" tIns="0" rIns="0" bIns="0" rtlCol="0" anchor="t"/>
          <a:lstStyle/>
          <a:p>
            <a:pPr indent="0" marL="0">
              <a:buNone/>
            </a:pPr>
            <a:r>
              <a:rPr lang="en-US" sz="1100" dirty="0">
                <a:solidFill>
                  <a:schemeClr val="tx1"/>
                </a:solidFill>
              </a:rPr>
              <a:t>出力形式・記法・判定区分の作り分け・整合性・匿名化・チェックリスト</a:t>
            </a:r>
            <a:endParaRPr lang="en-US" sz="1100" dirty="0"/>
          </a:p>
        </p:txBody>
      </p:sp>
      <p:sp>
        <p:nvSpPr>
          <p:cNvPr id="19" name="Shape 17"/>
          <p:cNvSpPr/>
          <p:nvPr/>
        </p:nvSpPr>
        <p:spPr>
          <a:xfrm>
            <a:off x="548640" y="4032504"/>
            <a:ext cx="1737360" cy="731520"/>
          </a:xfrm>
          <a:prstGeom prst="roundRect">
            <a:avLst>
              <a:gd name="adj" fmla="val 10000"/>
            </a:avLst>
          </a:prstGeom>
          <a:solidFill>
            <a:schemeClr val="accent1"/>
          </a:solidFill>
          <a:ln w="6350">
            <a:solidFill>
              <a:schemeClr val="accent1"/>
            </a:solidFill>
            <a:prstDash val="solid"/>
          </a:ln>
        </p:spPr>
      </p:sp>
      <p:sp>
        <p:nvSpPr>
          <p:cNvPr id="20" name="Text 18"/>
          <p:cNvSpPr txBox="1"/>
          <p:nvPr/>
        </p:nvSpPr>
        <p:spPr>
          <a:xfrm>
            <a:off x="548640" y="4032504"/>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レベル別</a:t>
            </a:r>
            <a:endParaRPr lang="en-US" sz="1400" dirty="0"/>
          </a:p>
        </p:txBody>
      </p:sp>
      <p:sp>
        <p:nvSpPr>
          <p:cNvPr id="21" name="Shape 19"/>
          <p:cNvSpPr/>
          <p:nvPr/>
        </p:nvSpPr>
        <p:spPr>
          <a:xfrm>
            <a:off x="2377440" y="4032504"/>
            <a:ext cx="4572000" cy="731520"/>
          </a:xfrm>
          <a:prstGeom prst="roundRect">
            <a:avLst>
              <a:gd name="adj" fmla="val 10000"/>
            </a:avLst>
          </a:prstGeom>
          <a:solidFill>
            <a:schemeClr val="bg2"/>
          </a:solidFill>
          <a:ln w="6350">
            <a:solidFill>
              <a:schemeClr val="bg2"/>
            </a:solidFill>
            <a:prstDash val="solid"/>
          </a:ln>
        </p:spPr>
      </p:sp>
      <p:sp>
        <p:nvSpPr>
          <p:cNvPr id="22" name="Text 20"/>
          <p:cNvSpPr txBox="1"/>
          <p:nvPr/>
        </p:nvSpPr>
        <p:spPr>
          <a:xfrm>
            <a:off x="2560320" y="4105656"/>
            <a:ext cx="4297680" cy="274320"/>
          </a:xfrm>
          <a:prstGeom prst="rect">
            <a:avLst/>
          </a:prstGeom>
          <a:noFill/>
          <a:ln/>
        </p:spPr>
        <p:txBody>
          <a:bodyPr wrap="square" lIns="0" tIns="0" rIns="0" bIns="0" rtlCol="0" anchor="t"/>
          <a:lstStyle/>
          <a:p>
            <a:pPr indent="0" marL="0">
              <a:buNone/>
            </a:pPr>
            <a:r>
              <a:rPr lang="en-US" sz="1300" b="1" dirty="0">
                <a:solidFill>
                  <a:schemeClr val="tx2"/>
                </a:solidFill>
              </a:rPr>
              <a:t>lv2／lv3／lv4-prompt_改訂版.md</a:t>
            </a:r>
            <a:endParaRPr lang="en-US" sz="1300" dirty="0"/>
          </a:p>
        </p:txBody>
      </p:sp>
      <p:sp>
        <p:nvSpPr>
          <p:cNvPr id="23" name="Text 21"/>
          <p:cNvSpPr txBox="1"/>
          <p:nvPr/>
        </p:nvSpPr>
        <p:spPr>
          <a:xfrm>
            <a:off x="2560320" y="4379976"/>
            <a:ext cx="4297680" cy="347472"/>
          </a:xfrm>
          <a:prstGeom prst="rect">
            <a:avLst/>
          </a:prstGeom>
          <a:noFill/>
          <a:ln/>
        </p:spPr>
        <p:txBody>
          <a:bodyPr wrap="square" lIns="0" tIns="0" rIns="0" bIns="0" rtlCol="0" anchor="t"/>
          <a:lstStyle/>
          <a:p>
            <a:pPr indent="0" marL="0">
              <a:buNone/>
            </a:pPr>
            <a:r>
              <a:rPr lang="en-US" sz="1100" dirty="0">
                <a:solidFill>
                  <a:schemeClr val="tx1"/>
                </a:solidFill>
              </a:rPr>
              <a:t>ペルソナ、Gateの根拠項目、採点水準、境界事例の点数の組合せ</a:t>
            </a:r>
            <a:endParaRPr lang="en-US" sz="1100" dirty="0"/>
          </a:p>
        </p:txBody>
      </p:sp>
      <p:sp>
        <p:nvSpPr>
          <p:cNvPr id="24" name="Shape 22"/>
          <p:cNvSpPr/>
          <p:nvPr/>
        </p:nvSpPr>
        <p:spPr>
          <a:xfrm>
            <a:off x="548640" y="4873752"/>
            <a:ext cx="1737360" cy="731520"/>
          </a:xfrm>
          <a:prstGeom prst="roundRect">
            <a:avLst>
              <a:gd name="adj" fmla="val 10000"/>
            </a:avLst>
          </a:prstGeom>
          <a:solidFill>
            <a:schemeClr val="accent5"/>
          </a:solidFill>
          <a:ln w="6350">
            <a:solidFill>
              <a:schemeClr val="accent5"/>
            </a:solidFill>
            <a:prstDash val="solid"/>
          </a:ln>
        </p:spPr>
      </p:sp>
      <p:sp>
        <p:nvSpPr>
          <p:cNvPr id="25" name="Text 23"/>
          <p:cNvSpPr txBox="1"/>
          <p:nvPr/>
        </p:nvSpPr>
        <p:spPr>
          <a:xfrm>
            <a:off x="548640" y="4873752"/>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経緯の記録</a:t>
            </a:r>
            <a:endParaRPr lang="en-US" sz="1400" dirty="0"/>
          </a:p>
        </p:txBody>
      </p:sp>
      <p:sp>
        <p:nvSpPr>
          <p:cNvPr id="26" name="Shape 24"/>
          <p:cNvSpPr/>
          <p:nvPr/>
        </p:nvSpPr>
        <p:spPr>
          <a:xfrm>
            <a:off x="2377440" y="4873752"/>
            <a:ext cx="4572000" cy="731520"/>
          </a:xfrm>
          <a:prstGeom prst="roundRect">
            <a:avLst>
              <a:gd name="adj" fmla="val 10000"/>
            </a:avLst>
          </a:prstGeom>
          <a:solidFill>
            <a:schemeClr val="bg2"/>
          </a:solidFill>
          <a:ln w="6350">
            <a:solidFill>
              <a:schemeClr val="bg2"/>
            </a:solidFill>
            <a:prstDash val="solid"/>
          </a:ln>
        </p:spPr>
      </p:sp>
      <p:sp>
        <p:nvSpPr>
          <p:cNvPr id="27" name="Text 25"/>
          <p:cNvSpPr txBox="1"/>
          <p:nvPr/>
        </p:nvSpPr>
        <p:spPr>
          <a:xfrm>
            <a:off x="2560320" y="4946904"/>
            <a:ext cx="4297680" cy="274320"/>
          </a:xfrm>
          <a:prstGeom prst="rect">
            <a:avLst/>
          </a:prstGeom>
          <a:noFill/>
          <a:ln/>
        </p:spPr>
        <p:txBody>
          <a:bodyPr wrap="square" lIns="0" tIns="0" rIns="0" bIns="0" rtlCol="0" anchor="t"/>
          <a:lstStyle/>
          <a:p>
            <a:pPr indent="0" marL="0">
              <a:buNone/>
            </a:pPr>
            <a:r>
              <a:rPr lang="en-US" sz="1300" b="1" dirty="0">
                <a:solidFill>
                  <a:schemeClr val="tx2"/>
                </a:solidFill>
              </a:rPr>
              <a:t>境界事例追加方針.md</a:t>
            </a:r>
            <a:endParaRPr lang="en-US" sz="1300" dirty="0"/>
          </a:p>
        </p:txBody>
      </p:sp>
      <p:sp>
        <p:nvSpPr>
          <p:cNvPr id="28" name="Text 26"/>
          <p:cNvSpPr txBox="1"/>
          <p:nvPr/>
        </p:nvSpPr>
        <p:spPr>
          <a:xfrm>
            <a:off x="2560320" y="5221224"/>
            <a:ext cx="4297680" cy="347472"/>
          </a:xfrm>
          <a:prstGeom prst="rect">
            <a:avLst/>
          </a:prstGeom>
          <a:noFill/>
          <a:ln/>
        </p:spPr>
        <p:txBody>
          <a:bodyPr wrap="square" lIns="0" tIns="0" rIns="0" bIns="0" rtlCol="0" anchor="t"/>
          <a:lstStyle/>
          <a:p>
            <a:pPr indent="0" marL="0">
              <a:buNone/>
            </a:pPr>
            <a:r>
              <a:rPr lang="en-US" sz="1100" dirty="0">
                <a:solidFill>
                  <a:schemeClr val="tx1"/>
                </a:solidFill>
              </a:rPr>
              <a:t>境界事例を追加した理由と検討経緯。確定内容は各mdの§6-4が正</a:t>
            </a:r>
            <a:endParaRPr lang="en-US" sz="1100" dirty="0"/>
          </a:p>
        </p:txBody>
      </p:sp>
      <p:sp>
        <p:nvSpPr>
          <p:cNvPr id="29" name="Shape 27"/>
          <p:cNvSpPr/>
          <p:nvPr/>
        </p:nvSpPr>
        <p:spPr>
          <a:xfrm>
            <a:off x="7223760" y="1508760"/>
            <a:ext cx="4416552" cy="4114800"/>
          </a:xfrm>
          <a:prstGeom prst="roundRect">
            <a:avLst>
              <a:gd name="adj" fmla="val 1778"/>
            </a:avLst>
          </a:prstGeom>
          <a:solidFill>
            <a:schemeClr val="tx2"/>
          </a:solidFill>
          <a:ln w="6350">
            <a:solidFill>
              <a:schemeClr val="tx2"/>
            </a:solidFill>
            <a:prstDash val="solid"/>
          </a:ln>
        </p:spPr>
      </p:sp>
      <p:sp>
        <p:nvSpPr>
          <p:cNvPr id="30" name="Text 28"/>
          <p:cNvSpPr txBox="1"/>
          <p:nvPr/>
        </p:nvSpPr>
        <p:spPr>
          <a:xfrm>
            <a:off x="7452360" y="1645920"/>
            <a:ext cx="4023360" cy="320040"/>
          </a:xfrm>
          <a:prstGeom prst="rect">
            <a:avLst/>
          </a:prstGeom>
          <a:noFill/>
          <a:ln/>
        </p:spPr>
        <p:txBody>
          <a:bodyPr wrap="square" lIns="0" tIns="0" rIns="0" bIns="0" rtlCol="0" anchor="t"/>
          <a:lstStyle/>
          <a:p>
            <a:pPr indent="0" marL="0">
              <a:buNone/>
            </a:pPr>
            <a:r>
              <a:rPr lang="en-US" sz="1500" b="1" dirty="0">
                <a:solidFill>
                  <a:schemeClr val="accent2"/>
                </a:solidFill>
              </a:rPr>
              <a:t>作成時の主なルール</a:t>
            </a:r>
            <a:endParaRPr lang="en-US" sz="1500" dirty="0"/>
          </a:p>
        </p:txBody>
      </p:sp>
      <p:sp>
        <p:nvSpPr>
          <p:cNvPr id="31" name="Text 29"/>
          <p:cNvSpPr txBox="1"/>
          <p:nvPr/>
        </p:nvSpPr>
        <p:spPr>
          <a:xfrm>
            <a:off x="7452360" y="2057400"/>
            <a:ext cx="4023360"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事実（人数・期間・単位数・Before/After）は構造化項目に書く</a:t>
            </a:r>
            <a:endParaRPr lang="en-US" sz="1300" dirty="0"/>
          </a:p>
          <a:p>
            <a:pPr marL="177800" indent="-177800">
              <a:spcAft>
                <a:spcPts val="600"/>
              </a:spcAft>
              <a:buSzPct val="100000"/>
              <a:buChar char="•"/>
            </a:pPr>
            <a:r>
              <a:rPr lang="en-US" sz="1300" dirty="0">
                <a:solidFill>
                  <a:schemeClr val="bg1"/>
                </a:solidFill>
              </a:rPr>
              <a:t>書いていない事実は存在しない扱い。審査AIは推測しない</a:t>
            </a:r>
            <a:endParaRPr lang="en-US" sz="1300" dirty="0"/>
          </a:p>
          <a:p>
            <a:pPr marL="177800" indent="-177800">
              <a:spcAft>
                <a:spcPts val="600"/>
              </a:spcAft>
              <a:buSzPct val="100000"/>
              <a:buChar char="•"/>
            </a:pPr>
            <a:r>
              <a:rPr lang="en-US" sz="1300" dirty="0">
                <a:solidFill>
                  <a:schemeClr val="bg1"/>
                </a:solidFill>
              </a:rPr>
              <a:t>予定・計画・期待効果は成果として書かない</a:t>
            </a:r>
            <a:endParaRPr lang="en-US" sz="1300" dirty="0"/>
          </a:p>
          <a:p>
            <a:pPr marL="177800" indent="-177800">
              <a:spcAft>
                <a:spcPts val="600"/>
              </a:spcAft>
              <a:buSzPct val="100000"/>
              <a:buChar char="•"/>
            </a:pPr>
            <a:r>
              <a:rPr lang="en-US" sz="1300" dirty="0">
                <a:solidFill>
                  <a:schemeClr val="bg1"/>
                </a:solidFill>
              </a:rPr>
              <a:t>文章量・専門用語・製品名・役職・人数で水準を演出しない</a:t>
            </a:r>
            <a:endParaRPr lang="en-US" sz="1300" dirty="0"/>
          </a:p>
          <a:p>
            <a:pPr marL="177800" indent="-177800">
              <a:spcAft>
                <a:spcPts val="600"/>
              </a:spcAft>
              <a:buSzPct val="100000"/>
              <a:buChar char="•"/>
            </a:pPr>
            <a:r>
              <a:rPr lang="en-US" sz="1300" dirty="0">
                <a:solidFill>
                  <a:schemeClr val="bg1"/>
                </a:solidFill>
              </a:rPr>
              <a:t>情報不足を意図する場合以外、空欄を作らない</a:t>
            </a:r>
            <a:endParaRPr lang="en-US" sz="1300" dirty="0"/>
          </a:p>
          <a:p>
            <a:pPr marL="177800" indent="-177800">
              <a:spcAft>
                <a:spcPts val="600"/>
              </a:spcAft>
              <a:buSzPct val="100000"/>
              <a:buChar char="•"/>
            </a:pPr>
            <a:r>
              <a:rPr lang="en-US" sz="1300" dirty="0">
                <a:solidFill>
                  <a:schemeClr val="bg1"/>
                </a:solidFill>
              </a:rPr>
              <a:t>実名・顧客名・案件名は執筆時点から使わない</a:t>
            </a:r>
            <a:endParaRPr lang="en-US" sz="1300" dirty="0"/>
          </a:p>
        </p:txBody>
      </p:sp>
      <p:sp>
        <p:nvSpPr>
          <p:cNvPr id="32" name="Text 30"/>
          <p:cNvSpPr txBox="1"/>
          <p:nvPr/>
        </p:nvSpPr>
        <p:spPr>
          <a:xfrm>
            <a:off x="548640" y="5779008"/>
            <a:ext cx="11091672" cy="274320"/>
          </a:xfrm>
          <a:prstGeom prst="rect">
            <a:avLst/>
          </a:prstGeom>
          <a:noFill/>
          <a:ln/>
        </p:spPr>
        <p:txBody>
          <a:bodyPr wrap="square" lIns="0" tIns="0" rIns="0" bIns="0" rtlCol="0" anchor="t"/>
          <a:lstStyle/>
          <a:p>
            <a:pPr indent="0" marL="0">
              <a:buNone/>
            </a:pPr>
            <a:r>
              <a:rPr lang="en-US" sz="1200" b="1" dirty="0">
                <a:solidFill>
                  <a:schemeClr val="accent4"/>
                </a:solidFill>
              </a:rPr>
              <a:t>上位資料を改訂したら、01_共通作成方針の見直しが必要かを必ず確認する</a:t>
            </a:r>
            <a:endParaRPr lang="en-US" sz="1200" dirty="0"/>
          </a:p>
        </p:txBody>
      </p:sp>
      <p:sp>
        <p:nvSpPr>
          <p:cNvPr id="33" name="Text 31"/>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出典：CLAUDE.md「ディレクトリ構成と資料の優先順位」／01_共通作成方針 §3</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5　採点エージェントの検証</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サンプル1件は「申請内容」と「正解（教材メタ情報）」の2ブロック</a:t>
            </a:r>
            <a:endParaRPr lang="en-US" sz="2400" dirty="0"/>
          </a:p>
        </p:txBody>
      </p:sp>
      <p:sp>
        <p:nvSpPr>
          <p:cNvPr id="4" name="Shape 2"/>
          <p:cNvSpPr/>
          <p:nvPr/>
        </p:nvSpPr>
        <p:spPr>
          <a:xfrm>
            <a:off x="548640" y="1508760"/>
            <a:ext cx="4937760" cy="4572000"/>
          </a:xfrm>
          <a:prstGeom prst="roundRect">
            <a:avLst>
              <a:gd name="adj" fmla="val 1600"/>
            </a:avLst>
          </a:prstGeom>
          <a:solidFill>
            <a:schemeClr val="bg2"/>
          </a:solidFill>
          <a:ln w="6350">
            <a:solidFill>
              <a:schemeClr val="bg2"/>
            </a:solidFill>
            <a:prstDash val="solid"/>
          </a:ln>
        </p:spPr>
      </p:sp>
      <p:sp>
        <p:nvSpPr>
          <p:cNvPr id="5" name="Text 3"/>
          <p:cNvSpPr txBox="1"/>
          <p:nvPr/>
        </p:nvSpPr>
        <p:spPr>
          <a:xfrm>
            <a:off x="777240" y="1627632"/>
            <a:ext cx="4572000" cy="274320"/>
          </a:xfrm>
          <a:prstGeom prst="rect">
            <a:avLst/>
          </a:prstGeom>
          <a:noFill/>
          <a:ln/>
        </p:spPr>
        <p:txBody>
          <a:bodyPr wrap="square" lIns="0" tIns="0" rIns="0" bIns="0" rtlCol="0" anchor="t"/>
          <a:lstStyle/>
          <a:p>
            <a:pPr indent="0" marL="0">
              <a:buNone/>
            </a:pPr>
            <a:r>
              <a:rPr lang="en-US" sz="1300" b="1" dirty="0">
                <a:solidFill>
                  <a:schemeClr val="accent5"/>
                </a:solidFill>
              </a:rPr>
              <a:t>サンプルファイルの中身</a:t>
            </a:r>
            <a:endParaRPr lang="en-US" sz="1300" dirty="0"/>
          </a:p>
        </p:txBody>
      </p:sp>
      <p:sp>
        <p:nvSpPr>
          <p:cNvPr id="6" name="Shape 4"/>
          <p:cNvSpPr/>
          <p:nvPr/>
        </p:nvSpPr>
        <p:spPr>
          <a:xfrm>
            <a:off x="777240" y="1965960"/>
            <a:ext cx="4480560" cy="2514600"/>
          </a:xfrm>
          <a:prstGeom prst="roundRect">
            <a:avLst>
              <a:gd name="adj" fmla="val 2182"/>
            </a:avLst>
          </a:prstGeom>
          <a:solidFill>
            <a:schemeClr val="bg1"/>
          </a:solidFill>
          <a:ln w="15875">
            <a:solidFill>
              <a:schemeClr val="accent1"/>
            </a:solidFill>
            <a:prstDash val="solid"/>
          </a:ln>
        </p:spPr>
      </p:sp>
      <p:sp>
        <p:nvSpPr>
          <p:cNvPr id="7" name="Text 5"/>
          <p:cNvSpPr txBox="1"/>
          <p:nvPr/>
        </p:nvSpPr>
        <p:spPr>
          <a:xfrm>
            <a:off x="960120" y="2057400"/>
            <a:ext cx="4114800" cy="292608"/>
          </a:xfrm>
          <a:prstGeom prst="rect">
            <a:avLst/>
          </a:prstGeom>
          <a:noFill/>
          <a:ln/>
        </p:spPr>
        <p:txBody>
          <a:bodyPr wrap="square" lIns="0" tIns="0" rIns="0" bIns="0" rtlCol="0" anchor="t"/>
          <a:lstStyle/>
          <a:p>
            <a:pPr indent="0" marL="0">
              <a:buNone/>
            </a:pPr>
            <a:r>
              <a:rPr lang="en-US" sz="1300" b="1" dirty="0">
                <a:solidFill>
                  <a:schemeClr val="accent1"/>
                </a:solidFill>
              </a:rPr>
              <a:t>【申請内容】　→ 審査AIに入力する</a:t>
            </a:r>
            <a:endParaRPr lang="en-US" sz="1300" dirty="0"/>
          </a:p>
        </p:txBody>
      </p:sp>
      <p:sp>
        <p:nvSpPr>
          <p:cNvPr id="8" name="Text 6"/>
          <p:cNvSpPr txBox="1"/>
          <p:nvPr/>
        </p:nvSpPr>
        <p:spPr>
          <a:xfrm>
            <a:off x="960120" y="2395728"/>
            <a:ext cx="4114800" cy="2011680"/>
          </a:xfrm>
          <a:prstGeom prst="rect">
            <a:avLst/>
          </a:prstGeom>
          <a:noFill/>
          <a:ln/>
        </p:spPr>
        <p:txBody>
          <a:bodyPr wrap="square" lIns="0" tIns="0" rIns="0" bIns="0" rtlCol="0" anchor="t"/>
          <a:lstStyle/>
          <a:p>
            <a:pPr marL="177800" indent="-177800">
              <a:spcAft>
                <a:spcPts val="100"/>
              </a:spcAft>
              <a:buSzPct val="100000"/>
              <a:buChar char="•"/>
            </a:pPr>
            <a:r>
              <a:rPr lang="en-US" sz="1200" dirty="0">
                <a:solidFill>
                  <a:schemeClr val="tx1"/>
                </a:solidFill>
              </a:rPr>
              <a:t>セクション0　基本情報</a:t>
            </a:r>
            <a:endParaRPr lang="en-US" sz="1200" dirty="0"/>
          </a:p>
          <a:p>
            <a:pPr marL="177800" indent="-177800">
              <a:spcAft>
                <a:spcPts val="100"/>
              </a:spcAft>
              <a:buSzPct val="100000"/>
              <a:buChar char="•"/>
            </a:pPr>
            <a:r>
              <a:rPr lang="en-US" sz="1200" dirty="0">
                <a:solidFill>
                  <a:schemeClr val="tx1"/>
                </a:solidFill>
              </a:rPr>
              <a:t>セクション1　事例概要・課題</a:t>
            </a:r>
            <a:endParaRPr lang="en-US" sz="1200" dirty="0"/>
          </a:p>
          <a:p>
            <a:pPr marL="177800" indent="-177800">
              <a:spcAft>
                <a:spcPts val="100"/>
              </a:spcAft>
              <a:buSzPct val="100000"/>
              <a:buChar char="•"/>
            </a:pPr>
            <a:r>
              <a:rPr lang="en-US" sz="1200" dirty="0">
                <a:solidFill>
                  <a:schemeClr val="tx1"/>
                </a:solidFill>
              </a:rPr>
              <a:t>セクション2　AI活用・本人の役割</a:t>
            </a:r>
            <a:endParaRPr lang="en-US" sz="1200" dirty="0"/>
          </a:p>
          <a:p>
            <a:pPr marL="177800" indent="-177800">
              <a:spcAft>
                <a:spcPts val="100"/>
              </a:spcAft>
              <a:buSzPct val="100000"/>
              <a:buChar char="•"/>
            </a:pPr>
            <a:r>
              <a:rPr lang="en-US" sz="1200" dirty="0">
                <a:solidFill>
                  <a:schemeClr val="tx1"/>
                </a:solidFill>
              </a:rPr>
              <a:t>セクション3　成果</a:t>
            </a:r>
            <a:endParaRPr lang="en-US" sz="1200" dirty="0"/>
          </a:p>
          <a:p>
            <a:pPr marL="177800" indent="-177800">
              <a:spcAft>
                <a:spcPts val="100"/>
              </a:spcAft>
              <a:buSzPct val="100000"/>
              <a:buChar char="•"/>
            </a:pPr>
            <a:r>
              <a:rPr lang="en-US" sz="1200" dirty="0">
                <a:solidFill>
                  <a:schemeClr val="tx1"/>
                </a:solidFill>
              </a:rPr>
              <a:t>セクション4　利用・展開状況</a:t>
            </a:r>
            <a:endParaRPr lang="en-US" sz="1200" dirty="0"/>
          </a:p>
          <a:p>
            <a:pPr marL="177800" indent="-177800">
              <a:spcAft>
                <a:spcPts val="100"/>
              </a:spcAft>
              <a:buSzPct val="100000"/>
              <a:buChar char="•"/>
            </a:pPr>
            <a:r>
              <a:rPr lang="en-US" sz="1200" dirty="0">
                <a:solidFill>
                  <a:schemeClr val="tx1"/>
                </a:solidFill>
              </a:rPr>
              <a:t>セクション5　品質・安全対策</a:t>
            </a:r>
            <a:endParaRPr lang="en-US" sz="1200" dirty="0"/>
          </a:p>
          <a:p>
            <a:pPr marL="177800" indent="-177800">
              <a:spcAft>
                <a:spcPts val="100"/>
              </a:spcAft>
              <a:buSzPct val="100000"/>
              <a:buChar char="•"/>
            </a:pPr>
            <a:r>
              <a:rPr lang="en-US" sz="1200" dirty="0">
                <a:solidFill>
                  <a:schemeClr val="tx1"/>
                </a:solidFill>
              </a:rPr>
              <a:t>セクション6　公開確認</a:t>
            </a:r>
            <a:endParaRPr lang="en-US" sz="1200" dirty="0"/>
          </a:p>
        </p:txBody>
      </p:sp>
      <p:sp>
        <p:nvSpPr>
          <p:cNvPr id="9" name="Shape 7"/>
          <p:cNvSpPr/>
          <p:nvPr/>
        </p:nvSpPr>
        <p:spPr>
          <a:xfrm>
            <a:off x="777240" y="4617720"/>
            <a:ext cx="4480560" cy="1325880"/>
          </a:xfrm>
          <a:prstGeom prst="roundRect">
            <a:avLst>
              <a:gd name="adj" fmla="val 4138"/>
            </a:avLst>
          </a:prstGeom>
          <a:solidFill>
            <a:schemeClr val="bg1"/>
          </a:solidFill>
          <a:ln w="15875">
            <a:solidFill>
              <a:schemeClr val="accent4"/>
            </a:solidFill>
            <a:prstDash val="dash"/>
          </a:ln>
        </p:spPr>
      </p:sp>
      <p:sp>
        <p:nvSpPr>
          <p:cNvPr id="10" name="Text 8"/>
          <p:cNvSpPr txBox="1"/>
          <p:nvPr/>
        </p:nvSpPr>
        <p:spPr>
          <a:xfrm>
            <a:off x="960120" y="4709160"/>
            <a:ext cx="4114800" cy="292608"/>
          </a:xfrm>
          <a:prstGeom prst="rect">
            <a:avLst/>
          </a:prstGeom>
          <a:noFill/>
          <a:ln/>
        </p:spPr>
        <p:txBody>
          <a:bodyPr wrap="square" lIns="0" tIns="0" rIns="0" bIns="0" rtlCol="0" anchor="t"/>
          <a:lstStyle/>
          <a:p>
            <a:pPr indent="0" marL="0">
              <a:buNone/>
            </a:pPr>
            <a:r>
              <a:rPr lang="en-US" sz="1300" b="1" dirty="0">
                <a:solidFill>
                  <a:schemeClr val="accent4"/>
                </a:solidFill>
              </a:rPr>
              <a:t>【教材メタ情報】　→ 正解。審査AIには渡さない</a:t>
            </a:r>
            <a:endParaRPr lang="en-US" sz="1300" dirty="0"/>
          </a:p>
        </p:txBody>
      </p:sp>
      <p:sp>
        <p:nvSpPr>
          <p:cNvPr id="11" name="Text 9"/>
          <p:cNvSpPr txBox="1"/>
          <p:nvPr/>
        </p:nvSpPr>
        <p:spPr>
          <a:xfrm>
            <a:off x="960120" y="5029200"/>
            <a:ext cx="4114800" cy="274320"/>
          </a:xfrm>
          <a:prstGeom prst="rect">
            <a:avLst/>
          </a:prstGeom>
          <a:noFill/>
          <a:ln/>
        </p:spPr>
        <p:txBody>
          <a:bodyPr wrap="square" lIns="0" tIns="0" rIns="0" bIns="0" rtlCol="0" anchor="t"/>
          <a:lstStyle/>
          <a:p>
            <a:pPr indent="0" marL="0">
              <a:buNone/>
            </a:pPr>
            <a:r>
              <a:rPr lang="en-US" sz="1200" dirty="0">
                <a:solidFill>
                  <a:schemeClr val="tx1"/>
                </a:solidFill>
              </a:rPr>
              <a:t>想定判定・想定Gate結果・想定スコア・意図 など</a:t>
            </a:r>
            <a:endParaRPr lang="en-US" sz="1200" dirty="0"/>
          </a:p>
        </p:txBody>
      </p:sp>
      <p:sp>
        <p:nvSpPr>
          <p:cNvPr id="12" name="Text 10"/>
          <p:cNvSpPr txBox="1"/>
          <p:nvPr/>
        </p:nvSpPr>
        <p:spPr>
          <a:xfrm>
            <a:off x="960120" y="5394960"/>
            <a:ext cx="4206240" cy="457200"/>
          </a:xfrm>
          <a:prstGeom prst="rect">
            <a:avLst/>
          </a:prstGeom>
          <a:noFill/>
          <a:ln/>
        </p:spPr>
        <p:txBody>
          <a:bodyPr wrap="square" lIns="0" tIns="0" rIns="0" bIns="0" rtlCol="0" anchor="t"/>
          <a:lstStyle/>
          <a:p>
            <a:pPr indent="0" marL="0">
              <a:buNone/>
            </a:pPr>
            <a:r>
              <a:rPr lang="en-US" sz="1100" dirty="0">
                <a:solidFill>
                  <a:schemeClr val="accent5"/>
                </a:solidFill>
              </a:rPr>
              <a:t>ファイル名：lv{レベル}_{領域}_{姓_名}_{連番}_{判定区分}</a:t>
            </a:r>
            <a:endParaRPr lang="en-US" sz="1100" dirty="0"/>
          </a:p>
        </p:txBody>
      </p:sp>
      <p:sp>
        <p:nvSpPr>
          <p:cNvPr id="13" name="Text 11"/>
          <p:cNvSpPr txBox="1"/>
          <p:nvPr/>
        </p:nvSpPr>
        <p:spPr>
          <a:xfrm>
            <a:off x="5760720" y="1508760"/>
            <a:ext cx="5852160" cy="320040"/>
          </a:xfrm>
          <a:prstGeom prst="rect">
            <a:avLst/>
          </a:prstGeom>
          <a:noFill/>
          <a:ln/>
        </p:spPr>
        <p:txBody>
          <a:bodyPr wrap="square" lIns="0" tIns="0" rIns="0" bIns="0" rtlCol="0" anchor="t"/>
          <a:lstStyle/>
          <a:p>
            <a:pPr indent="0" marL="0">
              <a:buNone/>
            </a:pPr>
            <a:r>
              <a:rPr lang="en-US" sz="1500" b="1" dirty="0">
                <a:solidFill>
                  <a:schemeClr val="tx2"/>
                </a:solidFill>
              </a:rPr>
              <a:t>教材メタ情報の項目</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60720" y="1874520"/>
          <a:ext cx="5879592" cy="914400"/>
        </p:xfrm>
        <a:graphic>
          <a:graphicData uri="http://schemas.openxmlformats.org/drawingml/2006/table">
            <a:tbl>
              <a:tblPr/>
              <a:tblGrid>
                <a:gridCol w="1783080"/>
                <a:gridCol w="4096512"/>
              </a:tblGrid>
              <a:tr h="393192">
                <a:tc>
                  <a:txBody>
                    <a:bodyPr/>
                    <a:lstStyle/>
                    <a:p>
                      <a:pPr indent="0" marL="0">
                        <a:buNone/>
                      </a:pPr>
                      <a:r>
                        <a:rPr lang="en-US" sz="1200" b="1" dirty="0">
                          <a:solidFill>
                            <a:srgbClr val="FFFFFF"/>
                          </a:solidFill>
                        </a:rPr>
                        <a:t>項目</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rPr>
                        <a:t>書く内容</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r>
              <a:tr h="393192">
                <a:tc>
                  <a:txBody>
                    <a:bodyPr/>
                    <a:lstStyle/>
                    <a:p>
                      <a:pPr indent="0" marL="0">
                        <a:buNone/>
                      </a:pPr>
                      <a:r>
                        <a:rPr lang="en-US" sz="1200" dirty="0">
                          <a:solidFill>
                            <a:srgbClr val="1F2A2E"/>
                          </a:solidFill>
                        </a:rPr>
                        <a:t>想定判定</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合格／不合格／情報不足</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93192">
                <a:tc>
                  <a:txBody>
                    <a:bodyPr/>
                    <a:lstStyle/>
                    <a:p>
                      <a:pPr indent="0" marL="0">
                        <a:buNone/>
                      </a:pPr>
                      <a:r>
                        <a:rPr lang="en-US" sz="1200" dirty="0">
                          <a:solidFill>
                            <a:srgbClr val="1F2A2E"/>
                          </a:solidFill>
                        </a:rPr>
                        <a:t>想定Gate結果</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例：L4-G1 ○ / L4-G2 × …</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93192">
                <a:tc>
                  <a:txBody>
                    <a:bodyPr/>
                    <a:lstStyle/>
                    <a:p>
                      <a:pPr indent="0" marL="0">
                        <a:buNone/>
                      </a:pPr>
                      <a:r>
                        <a:rPr lang="en-US" sz="1200" dirty="0">
                          <a:solidFill>
                            <a:srgbClr val="1F2A2E"/>
                          </a:solidFill>
                        </a:rPr>
                        <a:t>想定スコア</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3観点の点数と加重平均。Gate未達なら「対象外」</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93192">
                <a:tc>
                  <a:txBody>
                    <a:bodyPr/>
                    <a:lstStyle/>
                    <a:p>
                      <a:pPr indent="0" marL="0">
                        <a:buNone/>
                      </a:pPr>
                      <a:r>
                        <a:rPr lang="en-US" sz="1200" dirty="0">
                          <a:solidFill>
                            <a:srgbClr val="1F2A2E"/>
                          </a:solidFill>
                        </a:rPr>
                        <a:t>この事例の意図</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エージェントのどんな誤りを検証したいか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93192">
                <a:tc>
                  <a:txBody>
                    <a:bodyPr/>
                    <a:lstStyle/>
                    <a:p>
                      <a:pPr indent="0" marL="0">
                        <a:buNone/>
                      </a:pPr>
                      <a:r>
                        <a:rPr lang="en-US" sz="1200" dirty="0">
                          <a:solidFill>
                            <a:srgbClr val="1F2A2E"/>
                          </a:solidFill>
                        </a:rPr>
                        <a:t>意図的な欠落・未達</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どの要件をどう外したか、各Gateの根拠項目</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93192">
                <a:tc>
                  <a:txBody>
                    <a:bodyPr/>
                    <a:lstStyle/>
                    <a:p>
                      <a:pPr indent="0" marL="0">
                        <a:buNone/>
                      </a:pPr>
                      <a:r>
                        <a:rPr lang="en-US" sz="1200" b="1" dirty="0">
                          <a:solidFill>
                            <a:srgbClr val="D98A1E"/>
                          </a:solidFill>
                        </a:rPr>
                        <a:t>境界タイプ</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スコア境界／Gate境界（境界事例のみ）</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93192">
                <a:tc>
                  <a:txBody>
                    <a:bodyPr/>
                    <a:lstStyle/>
                    <a:p>
                      <a:pPr indent="0" marL="0">
                        <a:buNone/>
                      </a:pPr>
                      <a:r>
                        <a:rPr lang="en-US" sz="1200" b="1" dirty="0">
                          <a:solidFill>
                            <a:srgbClr val="D98A1E"/>
                          </a:solidFill>
                        </a:rPr>
                        <a:t>分かれ目</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どの項目が変われば判定が反転するか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393192">
                <a:tc>
                  <a:txBody>
                    <a:bodyPr/>
                    <a:lstStyle/>
                    <a:p>
                      <a:pPr indent="0" marL="0">
                        <a:buNone/>
                      </a:pPr>
                      <a:r>
                        <a:rPr lang="en-US" sz="1200" b="1" dirty="0">
                          <a:solidFill>
                            <a:srgbClr val="D98A1E"/>
                          </a:solidFill>
                        </a:rPr>
                        <a:t>対比ペア</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相手のファイル名と差分の項目</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bl>
          </a:graphicData>
        </a:graphic>
      </p:graphicFrame>
      <p:sp>
        <p:nvSpPr>
          <p:cNvPr id="15" name="Text 12"/>
          <p:cNvSpPr txBox="1"/>
          <p:nvPr/>
        </p:nvSpPr>
        <p:spPr>
          <a:xfrm>
            <a:off x="5760720" y="5486400"/>
            <a:ext cx="5852160" cy="274320"/>
          </a:xfrm>
          <a:prstGeom prst="rect">
            <a:avLst/>
          </a:prstGeom>
          <a:noFill/>
          <a:ln/>
        </p:spPr>
        <p:txBody>
          <a:bodyPr wrap="square" lIns="0" tIns="0" rIns="0" bIns="0" rtlCol="0" anchor="t"/>
          <a:lstStyle/>
          <a:p>
            <a:pPr indent="0" marL="0">
              <a:buNone/>
            </a:pPr>
            <a:r>
              <a:rPr lang="en-US" sz="1100" dirty="0">
                <a:solidFill>
                  <a:schemeClr val="accent5"/>
                </a:solidFill>
              </a:rPr>
              <a:t>橙字の3項目は境界事例だけに付く</a:t>
            </a:r>
            <a:endParaRPr lang="en-US" sz="1100" dirty="0"/>
          </a:p>
        </p:txBody>
      </p:sp>
      <p:sp>
        <p:nvSpPr>
          <p:cNvPr id="16" name="Text 13"/>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出典：01_共通作成方針 §4-1〜§4-5</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5　採点エージェントの検証</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88件＝12人×7パターン＋Lv.2の4件。パターンごとに試す誤りが違う</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051560"/>
                <a:gridCol w="2103120"/>
                <a:gridCol w="868680"/>
                <a:gridCol w="3429000"/>
                <a:gridCol w="3639312"/>
              </a:tblGrid>
              <a:tr h="384048">
                <a:tc>
                  <a:txBody>
                    <a:bodyPr/>
                    <a:lstStyle/>
                    <a:p>
                      <a:pPr indent="0" marL="0">
                        <a:buNone/>
                      </a:pPr>
                      <a:r>
                        <a:rPr lang="en-US" sz="1200" b="1" dirty="0">
                          <a:solidFill>
                            <a:srgbClr val="FFFFFF"/>
                          </a:solidFill>
                        </a:rPr>
                        <a:t>連番</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rPr>
                        <a:t>判定区分</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rPr>
                        <a:t>件数</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rPr>
                        <a:t>どんな事例か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rPr>
                        <a:t>エージェントのどんな誤りを見つけるか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r>
              <a:tr h="502920">
                <a:tc>
                  <a:txBody>
                    <a:bodyPr/>
                    <a:lstStyle/>
                    <a:p>
                      <a:pPr indent="0" marL="0">
                        <a:buNone/>
                      </a:pPr>
                      <a:r>
                        <a:rPr lang="en-US" sz="1200" dirty="0">
                          <a:solidFill>
                            <a:srgbClr val="1F2A2E"/>
                          </a:solidFill>
                        </a:rPr>
                        <a:t>001</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b="1" dirty="0">
                          <a:solidFill>
                            <a:srgbClr val="1F6E6B"/>
                          </a:solidFill>
                        </a:rPr>
                        <a:t>合格</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12</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2点中心の標準的な合格</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基本の合格を正しく合格にできるか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640080">
                <a:tc>
                  <a:txBody>
                    <a:bodyPr/>
                    <a:lstStyle/>
                    <a:p>
                      <a:pPr indent="0" marL="0">
                        <a:buNone/>
                      </a:pPr>
                      <a:r>
                        <a:rPr lang="en-US" sz="1200" dirty="0">
                          <a:solidFill>
                            <a:srgbClr val="1F2A2E"/>
                          </a:solidFill>
                        </a:rPr>
                        <a:t>002 / 003</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b="1" dirty="0">
                          <a:solidFill>
                            <a:srgbClr val="D98A1E"/>
                          </a:solidFill>
                        </a:rPr>
                        <a:t>合格境界 / 不合格境界</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12 / 12</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スコア境界の対比ペア。加重平均が2.0の前後</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計算・採点の誤り。「全Gate通過＝合格」と短絡しないか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502920">
                <a:tc>
                  <a:txBody>
                    <a:bodyPr/>
                    <a:lstStyle/>
                    <a:p>
                      <a:pPr indent="0" marL="0">
                        <a:buNone/>
                      </a:pPr>
                      <a:r>
                        <a:rPr lang="en-US" sz="1200" dirty="0">
                          <a:solidFill>
                            <a:srgbClr val="1F2A2E"/>
                          </a:solidFill>
                        </a:rPr>
                        <a:t>004</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b="1" dirty="0">
                          <a:solidFill>
                            <a:srgbClr val="D98A1E"/>
                          </a:solidFill>
                        </a:rPr>
                        <a:t>情報不足</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12</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判断に必要な情報が欠けている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「判断できない」を不合格と混同しないか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640080">
                <a:tc>
                  <a:txBody>
                    <a:bodyPr/>
                    <a:lstStyle/>
                    <a:p>
                      <a:pPr indent="0" marL="0">
                        <a:buNone/>
                      </a:pPr>
                      <a:r>
                        <a:rPr lang="en-US" sz="1200" dirty="0">
                          <a:solidFill>
                            <a:srgbClr val="1F2A2E"/>
                          </a:solidFill>
                        </a:rPr>
                        <a:t>005</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b="1" dirty="0">
                          <a:solidFill>
                            <a:srgbClr val="C0504D"/>
                          </a:solidFill>
                        </a:rPr>
                        <a:t>不合格</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12</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Gate未達（作っただけ型、本人の設計でない型など）</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整備の充実度や数値成果に引きずられないか。下位レベルに振り替えないか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640080">
                <a:tc>
                  <a:txBody>
                    <a:bodyPr/>
                    <a:lstStyle/>
                    <a:p>
                      <a:pPr indent="0" marL="0">
                        <a:buNone/>
                      </a:pPr>
                      <a:r>
                        <a:rPr lang="en-US" sz="1200" dirty="0">
                          <a:solidFill>
                            <a:srgbClr val="1F2A2E"/>
                          </a:solidFill>
                        </a:rPr>
                        <a:t>006 / 007</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b="1" dirty="0">
                          <a:solidFill>
                            <a:srgbClr val="D98A1E"/>
                          </a:solidFill>
                        </a:rPr>
                        <a:t>合格境界 / 不合格境界</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12 / 12</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Gate境界の対比ペア。Gateを最小限で満たす／1項目だけ外す</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他の充実度に引きずられて、Gate未達を見落とさないか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548640">
                <a:tc>
                  <a:txBody>
                    <a:bodyPr/>
                    <a:lstStyle/>
                    <a:p>
                      <a:pPr indent="0" marL="0">
                        <a:buNone/>
                      </a:pPr>
                      <a:r>
                        <a:rPr lang="en-US" sz="1200" dirty="0">
                          <a:solidFill>
                            <a:srgbClr val="1F2A2E"/>
                          </a:solidFill>
                        </a:rPr>
                        <a:t>008</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b="1" dirty="0">
                          <a:solidFill>
                            <a:srgbClr val="C0504D"/>
                          </a:solidFill>
                        </a:rPr>
                        <a:t>不合格</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4</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Lv.2のみ。全Gate通過だが加重平均が明確に不足</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Gateを満たしていても、点数不足で不合格にできるか</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bl>
          </a:graphicData>
        </a:graphic>
      </p:graphicFrame>
      <p:sp>
        <p:nvSpPr>
          <p:cNvPr id="5" name="Text 2"/>
          <p:cNvSpPr txBox="1"/>
          <p:nvPr/>
        </p:nvSpPr>
        <p:spPr>
          <a:xfrm>
            <a:off x="548640" y="5532120"/>
            <a:ext cx="5486400" cy="256032"/>
          </a:xfrm>
          <a:prstGeom prst="rect">
            <a:avLst/>
          </a:prstGeom>
          <a:noFill/>
          <a:ln/>
        </p:spPr>
        <p:txBody>
          <a:bodyPr wrap="square" lIns="0" tIns="0" rIns="0" bIns="0" rtlCol="0" anchor="t"/>
          <a:lstStyle/>
          <a:p>
            <a:pPr indent="0" marL="0">
              <a:buNone/>
            </a:pPr>
            <a:r>
              <a:rPr lang="en-US" sz="1100" b="1" dirty="0">
                <a:solidFill>
                  <a:schemeClr val="accent5"/>
                </a:solidFill>
              </a:rPr>
              <a:t>ペルソナ（領域：開発・インフラ・運用・セキュリティの順）</a:t>
            </a:r>
            <a:endParaRPr lang="en-US" sz="1100" dirty="0"/>
          </a:p>
        </p:txBody>
      </p:sp>
      <p:sp>
        <p:nvSpPr>
          <p:cNvPr id="6" name="Shape 3"/>
          <p:cNvSpPr/>
          <p:nvPr/>
        </p:nvSpPr>
        <p:spPr>
          <a:xfrm>
            <a:off x="548640" y="5806440"/>
            <a:ext cx="685800" cy="274320"/>
          </a:xfrm>
          <a:prstGeom prst="roundRect">
            <a:avLst>
              <a:gd name="adj" fmla="val 50000"/>
            </a:avLst>
          </a:prstGeom>
          <a:solidFill>
            <a:schemeClr val="accent3"/>
          </a:solidFill>
          <a:ln w="6350">
            <a:solidFill>
              <a:schemeClr val="accent3"/>
            </a:solidFill>
            <a:prstDash val="solid"/>
          </a:ln>
        </p:spPr>
      </p:sp>
      <p:sp>
        <p:nvSpPr>
          <p:cNvPr id="7" name="Text 4"/>
          <p:cNvSpPr txBox="1"/>
          <p:nvPr/>
        </p:nvSpPr>
        <p:spPr>
          <a:xfrm>
            <a:off x="548640" y="5806440"/>
            <a:ext cx="685800" cy="274320"/>
          </a:xfrm>
          <a:prstGeom prst="rect">
            <a:avLst/>
          </a:prstGeom>
          <a:noFill/>
          <a:ln/>
        </p:spPr>
        <p:txBody>
          <a:bodyPr wrap="square" lIns="0" tIns="0" rIns="0" bIns="0" rtlCol="0" anchor="ctr"/>
          <a:lstStyle/>
          <a:p>
            <a:pPr algn="ctr" indent="0" marL="0">
              <a:buNone/>
            </a:pPr>
            <a:r>
              <a:rPr lang="en-US" sz="1100" b="1" dirty="0">
                <a:solidFill>
                  <a:schemeClr val="bg1"/>
                </a:solidFill>
              </a:rPr>
              <a:t>Lv.2</a:t>
            </a:r>
            <a:endParaRPr lang="en-US" sz="1100" dirty="0"/>
          </a:p>
        </p:txBody>
      </p:sp>
      <p:sp>
        <p:nvSpPr>
          <p:cNvPr id="8" name="Text 5"/>
          <p:cNvSpPr txBox="1"/>
          <p:nvPr/>
        </p:nvSpPr>
        <p:spPr>
          <a:xfrm>
            <a:off x="1325880" y="5806440"/>
            <a:ext cx="2834640" cy="274320"/>
          </a:xfrm>
          <a:prstGeom prst="rect">
            <a:avLst/>
          </a:prstGeom>
          <a:noFill/>
          <a:ln/>
        </p:spPr>
        <p:txBody>
          <a:bodyPr wrap="square" lIns="0" tIns="0" rIns="0" bIns="0" rtlCol="0" anchor="ctr"/>
          <a:lstStyle/>
          <a:p>
            <a:pPr indent="0" marL="0">
              <a:buNone/>
            </a:pPr>
            <a:r>
              <a:rPr lang="en-US" sz="1200" dirty="0">
                <a:solidFill>
                  <a:schemeClr val="tx1"/>
                </a:solidFill>
              </a:rPr>
              <a:t>田中・中村・小林・山口</a:t>
            </a:r>
            <a:endParaRPr lang="en-US" sz="1200" dirty="0"/>
          </a:p>
        </p:txBody>
      </p:sp>
      <p:sp>
        <p:nvSpPr>
          <p:cNvPr id="9" name="Shape 6"/>
          <p:cNvSpPr/>
          <p:nvPr/>
        </p:nvSpPr>
        <p:spPr>
          <a:xfrm>
            <a:off x="4297680" y="5806440"/>
            <a:ext cx="685800" cy="274320"/>
          </a:xfrm>
          <a:prstGeom prst="roundRect">
            <a:avLst>
              <a:gd name="adj" fmla="val 50000"/>
            </a:avLst>
          </a:prstGeom>
          <a:solidFill>
            <a:schemeClr val="accent1"/>
          </a:solidFill>
          <a:ln w="6350">
            <a:solidFill>
              <a:schemeClr val="accent1"/>
            </a:solidFill>
            <a:prstDash val="solid"/>
          </a:ln>
        </p:spPr>
      </p:sp>
      <p:sp>
        <p:nvSpPr>
          <p:cNvPr id="10" name="Text 7"/>
          <p:cNvSpPr txBox="1"/>
          <p:nvPr/>
        </p:nvSpPr>
        <p:spPr>
          <a:xfrm>
            <a:off x="4297680" y="5806440"/>
            <a:ext cx="685800" cy="274320"/>
          </a:xfrm>
          <a:prstGeom prst="rect">
            <a:avLst/>
          </a:prstGeom>
          <a:noFill/>
          <a:ln/>
        </p:spPr>
        <p:txBody>
          <a:bodyPr wrap="square" lIns="0" tIns="0" rIns="0" bIns="0" rtlCol="0" anchor="ctr"/>
          <a:lstStyle/>
          <a:p>
            <a:pPr algn="ctr" indent="0" marL="0">
              <a:buNone/>
            </a:pPr>
            <a:r>
              <a:rPr lang="en-US" sz="1100" b="1" dirty="0">
                <a:solidFill>
                  <a:schemeClr val="bg1"/>
                </a:solidFill>
              </a:rPr>
              <a:t>Lv.3</a:t>
            </a:r>
            <a:endParaRPr lang="en-US" sz="1100" dirty="0"/>
          </a:p>
        </p:txBody>
      </p:sp>
      <p:sp>
        <p:nvSpPr>
          <p:cNvPr id="11" name="Text 8"/>
          <p:cNvSpPr txBox="1"/>
          <p:nvPr/>
        </p:nvSpPr>
        <p:spPr>
          <a:xfrm>
            <a:off x="5074920" y="5806440"/>
            <a:ext cx="2834640" cy="274320"/>
          </a:xfrm>
          <a:prstGeom prst="rect">
            <a:avLst/>
          </a:prstGeom>
          <a:noFill/>
          <a:ln/>
        </p:spPr>
        <p:txBody>
          <a:bodyPr wrap="square" lIns="0" tIns="0" rIns="0" bIns="0" rtlCol="0" anchor="ctr"/>
          <a:lstStyle/>
          <a:p>
            <a:pPr indent="0" marL="0">
              <a:buNone/>
            </a:pPr>
            <a:r>
              <a:rPr lang="en-US" sz="1200" dirty="0">
                <a:solidFill>
                  <a:schemeClr val="tx1"/>
                </a:solidFill>
              </a:rPr>
              <a:t>加藤・渡辺・斎藤・松本</a:t>
            </a:r>
            <a:endParaRPr lang="en-US" sz="1200" dirty="0"/>
          </a:p>
        </p:txBody>
      </p:sp>
      <p:sp>
        <p:nvSpPr>
          <p:cNvPr id="12" name="Shape 9"/>
          <p:cNvSpPr/>
          <p:nvPr/>
        </p:nvSpPr>
        <p:spPr>
          <a:xfrm>
            <a:off x="8046720" y="5806440"/>
            <a:ext cx="685800" cy="274320"/>
          </a:xfrm>
          <a:prstGeom prst="roundRect">
            <a:avLst>
              <a:gd name="adj" fmla="val 50000"/>
            </a:avLst>
          </a:prstGeom>
          <a:solidFill>
            <a:schemeClr val="tx2"/>
          </a:solidFill>
          <a:ln w="6350">
            <a:solidFill>
              <a:schemeClr val="tx2"/>
            </a:solidFill>
            <a:prstDash val="solid"/>
          </a:ln>
        </p:spPr>
      </p:sp>
      <p:sp>
        <p:nvSpPr>
          <p:cNvPr id="13" name="Text 10"/>
          <p:cNvSpPr txBox="1"/>
          <p:nvPr/>
        </p:nvSpPr>
        <p:spPr>
          <a:xfrm>
            <a:off x="8046720" y="5806440"/>
            <a:ext cx="685800" cy="274320"/>
          </a:xfrm>
          <a:prstGeom prst="rect">
            <a:avLst/>
          </a:prstGeom>
          <a:noFill/>
          <a:ln/>
        </p:spPr>
        <p:txBody>
          <a:bodyPr wrap="square" lIns="0" tIns="0" rIns="0" bIns="0" rtlCol="0" anchor="ctr"/>
          <a:lstStyle/>
          <a:p>
            <a:pPr algn="ctr" indent="0" marL="0">
              <a:buNone/>
            </a:pPr>
            <a:r>
              <a:rPr lang="en-US" sz="1100" b="1" dirty="0">
                <a:solidFill>
                  <a:schemeClr val="bg1"/>
                </a:solidFill>
              </a:rPr>
              <a:t>Lv.4</a:t>
            </a:r>
            <a:endParaRPr lang="en-US" sz="1100" dirty="0"/>
          </a:p>
        </p:txBody>
      </p:sp>
      <p:sp>
        <p:nvSpPr>
          <p:cNvPr id="14" name="Text 11"/>
          <p:cNvSpPr txBox="1"/>
          <p:nvPr/>
        </p:nvSpPr>
        <p:spPr>
          <a:xfrm>
            <a:off x="8823960" y="5806440"/>
            <a:ext cx="2834640" cy="274320"/>
          </a:xfrm>
          <a:prstGeom prst="rect">
            <a:avLst/>
          </a:prstGeom>
          <a:noFill/>
          <a:ln/>
        </p:spPr>
        <p:txBody>
          <a:bodyPr wrap="square" lIns="0" tIns="0" rIns="0" bIns="0" rtlCol="0" anchor="ctr"/>
          <a:lstStyle/>
          <a:p>
            <a:pPr indent="0" marL="0">
              <a:buNone/>
            </a:pPr>
            <a:r>
              <a:rPr lang="en-US" sz="1200" dirty="0">
                <a:solidFill>
                  <a:schemeClr val="tx1"/>
                </a:solidFill>
              </a:rPr>
              <a:t>高橋・藤田・木村・井上</a:t>
            </a:r>
            <a:endParaRPr lang="en-US" sz="1200" dirty="0"/>
          </a:p>
        </p:txBody>
      </p:sp>
      <p:sp>
        <p:nvSpPr>
          <p:cNvPr id="15" name="Text 12"/>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出典：プロジェクト内のサンプル88件（ファイル名・教材メタ情報）／01_共通作成方針 §6</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5　採点エージェントの検証</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境界事例は「1項目だけ違うペア」にして、判定が反転するかを確かめる</a:t>
            </a:r>
            <a:endParaRPr lang="en-US" sz="2400" dirty="0"/>
          </a:p>
        </p:txBody>
      </p:sp>
      <p:sp>
        <p:nvSpPr>
          <p:cNvPr id="4" name="Shape 2"/>
          <p:cNvSpPr/>
          <p:nvPr/>
        </p:nvSpPr>
        <p:spPr>
          <a:xfrm>
            <a:off x="548640" y="1508760"/>
            <a:ext cx="5440680" cy="502920"/>
          </a:xfrm>
          <a:prstGeom prst="roundRect">
            <a:avLst>
              <a:gd name="adj" fmla="val 14545"/>
            </a:avLst>
          </a:prstGeom>
          <a:solidFill>
            <a:schemeClr val="accent2"/>
          </a:solidFill>
          <a:ln w="6350">
            <a:solidFill>
              <a:schemeClr val="accent2"/>
            </a:solidFill>
            <a:prstDash val="solid"/>
          </a:ln>
        </p:spPr>
      </p:sp>
      <p:sp>
        <p:nvSpPr>
          <p:cNvPr id="5" name="Text 3"/>
          <p:cNvSpPr txBox="1"/>
          <p:nvPr/>
        </p:nvSpPr>
        <p:spPr>
          <a:xfrm>
            <a:off x="731520" y="150876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スコア境界（002 → 003）</a:t>
            </a:r>
            <a:endParaRPr lang="en-US" sz="1600" dirty="0"/>
          </a:p>
        </p:txBody>
      </p:sp>
      <p:sp>
        <p:nvSpPr>
          <p:cNvPr id="6" name="Text 4"/>
          <p:cNvSpPr txBox="1"/>
          <p:nvPr/>
        </p:nvSpPr>
        <p:spPr>
          <a:xfrm>
            <a:off x="548640" y="2084832"/>
            <a:ext cx="5440680" cy="274320"/>
          </a:xfrm>
          <a:prstGeom prst="rect">
            <a:avLst/>
          </a:prstGeom>
          <a:noFill/>
          <a:ln/>
        </p:spPr>
        <p:txBody>
          <a:bodyPr wrap="square" lIns="0" tIns="0" rIns="0" bIns="0" rtlCol="0" anchor="t"/>
          <a:lstStyle/>
          <a:p>
            <a:pPr indent="0" marL="0">
              <a:buNone/>
            </a:pPr>
            <a:r>
              <a:rPr lang="en-US" sz="1200" dirty="0">
                <a:solidFill>
                  <a:schemeClr val="accent5"/>
                </a:solidFill>
              </a:rPr>
              <a:t>全Gateは通過。点数だけで合否が分かれる</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5440680" cy="914400"/>
        </p:xfrm>
        <a:graphic>
          <a:graphicData uri="http://schemas.openxmlformats.org/drawingml/2006/table">
            <a:tbl>
              <a:tblPr/>
              <a:tblGrid>
                <a:gridCol w="914400"/>
                <a:gridCol w="2331720"/>
                <a:gridCol w="2194560"/>
              </a:tblGrid>
              <a:tr h="365760">
                <a:tc>
                  <a:txBody>
                    <a:bodyPr/>
                    <a:lstStyle/>
                    <a:p>
                      <a:pPr indent="0" marL="0">
                        <a:buNone/>
                      </a:pPr>
                      <a:r>
                        <a:rPr lang="en-US" sz="1300" b="1" dirty="0">
                          <a:solidFill>
                            <a:srgbClr val="0F3D3E"/>
                          </a:solidFill>
                        </a:rPr>
                        <a:t>レベル</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EEF4F2"/>
                    </a:solidFill>
                  </a:tcPr>
                </a:tc>
                <a:tc>
                  <a:txBody>
                    <a:bodyPr/>
                    <a:lstStyle/>
                    <a:p>
                      <a:pPr indent="0" marL="0">
                        <a:buNone/>
                      </a:pPr>
                      <a:r>
                        <a:rPr lang="en-US" sz="1300" b="1" dirty="0">
                          <a:solidFill>
                            <a:srgbClr val="0F3D3E"/>
                          </a:solidFill>
                        </a:rPr>
                        <a:t>002 合格境界</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EEF4F2"/>
                    </a:solidFill>
                  </a:tcPr>
                </a:tc>
                <a:tc>
                  <a:txBody>
                    <a:bodyPr/>
                    <a:lstStyle/>
                    <a:p>
                      <a:pPr indent="0" marL="0">
                        <a:buNone/>
                      </a:pPr>
                      <a:r>
                        <a:rPr lang="en-US" sz="1300" b="1" dirty="0">
                          <a:solidFill>
                            <a:srgbClr val="0F3D3E"/>
                          </a:solidFill>
                        </a:rPr>
                        <a:t>003 不合格境界</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EEF4F2"/>
                    </a:solidFill>
                  </a:tcPr>
                </a:tc>
              </a:tr>
              <a:tr h="457200">
                <a:tc>
                  <a:txBody>
                    <a:bodyPr/>
                    <a:lstStyle/>
                    <a:p>
                      <a:pPr indent="0" marL="0">
                        <a:buNone/>
                      </a:pPr>
                      <a:r>
                        <a:rPr lang="en-US" sz="1300" dirty="0">
                          <a:solidFill>
                            <a:srgbClr val="1F2A2E"/>
                          </a:solidFill>
                        </a:rPr>
                        <a:t>Lv.2</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3 / 2 / 1 → 2.2</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2 / 2 / 1 → 1.8</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731520">
                <a:tc>
                  <a:txBody>
                    <a:bodyPr/>
                    <a:lstStyle/>
                    <a:p>
                      <a:pPr indent="0" marL="0">
                        <a:buNone/>
                      </a:pPr>
                      <a:r>
                        <a:rPr lang="en-US" sz="1300" dirty="0">
                          <a:solidFill>
                            <a:srgbClr val="1F2A2E"/>
                          </a:solidFill>
                        </a:rPr>
                        <a:t>Lv.3</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1 / 2 / 3 → 2.0</a:t>
                      </a:r>
                      <a:endParaRPr lang="en-US" sz="1300" dirty="0"/>
                    </a:p>
                    <a:p>
                      <a:pPr indent="0" marL="0">
                        <a:buNone/>
                      </a:pPr>
                      <a:r>
                        <a:rPr lang="en-US" sz="1300" dirty="0">
                          <a:solidFill>
                            <a:srgbClr val="1F2A2E"/>
                          </a:solidFill>
                        </a:rPr>
                        <a:t>1 / 3 / 2 → 2.1</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1 / 2 / 2 → 1.7</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457200">
                <a:tc>
                  <a:txBody>
                    <a:bodyPr/>
                    <a:lstStyle/>
                    <a:p>
                      <a:pPr indent="0" marL="0">
                        <a:buNone/>
                      </a:pPr>
                      <a:r>
                        <a:rPr lang="en-US" sz="1300" dirty="0">
                          <a:solidFill>
                            <a:srgbClr val="1F2A2E"/>
                          </a:solidFill>
                        </a:rPr>
                        <a:t>Lv.4</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1 / 3 / 2 → 2.1</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1 / 2 / 2 → 1.8</a:t>
                      </a:r>
                      <a:endParaRPr lang="en-US" sz="13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bl>
          </a:graphicData>
        </a:graphic>
      </p:graphicFrame>
      <p:sp>
        <p:nvSpPr>
          <p:cNvPr id="8" name="Text 5"/>
          <p:cNvSpPr txBox="1"/>
          <p:nvPr/>
        </p:nvSpPr>
        <p:spPr>
          <a:xfrm>
            <a:off x="548640" y="4526280"/>
            <a:ext cx="5440680" cy="685800"/>
          </a:xfrm>
          <a:prstGeom prst="rect">
            <a:avLst/>
          </a:prstGeom>
          <a:noFill/>
          <a:ln/>
        </p:spPr>
        <p:txBody>
          <a:bodyPr wrap="square" lIns="0" tIns="0" rIns="0" bIns="0" rtlCol="0" anchor="t"/>
          <a:lstStyle/>
          <a:p>
            <a:pPr indent="0" marL="0">
              <a:buNone/>
            </a:pPr>
            <a:r>
              <a:rPr lang="en-US" sz="1200" dirty="0">
                <a:solidFill>
                  <a:schemeClr val="tx1"/>
                </a:solidFill>
              </a:rPr>
              <a:t>点数は「AI活用・品質 / 成果・実運用 / 再利用・展開・定着」の順。Lv.3・Lv.4で1点を置けるのはAI活用・品質だけ（他の2観点はGateと直結するため）</a:t>
            </a:r>
            <a:endParaRPr lang="en-US" sz="1200" dirty="0"/>
          </a:p>
        </p:txBody>
      </p:sp>
      <p:sp>
        <p:nvSpPr>
          <p:cNvPr id="9" name="Shape 6"/>
          <p:cNvSpPr/>
          <p:nvPr/>
        </p:nvSpPr>
        <p:spPr>
          <a:xfrm>
            <a:off x="6199632" y="1508760"/>
            <a:ext cx="5440680" cy="502920"/>
          </a:xfrm>
          <a:prstGeom prst="roundRect">
            <a:avLst>
              <a:gd name="adj" fmla="val 14545"/>
            </a:avLst>
          </a:prstGeom>
          <a:solidFill>
            <a:schemeClr val="tx2"/>
          </a:solidFill>
          <a:ln w="6350">
            <a:solidFill>
              <a:schemeClr val="tx2"/>
            </a:solidFill>
            <a:prstDash val="solid"/>
          </a:ln>
        </p:spPr>
      </p:sp>
      <p:sp>
        <p:nvSpPr>
          <p:cNvPr id="10" name="Text 7"/>
          <p:cNvSpPr txBox="1"/>
          <p:nvPr/>
        </p:nvSpPr>
        <p:spPr>
          <a:xfrm>
            <a:off x="6382512" y="150876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Gate境界（006 → 007）</a:t>
            </a:r>
            <a:endParaRPr lang="en-US" sz="1600" dirty="0"/>
          </a:p>
        </p:txBody>
      </p:sp>
      <p:sp>
        <p:nvSpPr>
          <p:cNvPr id="11" name="Text 8"/>
          <p:cNvSpPr txBox="1"/>
          <p:nvPr/>
        </p:nvSpPr>
        <p:spPr>
          <a:xfrm>
            <a:off x="6199632" y="2084832"/>
            <a:ext cx="5440680" cy="274320"/>
          </a:xfrm>
          <a:prstGeom prst="rect">
            <a:avLst/>
          </a:prstGeom>
          <a:noFill/>
          <a:ln/>
        </p:spPr>
        <p:txBody>
          <a:bodyPr wrap="square" lIns="0" tIns="0" rIns="0" bIns="0" rtlCol="0" anchor="t"/>
          <a:lstStyle/>
          <a:p>
            <a:pPr indent="0" marL="0">
              <a:buNone/>
            </a:pPr>
            <a:r>
              <a:rPr lang="en-US" sz="1200" dirty="0">
                <a:solidFill>
                  <a:schemeClr val="accent5"/>
                </a:solidFill>
              </a:rPr>
              <a:t>006は2/2/2＝2.0の最小限合格。007は1項目だけ変えてGate未達</a:t>
            </a:r>
            <a:endParaRPr lang="en-US" sz="1200" dirty="0"/>
          </a:p>
        </p:txBody>
      </p:sp>
      <p:sp>
        <p:nvSpPr>
          <p:cNvPr id="12" name="Shape 9"/>
          <p:cNvSpPr/>
          <p:nvPr/>
        </p:nvSpPr>
        <p:spPr>
          <a:xfrm>
            <a:off x="6199632" y="2423160"/>
            <a:ext cx="5440680" cy="804672"/>
          </a:xfrm>
          <a:prstGeom prst="roundRect">
            <a:avLst>
              <a:gd name="adj" fmla="val 9091"/>
            </a:avLst>
          </a:prstGeom>
          <a:solidFill>
            <a:schemeClr val="bg2"/>
          </a:solidFill>
          <a:ln w="6350">
            <a:solidFill>
              <a:schemeClr val="bg2"/>
            </a:solidFill>
            <a:prstDash val="solid"/>
          </a:ln>
        </p:spPr>
      </p:sp>
      <p:sp>
        <p:nvSpPr>
          <p:cNvPr id="13" name="Text 10"/>
          <p:cNvSpPr txBox="1"/>
          <p:nvPr/>
        </p:nvSpPr>
        <p:spPr>
          <a:xfrm>
            <a:off x="6355080" y="2423160"/>
            <a:ext cx="685800" cy="804672"/>
          </a:xfrm>
          <a:prstGeom prst="rect">
            <a:avLst/>
          </a:prstGeom>
          <a:noFill/>
          <a:ln/>
        </p:spPr>
        <p:txBody>
          <a:bodyPr wrap="square" lIns="0" tIns="0" rIns="0" bIns="0" rtlCol="0" anchor="ctr"/>
          <a:lstStyle/>
          <a:p>
            <a:pPr indent="0" marL="0">
              <a:buNone/>
            </a:pPr>
            <a:r>
              <a:rPr lang="en-US" sz="1400" b="1" dirty="0">
                <a:solidFill>
                  <a:schemeClr val="accent1"/>
                </a:solidFill>
              </a:rPr>
              <a:t>Lv.2</a:t>
            </a:r>
            <a:endParaRPr lang="en-US" sz="1400" dirty="0"/>
          </a:p>
        </p:txBody>
      </p:sp>
      <p:sp>
        <p:nvSpPr>
          <p:cNvPr id="14" name="Text 11"/>
          <p:cNvSpPr txBox="1"/>
          <p:nvPr/>
        </p:nvSpPr>
        <p:spPr>
          <a:xfrm>
            <a:off x="7040880" y="2496312"/>
            <a:ext cx="4434840" cy="438912"/>
          </a:xfrm>
          <a:prstGeom prst="rect">
            <a:avLst/>
          </a:prstGeom>
          <a:noFill/>
          <a:ln/>
        </p:spPr>
        <p:txBody>
          <a:bodyPr wrap="square" lIns="0" tIns="0" rIns="0" bIns="0" rtlCol="0" anchor="t"/>
          <a:lstStyle/>
          <a:p>
            <a:pPr indent="0" marL="0">
              <a:buNone/>
            </a:pPr>
            <a:r>
              <a:rPr lang="en-US" sz="1200" dirty="0">
                <a:solidFill>
                  <a:schemeClr val="tx1"/>
                </a:solidFill>
              </a:rPr>
              <a:t>Q5-4を「特に対策していない」に変える</a:t>
            </a:r>
            <a:endParaRPr lang="en-US" sz="1200" dirty="0"/>
          </a:p>
        </p:txBody>
      </p:sp>
      <p:sp>
        <p:nvSpPr>
          <p:cNvPr id="15" name="Text 12"/>
          <p:cNvSpPr txBox="1"/>
          <p:nvPr/>
        </p:nvSpPr>
        <p:spPr>
          <a:xfrm>
            <a:off x="7040880" y="2926080"/>
            <a:ext cx="4434840" cy="256032"/>
          </a:xfrm>
          <a:prstGeom prst="rect">
            <a:avLst/>
          </a:prstGeom>
          <a:noFill/>
          <a:ln/>
        </p:spPr>
        <p:txBody>
          <a:bodyPr wrap="square" lIns="0" tIns="0" rIns="0" bIns="0" rtlCol="0" anchor="t"/>
          <a:lstStyle/>
          <a:p>
            <a:pPr indent="0" marL="0">
              <a:buNone/>
            </a:pPr>
            <a:r>
              <a:rPr lang="en-US" sz="1200" b="1" dirty="0">
                <a:solidFill>
                  <a:schemeClr val="accent4"/>
                </a:solidFill>
              </a:rPr>
              <a:t>→ L2-G5 未達</a:t>
            </a:r>
            <a:endParaRPr lang="en-US" sz="1200" dirty="0"/>
          </a:p>
        </p:txBody>
      </p:sp>
      <p:sp>
        <p:nvSpPr>
          <p:cNvPr id="16" name="Shape 13"/>
          <p:cNvSpPr/>
          <p:nvPr/>
        </p:nvSpPr>
        <p:spPr>
          <a:xfrm>
            <a:off x="6199632" y="3337560"/>
            <a:ext cx="5440680" cy="804672"/>
          </a:xfrm>
          <a:prstGeom prst="roundRect">
            <a:avLst>
              <a:gd name="adj" fmla="val 9091"/>
            </a:avLst>
          </a:prstGeom>
          <a:solidFill>
            <a:schemeClr val="bg2"/>
          </a:solidFill>
          <a:ln w="6350">
            <a:solidFill>
              <a:schemeClr val="bg2"/>
            </a:solidFill>
            <a:prstDash val="solid"/>
          </a:ln>
        </p:spPr>
      </p:sp>
      <p:sp>
        <p:nvSpPr>
          <p:cNvPr id="17" name="Text 14"/>
          <p:cNvSpPr txBox="1"/>
          <p:nvPr/>
        </p:nvSpPr>
        <p:spPr>
          <a:xfrm>
            <a:off x="6355080" y="3337560"/>
            <a:ext cx="685800" cy="804672"/>
          </a:xfrm>
          <a:prstGeom prst="rect">
            <a:avLst/>
          </a:prstGeom>
          <a:noFill/>
          <a:ln/>
        </p:spPr>
        <p:txBody>
          <a:bodyPr wrap="square" lIns="0" tIns="0" rIns="0" bIns="0" rtlCol="0" anchor="ctr"/>
          <a:lstStyle/>
          <a:p>
            <a:pPr indent="0" marL="0">
              <a:buNone/>
            </a:pPr>
            <a:r>
              <a:rPr lang="en-US" sz="1400" b="1" dirty="0">
                <a:solidFill>
                  <a:schemeClr val="accent1"/>
                </a:solidFill>
              </a:rPr>
              <a:t>Lv.3</a:t>
            </a:r>
            <a:endParaRPr lang="en-US" sz="1400" dirty="0"/>
          </a:p>
        </p:txBody>
      </p:sp>
      <p:sp>
        <p:nvSpPr>
          <p:cNvPr id="18" name="Text 15"/>
          <p:cNvSpPr txBox="1"/>
          <p:nvPr/>
        </p:nvSpPr>
        <p:spPr>
          <a:xfrm>
            <a:off x="7040880" y="3410712"/>
            <a:ext cx="4434840" cy="438912"/>
          </a:xfrm>
          <a:prstGeom prst="rect">
            <a:avLst/>
          </a:prstGeom>
          <a:noFill/>
          <a:ln/>
        </p:spPr>
        <p:txBody>
          <a:bodyPr wrap="square" lIns="0" tIns="0" rIns="0" bIns="0" rtlCol="0" anchor="t"/>
          <a:lstStyle/>
          <a:p>
            <a:pPr indent="0" marL="0">
              <a:buNone/>
            </a:pPr>
            <a:r>
              <a:rPr lang="en-US" sz="1200" dirty="0">
                <a:solidFill>
                  <a:schemeClr val="tx1"/>
                </a:solidFill>
              </a:rPr>
              <a:t>本人以外1名の利用を「検証での試用のみ」に変える（Q4-3は「はい」のまま）</a:t>
            </a:r>
            <a:endParaRPr lang="en-US" sz="1200" dirty="0"/>
          </a:p>
        </p:txBody>
      </p:sp>
      <p:sp>
        <p:nvSpPr>
          <p:cNvPr id="19" name="Text 16"/>
          <p:cNvSpPr txBox="1"/>
          <p:nvPr/>
        </p:nvSpPr>
        <p:spPr>
          <a:xfrm>
            <a:off x="7040880" y="3840480"/>
            <a:ext cx="4434840" cy="256032"/>
          </a:xfrm>
          <a:prstGeom prst="rect">
            <a:avLst/>
          </a:prstGeom>
          <a:noFill/>
          <a:ln/>
        </p:spPr>
        <p:txBody>
          <a:bodyPr wrap="square" lIns="0" tIns="0" rIns="0" bIns="0" rtlCol="0" anchor="t"/>
          <a:lstStyle/>
          <a:p>
            <a:pPr indent="0" marL="0">
              <a:buNone/>
            </a:pPr>
            <a:r>
              <a:rPr lang="en-US" sz="1200" b="1" dirty="0">
                <a:solidFill>
                  <a:schemeClr val="accent4"/>
                </a:solidFill>
              </a:rPr>
              <a:t>→ L3-G2・G4〜G6 未達</a:t>
            </a:r>
            <a:endParaRPr lang="en-US" sz="1200" dirty="0"/>
          </a:p>
        </p:txBody>
      </p:sp>
      <p:sp>
        <p:nvSpPr>
          <p:cNvPr id="20" name="Shape 17"/>
          <p:cNvSpPr/>
          <p:nvPr/>
        </p:nvSpPr>
        <p:spPr>
          <a:xfrm>
            <a:off x="6199632" y="4251960"/>
            <a:ext cx="5440680" cy="804672"/>
          </a:xfrm>
          <a:prstGeom prst="roundRect">
            <a:avLst>
              <a:gd name="adj" fmla="val 9091"/>
            </a:avLst>
          </a:prstGeom>
          <a:solidFill>
            <a:schemeClr val="bg2"/>
          </a:solidFill>
          <a:ln w="6350">
            <a:solidFill>
              <a:schemeClr val="bg2"/>
            </a:solidFill>
            <a:prstDash val="solid"/>
          </a:ln>
        </p:spPr>
      </p:sp>
      <p:sp>
        <p:nvSpPr>
          <p:cNvPr id="21" name="Text 18"/>
          <p:cNvSpPr txBox="1"/>
          <p:nvPr/>
        </p:nvSpPr>
        <p:spPr>
          <a:xfrm>
            <a:off x="6355080" y="4251960"/>
            <a:ext cx="685800" cy="804672"/>
          </a:xfrm>
          <a:prstGeom prst="rect">
            <a:avLst/>
          </a:prstGeom>
          <a:noFill/>
          <a:ln/>
        </p:spPr>
        <p:txBody>
          <a:bodyPr wrap="square" lIns="0" tIns="0" rIns="0" bIns="0" rtlCol="0" anchor="ctr"/>
          <a:lstStyle/>
          <a:p>
            <a:pPr indent="0" marL="0">
              <a:buNone/>
            </a:pPr>
            <a:r>
              <a:rPr lang="en-US" sz="1400" b="1" dirty="0">
                <a:solidFill>
                  <a:schemeClr val="accent1"/>
                </a:solidFill>
              </a:rPr>
              <a:t>Lv.4</a:t>
            </a:r>
            <a:endParaRPr lang="en-US" sz="1400" dirty="0"/>
          </a:p>
        </p:txBody>
      </p:sp>
      <p:sp>
        <p:nvSpPr>
          <p:cNvPr id="22" name="Text 19"/>
          <p:cNvSpPr txBox="1"/>
          <p:nvPr/>
        </p:nvSpPr>
        <p:spPr>
          <a:xfrm>
            <a:off x="7040880" y="4325112"/>
            <a:ext cx="4434840" cy="438912"/>
          </a:xfrm>
          <a:prstGeom prst="rect">
            <a:avLst/>
          </a:prstGeom>
          <a:noFill/>
          <a:ln/>
        </p:spPr>
        <p:txBody>
          <a:bodyPr wrap="square" lIns="0" tIns="0" rIns="0" bIns="0" rtlCol="0" anchor="t"/>
          <a:lstStyle/>
          <a:p>
            <a:pPr indent="0" marL="0">
              <a:buNone/>
            </a:pPr>
            <a:r>
              <a:rPr lang="en-US" sz="1200" dirty="0">
                <a:solidFill>
                  <a:schemeClr val="tx1"/>
                </a:solidFill>
              </a:rPr>
              <a:t>展開先単位数Q4-12を2→1に変える</a:t>
            </a:r>
            <a:endParaRPr lang="en-US" sz="1200" dirty="0"/>
          </a:p>
        </p:txBody>
      </p:sp>
      <p:sp>
        <p:nvSpPr>
          <p:cNvPr id="23" name="Text 20"/>
          <p:cNvSpPr txBox="1"/>
          <p:nvPr/>
        </p:nvSpPr>
        <p:spPr>
          <a:xfrm>
            <a:off x="7040880" y="4754880"/>
            <a:ext cx="4434840" cy="256032"/>
          </a:xfrm>
          <a:prstGeom prst="rect">
            <a:avLst/>
          </a:prstGeom>
          <a:noFill/>
          <a:ln/>
        </p:spPr>
        <p:txBody>
          <a:bodyPr wrap="square" lIns="0" tIns="0" rIns="0" bIns="0" rtlCol="0" anchor="t"/>
          <a:lstStyle/>
          <a:p>
            <a:pPr indent="0" marL="0">
              <a:buNone/>
            </a:pPr>
            <a:r>
              <a:rPr lang="en-US" sz="1200" b="1" dirty="0">
                <a:solidFill>
                  <a:schemeClr val="accent4"/>
                </a:solidFill>
              </a:rPr>
              <a:t>→ L4-G2・G8 未達</a:t>
            </a:r>
            <a:endParaRPr lang="en-US" sz="1200" dirty="0"/>
          </a:p>
        </p:txBody>
      </p:sp>
      <p:sp>
        <p:nvSpPr>
          <p:cNvPr id="24" name="Shape 21"/>
          <p:cNvSpPr/>
          <p:nvPr/>
        </p:nvSpPr>
        <p:spPr>
          <a:xfrm>
            <a:off x="548640" y="5349240"/>
            <a:ext cx="11091672" cy="731520"/>
          </a:xfrm>
          <a:prstGeom prst="roundRect">
            <a:avLst>
              <a:gd name="adj" fmla="val 10000"/>
            </a:avLst>
          </a:prstGeom>
          <a:solidFill>
            <a:schemeClr val="accent1">
              <a:alpha val="10000"/>
            </a:schemeClr>
          </a:solidFill>
          <a:ln w="9525">
            <a:solidFill>
              <a:schemeClr val="accent1">
                <a:alpha val="50000"/>
              </a:schemeClr>
            </a:solidFill>
            <a:prstDash val="solid"/>
          </a:ln>
        </p:spPr>
      </p:sp>
      <p:sp>
        <p:nvSpPr>
          <p:cNvPr id="25" name="Text 22"/>
          <p:cNvSpPr txBox="1"/>
          <p:nvPr/>
        </p:nvSpPr>
        <p:spPr>
          <a:xfrm>
            <a:off x="731520" y="5349240"/>
            <a:ext cx="10789920" cy="731520"/>
          </a:xfrm>
          <a:prstGeom prst="rect">
            <a:avLst/>
          </a:prstGeom>
          <a:noFill/>
          <a:ln/>
        </p:spPr>
        <p:txBody>
          <a:bodyPr wrap="square" lIns="0" tIns="0" rIns="0" bIns="0" rtlCol="0" anchor="ctr"/>
          <a:lstStyle/>
          <a:p>
            <a:pPr indent="0" marL="0">
              <a:buNone/>
            </a:pPr>
            <a:r>
              <a:rPr lang="en-US" sz="1300" b="1" dirty="0">
                <a:solidFill>
                  <a:schemeClr val="tx2"/>
                </a:solidFill>
              </a:rPr>
              <a:t>ペアの作り方　</a:t>
            </a:r>
            <a:pPr indent="0" marL="0">
              <a:buNone/>
            </a:pPr>
            <a:r>
              <a:rPr lang="en-US" sz="1300" dirty="0">
                <a:solidFill>
                  <a:schemeClr val="tx1"/>
                </a:solidFill>
              </a:rPr>
              <a:t>同じペルソナ・同じ本文で、分かれ目の1項目（と連動する項目）だけを変える。「一定期間」など数値が未定義の基準は分かれ目にしない</a:t>
            </a:r>
            <a:endParaRPr lang="en-US" sz="1300" dirty="0"/>
          </a:p>
        </p:txBody>
      </p:sp>
      <p:sp>
        <p:nvSpPr>
          <p:cNvPr id="26" name="Text 23"/>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出典：lv2〜lv4-prompt §6-4／各サンプルの教材メタ情報（境界タイプ・分かれ目・対比ペア）</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5　採点エージェントの検証</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検証の進め方と、引き継ぎで注意したいこと</a:t>
            </a:r>
            <a:endParaRPr lang="en-US" sz="2400" dirty="0"/>
          </a:p>
        </p:txBody>
      </p:sp>
      <p:sp>
        <p:nvSpPr>
          <p:cNvPr id="4" name="Text 2"/>
          <p:cNvSpPr txBox="1"/>
          <p:nvPr/>
        </p:nvSpPr>
        <p:spPr>
          <a:xfrm>
            <a:off x="548640" y="1463040"/>
            <a:ext cx="5029200" cy="320040"/>
          </a:xfrm>
          <a:prstGeom prst="rect">
            <a:avLst/>
          </a:prstGeom>
          <a:noFill/>
          <a:ln/>
        </p:spPr>
        <p:txBody>
          <a:bodyPr wrap="square" lIns="0" tIns="0" rIns="0" bIns="0" rtlCol="0" anchor="t"/>
          <a:lstStyle/>
          <a:p>
            <a:pPr indent="0" marL="0">
              <a:buNone/>
            </a:pPr>
            <a:r>
              <a:rPr lang="en-US" sz="1500" b="1" dirty="0">
                <a:solidFill>
                  <a:schemeClr val="tx2"/>
                </a:solidFill>
              </a:rPr>
              <a:t>進め方（案）</a:t>
            </a:r>
            <a:endParaRPr lang="en-US" sz="1500" dirty="0"/>
          </a:p>
        </p:txBody>
      </p:sp>
      <p:sp>
        <p:nvSpPr>
          <p:cNvPr id="5" name="Shape 3"/>
          <p:cNvSpPr/>
          <p:nvPr/>
        </p:nvSpPr>
        <p:spPr>
          <a:xfrm>
            <a:off x="548640" y="1965960"/>
            <a:ext cx="457200" cy="457200"/>
          </a:xfrm>
          <a:prstGeom prst="ellipse">
            <a:avLst/>
          </a:prstGeom>
          <a:solidFill>
            <a:schemeClr val="accent1"/>
          </a:solidFill>
          <a:ln w="6350">
            <a:solidFill>
              <a:schemeClr val="accent1"/>
            </a:solidFill>
            <a:prstDash val="solid"/>
          </a:ln>
        </p:spPr>
      </p:sp>
      <p:sp>
        <p:nvSpPr>
          <p:cNvPr id="6" name="Text 4"/>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Shape 5"/>
          <p:cNvSpPr/>
          <p:nvPr/>
        </p:nvSpPr>
        <p:spPr>
          <a:xfrm>
            <a:off x="1188720" y="1874520"/>
            <a:ext cx="4389120" cy="896112"/>
          </a:xfrm>
          <a:prstGeom prst="roundRect">
            <a:avLst>
              <a:gd name="adj" fmla="val 8163"/>
            </a:avLst>
          </a:prstGeom>
          <a:solidFill>
            <a:schemeClr val="bg2"/>
          </a:solidFill>
          <a:ln w="6350">
            <a:solidFill>
              <a:schemeClr val="bg2"/>
            </a:solidFill>
            <a:prstDash val="solid"/>
          </a:ln>
        </p:spPr>
      </p:sp>
      <p:sp>
        <p:nvSpPr>
          <p:cNvPr id="8" name="Text 6"/>
          <p:cNvSpPr txBox="1"/>
          <p:nvPr/>
        </p:nvSpPr>
        <p:spPr>
          <a:xfrm>
            <a:off x="1371600" y="1965960"/>
            <a:ext cx="4114800" cy="320040"/>
          </a:xfrm>
          <a:prstGeom prst="rect">
            <a:avLst/>
          </a:prstGeom>
          <a:noFill/>
          <a:ln/>
        </p:spPr>
        <p:txBody>
          <a:bodyPr wrap="square" lIns="0" tIns="0" rIns="0" bIns="0" rtlCol="0" anchor="t"/>
          <a:lstStyle/>
          <a:p>
            <a:pPr indent="0" marL="0">
              <a:buNone/>
            </a:pPr>
            <a:r>
              <a:rPr lang="en-US" sz="1400" b="1" dirty="0">
                <a:solidFill>
                  <a:schemeClr val="tx2"/>
                </a:solidFill>
              </a:rPr>
              <a:t>教材メタ情報を外して投入</a:t>
            </a:r>
            <a:endParaRPr lang="en-US" sz="1400" dirty="0"/>
          </a:p>
        </p:txBody>
      </p:sp>
      <p:sp>
        <p:nvSpPr>
          <p:cNvPr id="9" name="Text 7"/>
          <p:cNvSpPr txBox="1"/>
          <p:nvPr/>
        </p:nvSpPr>
        <p:spPr>
          <a:xfrm>
            <a:off x="1371600" y="2313432"/>
            <a:ext cx="4114800" cy="411480"/>
          </a:xfrm>
          <a:prstGeom prst="rect">
            <a:avLst/>
          </a:prstGeom>
          <a:noFill/>
          <a:ln/>
        </p:spPr>
        <p:txBody>
          <a:bodyPr wrap="square" lIns="0" tIns="0" rIns="0" bIns="0" rtlCol="0" anchor="t"/>
          <a:lstStyle/>
          <a:p>
            <a:pPr indent="0" marL="0">
              <a:buNone/>
            </a:pPr>
            <a:r>
              <a:rPr lang="en-US" sz="1200" dirty="0">
                <a:solidFill>
                  <a:schemeClr val="tx1"/>
                </a:solidFill>
              </a:rPr>
              <a:t>正解がエージェントに見えない状態で審査させる</a:t>
            </a:r>
            <a:endParaRPr lang="en-US" sz="1200" dirty="0"/>
          </a:p>
        </p:txBody>
      </p:sp>
      <p:sp>
        <p:nvSpPr>
          <p:cNvPr id="10" name="Shape 8"/>
          <p:cNvSpPr/>
          <p:nvPr/>
        </p:nvSpPr>
        <p:spPr>
          <a:xfrm>
            <a:off x="548640" y="2990088"/>
            <a:ext cx="457200" cy="457200"/>
          </a:xfrm>
          <a:prstGeom prst="ellipse">
            <a:avLst/>
          </a:prstGeom>
          <a:solidFill>
            <a:schemeClr val="accent1"/>
          </a:solidFill>
          <a:ln w="6350">
            <a:solidFill>
              <a:schemeClr val="accent1"/>
            </a:solidFill>
            <a:prstDash val="solid"/>
          </a:ln>
        </p:spPr>
      </p:sp>
      <p:sp>
        <p:nvSpPr>
          <p:cNvPr id="11" name="Text 9"/>
          <p:cNvSpPr txBox="1"/>
          <p:nvPr/>
        </p:nvSpPr>
        <p:spPr>
          <a:xfrm>
            <a:off x="548640" y="299008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Shape 10"/>
          <p:cNvSpPr/>
          <p:nvPr/>
        </p:nvSpPr>
        <p:spPr>
          <a:xfrm>
            <a:off x="1188720" y="2898648"/>
            <a:ext cx="4389120" cy="896112"/>
          </a:xfrm>
          <a:prstGeom prst="roundRect">
            <a:avLst>
              <a:gd name="adj" fmla="val 8163"/>
            </a:avLst>
          </a:prstGeom>
          <a:solidFill>
            <a:schemeClr val="bg2"/>
          </a:solidFill>
          <a:ln w="6350">
            <a:solidFill>
              <a:schemeClr val="bg2"/>
            </a:solidFill>
            <a:prstDash val="solid"/>
          </a:ln>
        </p:spPr>
      </p:sp>
      <p:sp>
        <p:nvSpPr>
          <p:cNvPr id="13" name="Text 11"/>
          <p:cNvSpPr txBox="1"/>
          <p:nvPr/>
        </p:nvSpPr>
        <p:spPr>
          <a:xfrm>
            <a:off x="1371600" y="2990088"/>
            <a:ext cx="4114800" cy="320040"/>
          </a:xfrm>
          <a:prstGeom prst="rect">
            <a:avLst/>
          </a:prstGeom>
          <a:noFill/>
          <a:ln/>
        </p:spPr>
        <p:txBody>
          <a:bodyPr wrap="square" lIns="0" tIns="0" rIns="0" bIns="0" rtlCol="0" anchor="t"/>
          <a:lstStyle/>
          <a:p>
            <a:pPr indent="0" marL="0">
              <a:buNone/>
            </a:pPr>
            <a:r>
              <a:rPr lang="en-US" sz="1400" b="1" dirty="0">
                <a:solidFill>
                  <a:schemeClr val="tx2"/>
                </a:solidFill>
              </a:rPr>
              <a:t>3段階で突合</a:t>
            </a:r>
            <a:endParaRPr lang="en-US" sz="1400" dirty="0"/>
          </a:p>
        </p:txBody>
      </p:sp>
      <p:sp>
        <p:nvSpPr>
          <p:cNvPr id="14" name="Text 12"/>
          <p:cNvSpPr txBox="1"/>
          <p:nvPr/>
        </p:nvSpPr>
        <p:spPr>
          <a:xfrm>
            <a:off x="1371600" y="3337560"/>
            <a:ext cx="4114800" cy="411480"/>
          </a:xfrm>
          <a:prstGeom prst="rect">
            <a:avLst/>
          </a:prstGeom>
          <a:noFill/>
          <a:ln/>
        </p:spPr>
        <p:txBody>
          <a:bodyPr wrap="square" lIns="0" tIns="0" rIns="0" bIns="0" rtlCol="0" anchor="t"/>
          <a:lstStyle/>
          <a:p>
            <a:pPr indent="0" marL="0">
              <a:buNone/>
            </a:pPr>
            <a:r>
              <a:rPr lang="en-US" sz="1200" dirty="0">
                <a:solidFill>
                  <a:schemeClr val="tx1"/>
                </a:solidFill>
              </a:rPr>
              <a:t>判定 → Gateの○× → スコアの順に一致を確認</a:t>
            </a:r>
            <a:endParaRPr lang="en-US" sz="1200" dirty="0"/>
          </a:p>
        </p:txBody>
      </p:sp>
      <p:sp>
        <p:nvSpPr>
          <p:cNvPr id="15" name="Shape 13"/>
          <p:cNvSpPr/>
          <p:nvPr/>
        </p:nvSpPr>
        <p:spPr>
          <a:xfrm>
            <a:off x="548640" y="4014216"/>
            <a:ext cx="457200" cy="457200"/>
          </a:xfrm>
          <a:prstGeom prst="ellipse">
            <a:avLst/>
          </a:prstGeom>
          <a:solidFill>
            <a:schemeClr val="accent1"/>
          </a:solidFill>
          <a:ln w="6350">
            <a:solidFill>
              <a:schemeClr val="accent1"/>
            </a:solidFill>
            <a:prstDash val="solid"/>
          </a:ln>
        </p:spPr>
      </p:sp>
      <p:sp>
        <p:nvSpPr>
          <p:cNvPr id="16" name="Text 14"/>
          <p:cNvSpPr txBox="1"/>
          <p:nvPr/>
        </p:nvSpPr>
        <p:spPr>
          <a:xfrm>
            <a:off x="548640" y="401421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Shape 15"/>
          <p:cNvSpPr/>
          <p:nvPr/>
        </p:nvSpPr>
        <p:spPr>
          <a:xfrm>
            <a:off x="1188720" y="3922776"/>
            <a:ext cx="4389120" cy="896112"/>
          </a:xfrm>
          <a:prstGeom prst="roundRect">
            <a:avLst>
              <a:gd name="adj" fmla="val 8163"/>
            </a:avLst>
          </a:prstGeom>
          <a:solidFill>
            <a:schemeClr val="bg2"/>
          </a:solidFill>
          <a:ln w="6350">
            <a:solidFill>
              <a:schemeClr val="bg2"/>
            </a:solidFill>
            <a:prstDash val="solid"/>
          </a:ln>
        </p:spPr>
      </p:sp>
      <p:sp>
        <p:nvSpPr>
          <p:cNvPr id="18" name="Text 16"/>
          <p:cNvSpPr txBox="1"/>
          <p:nvPr/>
        </p:nvSpPr>
        <p:spPr>
          <a:xfrm>
            <a:off x="1371600" y="4014216"/>
            <a:ext cx="4114800" cy="320040"/>
          </a:xfrm>
          <a:prstGeom prst="rect">
            <a:avLst/>
          </a:prstGeom>
          <a:noFill/>
          <a:ln/>
        </p:spPr>
        <p:txBody>
          <a:bodyPr wrap="square" lIns="0" tIns="0" rIns="0" bIns="0" rtlCol="0" anchor="t"/>
          <a:lstStyle/>
          <a:p>
            <a:pPr indent="0" marL="0">
              <a:buNone/>
            </a:pPr>
            <a:r>
              <a:rPr lang="en-US" sz="1400" b="1" dirty="0">
                <a:solidFill>
                  <a:schemeClr val="tx2"/>
                </a:solidFill>
              </a:rPr>
              <a:t>誤りを区分別に集計</a:t>
            </a:r>
            <a:endParaRPr lang="en-US" sz="1400" dirty="0"/>
          </a:p>
        </p:txBody>
      </p:sp>
      <p:sp>
        <p:nvSpPr>
          <p:cNvPr id="19" name="Text 17"/>
          <p:cNvSpPr txBox="1"/>
          <p:nvPr/>
        </p:nvSpPr>
        <p:spPr>
          <a:xfrm>
            <a:off x="1371600" y="4361688"/>
            <a:ext cx="4114800" cy="411480"/>
          </a:xfrm>
          <a:prstGeom prst="rect">
            <a:avLst/>
          </a:prstGeom>
          <a:noFill/>
          <a:ln/>
        </p:spPr>
        <p:txBody>
          <a:bodyPr wrap="square" lIns="0" tIns="0" rIns="0" bIns="0" rtlCol="0" anchor="t"/>
          <a:lstStyle/>
          <a:p>
            <a:pPr indent="0" marL="0">
              <a:buNone/>
            </a:pPr>
            <a:r>
              <a:rPr lang="en-US" sz="1200" dirty="0">
                <a:solidFill>
                  <a:schemeClr val="tx1"/>
                </a:solidFill>
              </a:rPr>
              <a:t>どのパターンで外すかを見て、プロンプトや基準の解釈を直す</a:t>
            </a:r>
            <a:endParaRPr lang="en-US" sz="1200" dirty="0"/>
          </a:p>
        </p:txBody>
      </p:sp>
      <p:sp>
        <p:nvSpPr>
          <p:cNvPr id="20" name="Shape 18"/>
          <p:cNvSpPr/>
          <p:nvPr/>
        </p:nvSpPr>
        <p:spPr>
          <a:xfrm>
            <a:off x="548640" y="5038344"/>
            <a:ext cx="457200" cy="457200"/>
          </a:xfrm>
          <a:prstGeom prst="ellipse">
            <a:avLst/>
          </a:prstGeom>
          <a:solidFill>
            <a:schemeClr val="accent1"/>
          </a:solidFill>
          <a:ln w="6350">
            <a:solidFill>
              <a:schemeClr val="accent1"/>
            </a:solidFill>
            <a:prstDash val="solid"/>
          </a:ln>
        </p:spPr>
      </p:sp>
      <p:sp>
        <p:nvSpPr>
          <p:cNvPr id="21" name="Text 19"/>
          <p:cNvSpPr txBox="1"/>
          <p:nvPr/>
        </p:nvSpPr>
        <p:spPr>
          <a:xfrm>
            <a:off x="548640" y="503834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2" name="Shape 20"/>
          <p:cNvSpPr/>
          <p:nvPr/>
        </p:nvSpPr>
        <p:spPr>
          <a:xfrm>
            <a:off x="1188720" y="4946904"/>
            <a:ext cx="4389120" cy="896112"/>
          </a:xfrm>
          <a:prstGeom prst="roundRect">
            <a:avLst>
              <a:gd name="adj" fmla="val 8163"/>
            </a:avLst>
          </a:prstGeom>
          <a:solidFill>
            <a:schemeClr val="bg2"/>
          </a:solidFill>
          <a:ln w="6350">
            <a:solidFill>
              <a:schemeClr val="bg2"/>
            </a:solidFill>
            <a:prstDash val="solid"/>
          </a:ln>
        </p:spPr>
      </p:sp>
      <p:sp>
        <p:nvSpPr>
          <p:cNvPr id="23" name="Text 21"/>
          <p:cNvSpPr txBox="1"/>
          <p:nvPr/>
        </p:nvSpPr>
        <p:spPr>
          <a:xfrm>
            <a:off x="1371600" y="5038344"/>
            <a:ext cx="4114800" cy="320040"/>
          </a:xfrm>
          <a:prstGeom prst="rect">
            <a:avLst/>
          </a:prstGeom>
          <a:noFill/>
          <a:ln/>
        </p:spPr>
        <p:txBody>
          <a:bodyPr wrap="square" lIns="0" tIns="0" rIns="0" bIns="0" rtlCol="0" anchor="t"/>
          <a:lstStyle/>
          <a:p>
            <a:pPr indent="0" marL="0">
              <a:buNone/>
            </a:pPr>
            <a:r>
              <a:rPr lang="en-US" sz="1400" b="1" dirty="0">
                <a:solidFill>
                  <a:schemeClr val="tx2"/>
                </a:solidFill>
              </a:rPr>
              <a:t>全件を再実行</a:t>
            </a:r>
            <a:endParaRPr lang="en-US" sz="1400" dirty="0"/>
          </a:p>
        </p:txBody>
      </p:sp>
      <p:sp>
        <p:nvSpPr>
          <p:cNvPr id="24" name="Text 22"/>
          <p:cNvSpPr txBox="1"/>
          <p:nvPr/>
        </p:nvSpPr>
        <p:spPr>
          <a:xfrm>
            <a:off x="1371600" y="5385816"/>
            <a:ext cx="4114800" cy="411480"/>
          </a:xfrm>
          <a:prstGeom prst="rect">
            <a:avLst/>
          </a:prstGeom>
          <a:noFill/>
          <a:ln/>
        </p:spPr>
        <p:txBody>
          <a:bodyPr wrap="square" lIns="0" tIns="0" rIns="0" bIns="0" rtlCol="0" anchor="t"/>
          <a:lstStyle/>
          <a:p>
            <a:pPr indent="0" marL="0">
              <a:buNone/>
            </a:pPr>
            <a:r>
              <a:rPr lang="en-US" sz="1200" dirty="0">
                <a:solidFill>
                  <a:schemeClr val="tx1"/>
                </a:solidFill>
              </a:rPr>
              <a:t>修正で他の区分が崩れていないかを確認する</a:t>
            </a:r>
            <a:endParaRPr lang="en-US" sz="1200" dirty="0"/>
          </a:p>
        </p:txBody>
      </p:sp>
      <p:sp>
        <p:nvSpPr>
          <p:cNvPr id="25" name="Text 23"/>
          <p:cNvSpPr txBox="1"/>
          <p:nvPr/>
        </p:nvSpPr>
        <p:spPr>
          <a:xfrm>
            <a:off x="5943600" y="1463040"/>
            <a:ext cx="5486400" cy="320040"/>
          </a:xfrm>
          <a:prstGeom prst="rect">
            <a:avLst/>
          </a:prstGeom>
          <a:noFill/>
          <a:ln/>
        </p:spPr>
        <p:txBody>
          <a:bodyPr wrap="square" lIns="0" tIns="0" rIns="0" bIns="0" rtlCol="0" anchor="t"/>
          <a:lstStyle/>
          <a:p>
            <a:pPr indent="0" marL="0">
              <a:buNone/>
            </a:pPr>
            <a:r>
              <a:rPr lang="en-US" sz="1500" b="1" dirty="0">
                <a:solidFill>
                  <a:schemeClr val="tx2"/>
                </a:solidFill>
              </a:rPr>
              <a:t>注意点</a:t>
            </a:r>
            <a:endParaRPr lang="en-US" sz="1500" dirty="0"/>
          </a:p>
        </p:txBody>
      </p:sp>
      <p:sp>
        <p:nvSpPr>
          <p:cNvPr id="26" name="Shape 24"/>
          <p:cNvSpPr/>
          <p:nvPr/>
        </p:nvSpPr>
        <p:spPr>
          <a:xfrm>
            <a:off x="5943600" y="1874520"/>
            <a:ext cx="5696712" cy="896112"/>
          </a:xfrm>
          <a:prstGeom prst="roundRect">
            <a:avLst>
              <a:gd name="adj" fmla="val 8163"/>
            </a:avLst>
          </a:prstGeom>
          <a:solidFill>
            <a:schemeClr val="accent4">
              <a:alpha val="12000"/>
            </a:schemeClr>
          </a:solidFill>
          <a:ln w="9525">
            <a:solidFill>
              <a:schemeClr val="accent4">
                <a:alpha val="50000"/>
              </a:schemeClr>
            </a:solidFill>
            <a:prstDash val="solid"/>
          </a:ln>
        </p:spPr>
      </p:sp>
      <p:sp>
        <p:nvSpPr>
          <p:cNvPr id="27" name="Text 25"/>
          <p:cNvSpPr txBox="1"/>
          <p:nvPr/>
        </p:nvSpPr>
        <p:spPr>
          <a:xfrm>
            <a:off x="6126480" y="1947672"/>
            <a:ext cx="5394960" cy="274320"/>
          </a:xfrm>
          <a:prstGeom prst="rect">
            <a:avLst/>
          </a:prstGeom>
          <a:noFill/>
          <a:ln/>
        </p:spPr>
        <p:txBody>
          <a:bodyPr wrap="square" lIns="0" tIns="0" rIns="0" bIns="0" rtlCol="0" anchor="t"/>
          <a:lstStyle/>
          <a:p>
            <a:pPr indent="0" marL="0">
              <a:buNone/>
            </a:pPr>
            <a:r>
              <a:rPr lang="en-US" sz="1400" b="1" dirty="0">
                <a:solidFill>
                  <a:schemeClr val="tx2"/>
                </a:solidFill>
              </a:rPr>
              <a:t>正解の混入を防ぐ</a:t>
            </a:r>
            <a:endParaRPr lang="en-US" sz="1400" dirty="0"/>
          </a:p>
        </p:txBody>
      </p:sp>
      <p:sp>
        <p:nvSpPr>
          <p:cNvPr id="28" name="Text 26"/>
          <p:cNvSpPr txBox="1"/>
          <p:nvPr/>
        </p:nvSpPr>
        <p:spPr>
          <a:xfrm>
            <a:off x="6126480" y="2240280"/>
            <a:ext cx="5394960" cy="502920"/>
          </a:xfrm>
          <a:prstGeom prst="rect">
            <a:avLst/>
          </a:prstGeom>
          <a:noFill/>
          <a:ln/>
        </p:spPr>
        <p:txBody>
          <a:bodyPr wrap="square" lIns="0" tIns="0" rIns="0" bIns="0" rtlCol="0" anchor="t"/>
          <a:lstStyle/>
          <a:p>
            <a:pPr indent="0" marL="0">
              <a:buNone/>
            </a:pPr>
            <a:r>
              <a:rPr lang="en-US" sz="1100" dirty="0">
                <a:solidFill>
                  <a:schemeClr val="tx1"/>
                </a:solidFill>
              </a:rPr>
              <a:t>このプロジェクトには正解入りのサンプルがある。エージェントを試す環境から参照されないよう分けておく</a:t>
            </a:r>
            <a:endParaRPr lang="en-US" sz="1100" dirty="0"/>
          </a:p>
        </p:txBody>
      </p:sp>
      <p:sp>
        <p:nvSpPr>
          <p:cNvPr id="29" name="Shape 27"/>
          <p:cNvSpPr/>
          <p:nvPr/>
        </p:nvSpPr>
        <p:spPr>
          <a:xfrm>
            <a:off x="5943600" y="2898648"/>
            <a:ext cx="5696712" cy="896112"/>
          </a:xfrm>
          <a:prstGeom prst="roundRect">
            <a:avLst>
              <a:gd name="adj" fmla="val 8163"/>
            </a:avLst>
          </a:prstGeom>
          <a:solidFill>
            <a:schemeClr val="accent2">
              <a:alpha val="12000"/>
            </a:schemeClr>
          </a:solidFill>
          <a:ln w="9525">
            <a:solidFill>
              <a:schemeClr val="accent2">
                <a:alpha val="50000"/>
              </a:schemeClr>
            </a:solidFill>
            <a:prstDash val="solid"/>
          </a:ln>
        </p:spPr>
      </p:sp>
      <p:sp>
        <p:nvSpPr>
          <p:cNvPr id="30" name="Text 28"/>
          <p:cNvSpPr txBox="1"/>
          <p:nvPr/>
        </p:nvSpPr>
        <p:spPr>
          <a:xfrm>
            <a:off x="6126480" y="2971800"/>
            <a:ext cx="5394960" cy="274320"/>
          </a:xfrm>
          <a:prstGeom prst="rect">
            <a:avLst/>
          </a:prstGeom>
          <a:noFill/>
          <a:ln/>
        </p:spPr>
        <p:txBody>
          <a:bodyPr wrap="square" lIns="0" tIns="0" rIns="0" bIns="0" rtlCol="0" anchor="t"/>
          <a:lstStyle/>
          <a:p>
            <a:pPr indent="0" marL="0">
              <a:buNone/>
            </a:pPr>
            <a:r>
              <a:rPr lang="en-US" sz="1400" b="1" dirty="0">
                <a:solidFill>
                  <a:schemeClr val="tx2"/>
                </a:solidFill>
              </a:rPr>
              <a:t>サンプルが未カバーの論点</a:t>
            </a:r>
            <a:endParaRPr lang="en-US" sz="1400" dirty="0"/>
          </a:p>
        </p:txBody>
      </p:sp>
      <p:sp>
        <p:nvSpPr>
          <p:cNvPr id="31" name="Text 29"/>
          <p:cNvSpPr txBox="1"/>
          <p:nvPr/>
        </p:nvSpPr>
        <p:spPr>
          <a:xfrm>
            <a:off x="6126480" y="3264408"/>
            <a:ext cx="5394960" cy="502920"/>
          </a:xfrm>
          <a:prstGeom prst="rect">
            <a:avLst/>
          </a:prstGeom>
          <a:noFill/>
          <a:ln/>
        </p:spPr>
        <p:txBody>
          <a:bodyPr wrap="square" lIns="0" tIns="0" rIns="0" bIns="0" rtlCol="0" anchor="t"/>
          <a:lstStyle/>
          <a:p>
            <a:pPr indent="0" marL="0">
              <a:buNone/>
            </a:pPr>
            <a:r>
              <a:rPr lang="en-US" sz="1100" dirty="0">
                <a:solidFill>
                  <a:schemeClr val="tx1"/>
                </a:solidFill>
              </a:rPr>
              <a:t>同一チームが持つ複数案件を展開先と数える問題（付録2 #2）、小規模組織の代替ルート、Lv.4の人による最終確認</a:t>
            </a:r>
            <a:endParaRPr lang="en-US" sz="1100" dirty="0"/>
          </a:p>
        </p:txBody>
      </p:sp>
      <p:sp>
        <p:nvSpPr>
          <p:cNvPr id="32" name="Shape 30"/>
          <p:cNvSpPr/>
          <p:nvPr/>
        </p:nvSpPr>
        <p:spPr>
          <a:xfrm>
            <a:off x="5943600" y="3922776"/>
            <a:ext cx="5696712" cy="896112"/>
          </a:xfrm>
          <a:prstGeom prst="roundRect">
            <a:avLst>
              <a:gd name="adj" fmla="val 8163"/>
            </a:avLst>
          </a:prstGeom>
          <a:solidFill>
            <a:schemeClr val="accent5">
              <a:alpha val="12000"/>
            </a:schemeClr>
          </a:solidFill>
          <a:ln w="9525">
            <a:solidFill>
              <a:schemeClr val="accent5">
                <a:alpha val="50000"/>
              </a:schemeClr>
            </a:solidFill>
            <a:prstDash val="solid"/>
          </a:ln>
        </p:spPr>
      </p:sp>
      <p:sp>
        <p:nvSpPr>
          <p:cNvPr id="33" name="Text 31"/>
          <p:cNvSpPr txBox="1"/>
          <p:nvPr/>
        </p:nvSpPr>
        <p:spPr>
          <a:xfrm>
            <a:off x="6126480" y="3995928"/>
            <a:ext cx="5394960" cy="274320"/>
          </a:xfrm>
          <a:prstGeom prst="rect">
            <a:avLst/>
          </a:prstGeom>
          <a:noFill/>
          <a:ln/>
        </p:spPr>
        <p:txBody>
          <a:bodyPr wrap="square" lIns="0" tIns="0" rIns="0" bIns="0" rtlCol="0" anchor="t"/>
          <a:lstStyle/>
          <a:p>
            <a:pPr indent="0" marL="0">
              <a:buNone/>
            </a:pPr>
            <a:r>
              <a:rPr lang="en-US" sz="1400" b="1" dirty="0">
                <a:solidFill>
                  <a:schemeClr val="tx2"/>
                </a:solidFill>
              </a:rPr>
              <a:t>ファイル形式</a:t>
            </a:r>
            <a:endParaRPr lang="en-US" sz="1400" dirty="0"/>
          </a:p>
        </p:txBody>
      </p:sp>
      <p:sp>
        <p:nvSpPr>
          <p:cNvPr id="34" name="Text 32"/>
          <p:cNvSpPr txBox="1"/>
          <p:nvPr/>
        </p:nvSpPr>
        <p:spPr>
          <a:xfrm>
            <a:off x="6126480" y="4288536"/>
            <a:ext cx="5394960" cy="502920"/>
          </a:xfrm>
          <a:prstGeom prst="rect">
            <a:avLst/>
          </a:prstGeom>
          <a:noFill/>
          <a:ln/>
        </p:spPr>
        <p:txBody>
          <a:bodyPr wrap="square" lIns="0" tIns="0" rIns="0" bIns="0" rtlCol="0" anchor="t"/>
          <a:lstStyle/>
          <a:p>
            <a:pPr indent="0" marL="0">
              <a:buNone/>
            </a:pPr>
            <a:r>
              <a:rPr lang="en-US" sz="1100" dirty="0">
                <a:solidFill>
                  <a:schemeClr val="tx1"/>
                </a:solidFill>
              </a:rPr>
              <a:t>作成方針は.txtだが、プロジェクト内のサンプルは見出し付きの.md。メタ情報を外す処理が両方に対応しているか確認する</a:t>
            </a:r>
            <a:endParaRPr lang="en-US" sz="1100" dirty="0"/>
          </a:p>
        </p:txBody>
      </p:sp>
      <p:sp>
        <p:nvSpPr>
          <p:cNvPr id="35" name="Shape 33"/>
          <p:cNvSpPr/>
          <p:nvPr/>
        </p:nvSpPr>
        <p:spPr>
          <a:xfrm>
            <a:off x="5943600" y="4946904"/>
            <a:ext cx="5696712" cy="896112"/>
          </a:xfrm>
          <a:prstGeom prst="roundRect">
            <a:avLst>
              <a:gd name="adj" fmla="val 8163"/>
            </a:avLst>
          </a:prstGeom>
          <a:solidFill>
            <a:schemeClr val="accent1">
              <a:alpha val="12000"/>
            </a:schemeClr>
          </a:solidFill>
          <a:ln w="9525">
            <a:solidFill>
              <a:schemeClr val="accent1">
                <a:alpha val="50000"/>
              </a:schemeClr>
            </a:solidFill>
            <a:prstDash val="solid"/>
          </a:ln>
        </p:spPr>
      </p:sp>
      <p:sp>
        <p:nvSpPr>
          <p:cNvPr id="36" name="Text 34"/>
          <p:cNvSpPr txBox="1"/>
          <p:nvPr/>
        </p:nvSpPr>
        <p:spPr>
          <a:xfrm>
            <a:off x="6126480" y="5020056"/>
            <a:ext cx="5394960" cy="274320"/>
          </a:xfrm>
          <a:prstGeom prst="rect">
            <a:avLst/>
          </a:prstGeom>
          <a:noFill/>
          <a:ln/>
        </p:spPr>
        <p:txBody>
          <a:bodyPr wrap="square" lIns="0" tIns="0" rIns="0" bIns="0" rtlCol="0" anchor="t"/>
          <a:lstStyle/>
          <a:p>
            <a:pPr indent="0" marL="0">
              <a:buNone/>
            </a:pPr>
            <a:r>
              <a:rPr lang="en-US" sz="1400" b="1" dirty="0">
                <a:solidFill>
                  <a:schemeClr val="tx2"/>
                </a:solidFill>
              </a:rPr>
              <a:t>上位資料の改訂時</a:t>
            </a:r>
            <a:endParaRPr lang="en-US" sz="1400" dirty="0"/>
          </a:p>
        </p:txBody>
      </p:sp>
      <p:sp>
        <p:nvSpPr>
          <p:cNvPr id="37" name="Text 35"/>
          <p:cNvSpPr txBox="1"/>
          <p:nvPr/>
        </p:nvSpPr>
        <p:spPr>
          <a:xfrm>
            <a:off x="6126480" y="5312664"/>
            <a:ext cx="5394960" cy="502920"/>
          </a:xfrm>
          <a:prstGeom prst="rect">
            <a:avLst/>
          </a:prstGeom>
          <a:noFill/>
          <a:ln/>
        </p:spPr>
        <p:txBody>
          <a:bodyPr wrap="square" lIns="0" tIns="0" rIns="0" bIns="0" rtlCol="0" anchor="t"/>
          <a:lstStyle/>
          <a:p>
            <a:pPr indent="0" marL="0">
              <a:buNone/>
            </a:pPr>
            <a:r>
              <a:rPr lang="en-US" sz="1100" dirty="0">
                <a:solidFill>
                  <a:schemeClr val="tx1"/>
                </a:solidFill>
              </a:rPr>
              <a:t>確定案や設計資料が変わったら、作成方針→サンプルの順に見直す</a:t>
            </a:r>
            <a:endParaRPr lang="en-US" sz="1100" dirty="0"/>
          </a:p>
        </p:txBody>
      </p:sp>
      <p:sp>
        <p:nvSpPr>
          <p:cNvPr id="38" name="Text 36"/>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出典：CLAUDE.md／01_共通作成方針 §4・§6-4／付録2</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付録1</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未確定事項：決まっていない値は、設定で変えられるようにしておく</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4572000"/>
                <a:gridCol w="4690872"/>
                <a:gridCol w="1828800"/>
              </a:tblGrid>
              <a:tr h="429768">
                <a:tc>
                  <a:txBody>
                    <a:bodyPr/>
                    <a:lstStyle/>
                    <a:p>
                      <a:pPr indent="0" marL="0">
                        <a:buNone/>
                      </a:pPr>
                      <a:r>
                        <a:rPr lang="en-US" sz="1300" b="1" dirty="0">
                          <a:solidFill>
                            <a:srgbClr val="FFFFFF"/>
                          </a:solidFill>
                        </a:rPr>
                        <a:t>未確定の項目</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300" b="1" dirty="0">
                          <a:solidFill>
                            <a:srgbClr val="FFFFFF"/>
                          </a:solidFill>
                        </a:rPr>
                        <a:t>影響する箇所</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300" b="1" dirty="0">
                          <a:solidFill>
                            <a:srgbClr val="FFFFFF"/>
                          </a:solidFill>
                        </a:rPr>
                        <a:t>記載資料</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r>
              <a:tr h="429768">
                <a:tc>
                  <a:txBody>
                    <a:bodyPr/>
                    <a:lstStyle/>
                    <a:p>
                      <a:pPr indent="0" marL="0">
                        <a:buNone/>
                      </a:pPr>
                      <a:r>
                        <a:rPr lang="en-US" sz="1300" dirty="0">
                          <a:solidFill>
                            <a:srgbClr val="1F2A2E"/>
                          </a:solidFill>
                        </a:rPr>
                        <a:t>機密情報の取り扱い（入力してよい範囲）</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申請フォーム・審査AIへの入力</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確定案・01</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429768">
                <a:tc>
                  <a:txBody>
                    <a:bodyPr/>
                    <a:lstStyle/>
                    <a:p>
                      <a:pPr indent="0" marL="0">
                        <a:buNone/>
                      </a:pPr>
                      <a:r>
                        <a:rPr lang="en-US" sz="1300" dirty="0">
                          <a:solidFill>
                            <a:srgbClr val="1F2A2E"/>
                          </a:solidFill>
                        </a:rPr>
                        <a:t>差し戻し・再提出のルール（回数・期限）</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情報不足／承認者差し戻しの運用</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確定案・01</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429768">
                <a:tc>
                  <a:txBody>
                    <a:bodyPr/>
                    <a:lstStyle/>
                    <a:p>
                      <a:pPr indent="0" marL="0">
                        <a:buNone/>
                      </a:pPr>
                      <a:r>
                        <a:rPr lang="en-US" sz="1300" dirty="0">
                          <a:solidFill>
                            <a:srgbClr val="1F2A2E"/>
                          </a:solidFill>
                        </a:rPr>
                        <a:t>再申請までの待機期間</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不合格後の再申請</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01</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429768">
                <a:tc>
                  <a:txBody>
                    <a:bodyPr/>
                    <a:lstStyle/>
                    <a:p>
                      <a:pPr indent="0" marL="0">
                        <a:buNone/>
                      </a:pPr>
                      <a:r>
                        <a:rPr lang="en-US" sz="1300" dirty="0">
                          <a:solidFill>
                            <a:srgbClr val="1F2A2E"/>
                          </a:solidFill>
                        </a:rPr>
                        <a:t>「一定期間」の具体的な長さ</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Lv.4 Gate（運用実績）・人の最終確認</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01・02・03</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429768">
                <a:tc>
                  <a:txBody>
                    <a:bodyPr/>
                    <a:lstStyle/>
                    <a:p>
                      <a:pPr indent="0" marL="0">
                        <a:buNone/>
                      </a:pPr>
                      <a:r>
                        <a:rPr lang="en-US" sz="1300" dirty="0">
                          <a:solidFill>
                            <a:srgbClr val="1F2A2E"/>
                          </a:solidFill>
                        </a:rPr>
                        <a:t>加重平均の表示桁・丸め方</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結果画面の表示（合否比較は丸め前の値）</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02</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429768">
                <a:tc>
                  <a:txBody>
                    <a:bodyPr/>
                    <a:lstStyle/>
                    <a:p>
                      <a:pPr indent="0" marL="0">
                        <a:buNone/>
                      </a:pPr>
                      <a:r>
                        <a:rPr lang="en-US" sz="1300" dirty="0">
                          <a:solidFill>
                            <a:srgbClr val="1F2A2E"/>
                          </a:solidFill>
                        </a:rPr>
                        <a:t>公開リスクが高い事例の追加承認者</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公開承認フロー</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01・04</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429768">
                <a:tc>
                  <a:txBody>
                    <a:bodyPr/>
                    <a:lstStyle/>
                    <a:p>
                      <a:pPr indent="0" marL="0">
                        <a:buNone/>
                      </a:pPr>
                      <a:r>
                        <a:rPr lang="en-US" sz="1300" dirty="0">
                          <a:solidFill>
                            <a:srgbClr val="1F2A2E"/>
                          </a:solidFill>
                        </a:rPr>
                        <a:t>公開停止のサービス水準・保存期間・削除手続</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公開後の運用</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04</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429768">
                <a:tc>
                  <a:txBody>
                    <a:bodyPr/>
                    <a:lstStyle/>
                    <a:p>
                      <a:pPr indent="0" marL="0">
                        <a:buNone/>
                      </a:pPr>
                      <a:r>
                        <a:rPr lang="en-US" sz="1300" dirty="0">
                          <a:solidFill>
                            <a:srgbClr val="1F2A2E"/>
                          </a:solidFill>
                        </a:rPr>
                        <a:t>公開時の数値の丸め幅</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匿名化ルール</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300" dirty="0">
                          <a:solidFill>
                            <a:srgbClr val="1F2A2E"/>
                          </a:solidFill>
                        </a:rPr>
                        <a:t>04</a:t>
                      </a:r>
                      <a:endParaRPr lang="en-US" sz="1300" dirty="0"/>
                    </a:p>
                  </a:txBody>
                  <a:tcPr marL="73152" marR="73152" marT="73152" marB="73152"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bl>
          </a:graphicData>
        </a:graphic>
      </p:graphicFrame>
      <p:sp>
        <p:nvSpPr>
          <p:cNvPr id="5" name="Shape 2"/>
          <p:cNvSpPr/>
          <p:nvPr/>
        </p:nvSpPr>
        <p:spPr>
          <a:xfrm>
            <a:off x="548640" y="5486400"/>
            <a:ext cx="11091672" cy="594360"/>
          </a:xfrm>
          <a:prstGeom prst="roundRect">
            <a:avLst>
              <a:gd name="adj" fmla="val 12308"/>
            </a:avLst>
          </a:prstGeom>
          <a:solidFill>
            <a:schemeClr val="accent2">
              <a:alpha val="12000"/>
            </a:schemeClr>
          </a:solidFill>
          <a:ln w="9525">
            <a:solidFill>
              <a:schemeClr val="accent2">
                <a:alpha val="50000"/>
              </a:schemeClr>
            </a:solidFill>
            <a:prstDash val="solid"/>
          </a:ln>
        </p:spPr>
      </p:sp>
      <p:sp>
        <p:nvSpPr>
          <p:cNvPr id="6" name="Text 3"/>
          <p:cNvSpPr txBox="1"/>
          <p:nvPr/>
        </p:nvSpPr>
        <p:spPr>
          <a:xfrm>
            <a:off x="731520" y="5486400"/>
            <a:ext cx="10789920" cy="594360"/>
          </a:xfrm>
          <a:prstGeom prst="rect">
            <a:avLst/>
          </a:prstGeom>
          <a:noFill/>
          <a:ln/>
        </p:spPr>
        <p:txBody>
          <a:bodyPr wrap="square" lIns="0" tIns="0" rIns="0" bIns="0" rtlCol="0" anchor="ctr"/>
          <a:lstStyle/>
          <a:p>
            <a:pPr indent="0" marL="0">
              <a:buNone/>
            </a:pPr>
            <a:r>
              <a:rPr lang="en-US" sz="1400" dirty="0">
                <a:solidFill>
                  <a:schemeClr val="tx1"/>
                </a:solidFill>
              </a:rPr>
              <a:t>確定案は「更新中」。追記が出たら、設計資料01〜04への反映が必要かを確認する</a:t>
            </a:r>
            <a:endParaRPr lang="en-US" sz="1400" dirty="0"/>
          </a:p>
        </p:txBody>
      </p:sp>
      <p:sp>
        <p:nvSpPr>
          <p:cNvPr id="7" name="Text 4"/>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出典：確定案 §8.5／01「制度上位ルールと詳細設計の区分」／02「加重平均の計算」／04「未確定事項」</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付録2</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資料間の注意点：改定するときに解消を検討したい箇所</a:t>
            </a:r>
            <a:endParaRPr lang="en-US" sz="2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411480"/>
                <a:gridCol w="7662672"/>
                <a:gridCol w="1463040"/>
                <a:gridCol w="1554480"/>
              </a:tblGrid>
              <a:tr h="365760">
                <a:tc>
                  <a:txBody>
                    <a:bodyPr/>
                    <a:lstStyle/>
                    <a:p>
                      <a:pPr indent="0" marL="0">
                        <a:buNone/>
                      </a:pPr>
                      <a:r>
                        <a:rPr lang="en-US" sz="1200" b="1" dirty="0">
                          <a:solidFill>
                            <a:srgbClr val="FFFFFF"/>
                          </a:solidFill>
                        </a:rPr>
                        <a:t>#</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rPr>
                        <a:t>内容</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rPr>
                        <a:t>該当資料</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rPr>
                        <a:t>影響</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solidFill>
                      <a:srgbClr val="0F3D3E"/>
                    </a:solidFill>
                  </a:tcPr>
                </a:tc>
              </a:tr>
              <a:tr h="731520">
                <a:tc>
                  <a:txBody>
                    <a:bodyPr/>
                    <a:lstStyle/>
                    <a:p>
                      <a:pPr indent="0" marL="0">
                        <a:buNone/>
                      </a:pPr>
                      <a:r>
                        <a:rPr lang="en-US" sz="1200" dirty="0">
                          <a:solidFill>
                            <a:srgbClr val="1F2A2E"/>
                          </a:solidFill>
                        </a:rPr>
                        <a:t>1</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L3-G6・L4-G8は「再利用・展開・定着が2点以上」で、Gate判定の時点では出ていない採点結果を前提にしている →【方針】点数ではなく2点水準の条件で判定する（02の文言修正が必要）</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02・03</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実装の処理順</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566928">
                <a:tc>
                  <a:txBody>
                    <a:bodyPr/>
                    <a:lstStyle/>
                    <a:p>
                      <a:pPr indent="0" marL="0">
                        <a:buNone/>
                      </a:pPr>
                      <a:r>
                        <a:rPr lang="en-US" sz="1200" dirty="0">
                          <a:solidFill>
                            <a:srgbClr val="1F2A2E"/>
                          </a:solidFill>
                        </a:rPr>
                        <a:t>2</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確定案では「同じチームが複数の顧客案件を担当しても、チーム内ならLv.3」。フォームのQ4-12は案件ごとに展開先として数えられてしまう</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確定案・03</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Lv.4の誤判定</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502920">
                <a:tc>
                  <a:txBody>
                    <a:bodyPr/>
                    <a:lstStyle/>
                    <a:p>
                      <a:pPr indent="0" marL="0">
                        <a:buNone/>
                      </a:pPr>
                      <a:r>
                        <a:rPr lang="en-US" sz="1200" dirty="0">
                          <a:solidFill>
                            <a:srgbClr val="1F2A2E"/>
                          </a:solidFill>
                        </a:rPr>
                        <a:t>3</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小規模組織の代替ルートを選んだとき、通常のLv.4 Gateのどれが置き換わるか明記がない</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02・03</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Lv.4 Gate判定</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502920">
                <a:tc>
                  <a:txBody>
                    <a:bodyPr/>
                    <a:lstStyle/>
                    <a:p>
                      <a:pPr indent="0" marL="0">
                        <a:buNone/>
                      </a:pPr>
                      <a:r>
                        <a:rPr lang="en-US" sz="1200" dirty="0">
                          <a:solidFill>
                            <a:srgbClr val="1F2A2E"/>
                          </a:solidFill>
                        </a:rPr>
                        <a:t>4</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Lv.4の人の確認項目「判定理由に不自然な点・見落としがないか」が01に記載されていない</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確定案・01</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確認画面</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502920">
                <a:tc>
                  <a:txBody>
                    <a:bodyPr/>
                    <a:lstStyle/>
                    <a:p>
                      <a:pPr indent="0" marL="0">
                        <a:buNone/>
                      </a:pPr>
                      <a:r>
                        <a:rPr lang="en-US" sz="1200" dirty="0">
                          <a:solidFill>
                            <a:srgbClr val="1F2A2E"/>
                          </a:solidFill>
                        </a:rPr>
                        <a:t>5</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承認者を申請者ごとに事前設定する仕組み（承認者の管理）が設計に記載されていない</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確定案・03</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承認機能</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566928">
                <a:tc>
                  <a:txBody>
                    <a:bodyPr/>
                    <a:lstStyle/>
                    <a:p>
                      <a:pPr indent="0" marL="0">
                        <a:buNone/>
                      </a:pPr>
                      <a:r>
                        <a:rPr lang="en-US" sz="1200" dirty="0">
                          <a:solidFill>
                            <a:srgbClr val="1F2A2E"/>
                          </a:solidFill>
                        </a:rPr>
                        <a:t>6</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フォームの記載ゆれ：Q0-7が詳細表にない／Q4-7の必須条件が表と本文で違う／Q4-20の記述欄の有無</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03</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フォーム実装</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r h="457200">
                <a:tc>
                  <a:txBody>
                    <a:bodyPr/>
                    <a:lstStyle/>
                    <a:p>
                      <a:pPr indent="0" marL="0">
                        <a:buNone/>
                      </a:pPr>
                      <a:r>
                        <a:rPr lang="en-US" sz="1200" dirty="0">
                          <a:solidFill>
                            <a:srgbClr val="1F2A2E"/>
                          </a:solidFill>
                        </a:rPr>
                        <a:t>7</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01の審査ステップに、システムによる形式チェックが入っていない</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01・03</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c>
                  <a:txBody>
                    <a:bodyPr/>
                    <a:lstStyle/>
                    <a:p>
                      <a:pPr indent="0" marL="0">
                        <a:buNone/>
                      </a:pPr>
                      <a:r>
                        <a:rPr lang="en-US" sz="1200" dirty="0">
                          <a:solidFill>
                            <a:srgbClr val="1F2A2E"/>
                          </a:solidFill>
                        </a:rPr>
                        <a:t>説明の一貫性</a:t>
                      </a:r>
                      <a:endParaRPr lang="en-US" sz="1200" dirty="0"/>
                    </a:p>
                  </a:txBody>
                  <a:tcPr marL="64008" marR="64008" marT="64008" marB="64008" anchor="ctr">
                    <a:lnL w="9525" cap="flat" cmpd="sng" algn="ctr">
                      <a:solidFill>
                        <a:srgbClr val="C9D8D4"/>
                      </a:solidFill>
                      <a:prstDash val="solid"/>
                      <a:round/>
                      <a:headEnd type="none" w="med" len="med"/>
                      <a:tailEnd type="none" w="med" len="med"/>
                    </a:lnL>
                    <a:lnR w="9525" cap="flat" cmpd="sng" algn="ctr">
                      <a:solidFill>
                        <a:srgbClr val="C9D8D4"/>
                      </a:solidFill>
                      <a:prstDash val="solid"/>
                      <a:round/>
                      <a:headEnd type="none" w="med" len="med"/>
                      <a:tailEnd type="none" w="med" len="med"/>
                    </a:lnR>
                    <a:lnT w="9525" cap="flat" cmpd="sng" algn="ctr">
                      <a:solidFill>
                        <a:srgbClr val="C9D8D4"/>
                      </a:solidFill>
                      <a:prstDash val="solid"/>
                      <a:round/>
                      <a:headEnd type="none" w="med" len="med"/>
                      <a:tailEnd type="none" w="med" len="med"/>
                    </a:lnT>
                    <a:lnB w="9525" cap="flat" cmpd="sng" algn="ctr">
                      <a:solidFill>
                        <a:srgbClr val="C9D8D4"/>
                      </a:solidFill>
                      <a:prstDash val="solid"/>
                      <a:round/>
                      <a:headEnd type="none" w="med" len="med"/>
                      <a:tailEnd type="none" w="med" len="med"/>
                    </a:lnB>
                  </a:tcPr>
                </a:tc>
              </a:tr>
            </a:tbl>
          </a:graphicData>
        </a:graphic>
      </p:graphicFrame>
      <p:sp>
        <p:nvSpPr>
          <p:cNvPr id="5" name="Text 2"/>
          <p:cNvSpPr txBox="1"/>
          <p:nvPr/>
        </p:nvSpPr>
        <p:spPr>
          <a:xfrm>
            <a:off x="548640" y="6199632"/>
            <a:ext cx="11091672" cy="228600"/>
          </a:xfrm>
          <a:prstGeom prst="rect">
            <a:avLst/>
          </a:prstGeom>
          <a:noFill/>
          <a:ln/>
        </p:spPr>
        <p:txBody>
          <a:bodyPr wrap="square" lIns="0" tIns="0" rIns="0" bIns="0" rtlCol="0" anchor="t"/>
          <a:lstStyle/>
          <a:p>
            <a:pPr indent="0" marL="0">
              <a:buNone/>
            </a:pPr>
            <a:r>
              <a:rPr lang="en-US" sz="1000" dirty="0">
                <a:solidFill>
                  <a:schemeClr val="accent5"/>
                </a:solidFill>
              </a:rPr>
              <a:t>出典：各資料の照合結果（2026年10月時点）</a:t>
            </a:r>
            <a:endParaRPr lang="en-US" sz="10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274320"/>
          </a:xfrm>
          <a:prstGeom prst="rect">
            <a:avLst/>
          </a:prstGeom>
          <a:noFill/>
          <a:ln/>
        </p:spPr>
        <p:txBody>
          <a:bodyPr wrap="square" lIns="0" tIns="0" rIns="0" bIns="0" rtlCol="0"/>
          <a:lstStyle/>
          <a:p>
            <a:pPr indent="0" marL="0">
              <a:buNone/>
            </a:pPr>
            <a:r>
              <a:rPr lang="en-US" sz="1200" b="1" dirty="0">
                <a:solidFill>
                  <a:schemeClr val="accent1"/>
                </a:solidFill>
              </a:rPr>
              <a:t>付録3</a:t>
            </a:r>
            <a:endParaRPr lang="en-US" sz="1200" dirty="0"/>
          </a:p>
        </p:txBody>
      </p:sp>
      <p:sp>
        <p:nvSpPr>
          <p:cNvPr id="3" name="Text 0"/>
          <p:cNvSpPr/>
          <p:nvPr>
            <p:ph idx="101" type="title" hasCustomPrompt="1"/>
          </p:nvPr>
        </p:nvSpPr>
        <p:spPr>
          <a:xfrm>
            <a:off x="548640" y="548640"/>
            <a:ext cx="11091672" cy="731520"/>
          </a:xfrm>
          <a:prstGeom prst="rect">
            <a:avLst/>
          </a:prstGeom>
          <a:noFill/>
          <a:ln/>
        </p:spPr>
        <p:txBody>
          <a:bodyPr wrap="square" lIns="0" tIns="0" rIns="0" bIns="0" rtlCol="0" anchor="ctr"/>
          <a:lstStyle/>
          <a:p>
            <a:pPr algn="l" indent="0" marL="0">
              <a:buNone/>
            </a:pPr>
            <a:r>
              <a:rPr lang="en-US" sz="2400" b="1" dirty="0">
                <a:solidFill>
                  <a:schemeClr val="tx2"/>
                </a:solidFill>
              </a:rPr>
              <a:t>用語集</a:t>
            </a:r>
            <a:endParaRPr lang="en-US" sz="2400" dirty="0"/>
          </a:p>
        </p:txBody>
      </p:sp>
      <p:sp>
        <p:nvSpPr>
          <p:cNvPr id="4" name="Shape 2"/>
          <p:cNvSpPr/>
          <p:nvPr/>
        </p:nvSpPr>
        <p:spPr>
          <a:xfrm>
            <a:off x="548640" y="1463040"/>
            <a:ext cx="5468112" cy="676656"/>
          </a:xfrm>
          <a:prstGeom prst="roundRect">
            <a:avLst>
              <a:gd name="adj" fmla="val 10811"/>
            </a:avLst>
          </a:prstGeom>
          <a:solidFill>
            <a:schemeClr val="bg2"/>
          </a:solidFill>
          <a:ln w="6350">
            <a:solidFill>
              <a:schemeClr val="bg2"/>
            </a:solidFill>
            <a:prstDash val="solid"/>
          </a:ln>
        </p:spPr>
      </p:sp>
      <p:sp>
        <p:nvSpPr>
          <p:cNvPr id="5" name="Text 3"/>
          <p:cNvSpPr txBox="1"/>
          <p:nvPr/>
        </p:nvSpPr>
        <p:spPr>
          <a:xfrm>
            <a:off x="731520" y="1463040"/>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Gate</a:t>
            </a:r>
            <a:endParaRPr lang="en-US" sz="1400" dirty="0"/>
          </a:p>
        </p:txBody>
      </p:sp>
      <p:sp>
        <p:nvSpPr>
          <p:cNvPr id="6" name="Text 4"/>
          <p:cNvSpPr txBox="1"/>
          <p:nvPr/>
        </p:nvSpPr>
        <p:spPr>
          <a:xfrm>
            <a:off x="2468880" y="1463040"/>
            <a:ext cx="3429000" cy="676656"/>
          </a:xfrm>
          <a:prstGeom prst="rect">
            <a:avLst/>
          </a:prstGeom>
          <a:noFill/>
          <a:ln/>
        </p:spPr>
        <p:txBody>
          <a:bodyPr wrap="square" lIns="0" tIns="0" rIns="0" bIns="0" rtlCol="0" anchor="ctr"/>
          <a:lstStyle/>
          <a:p>
            <a:pPr indent="0" marL="0">
              <a:buNone/>
            </a:pPr>
            <a:r>
              <a:rPr lang="en-US" sz="1200" dirty="0">
                <a:solidFill>
                  <a:schemeClr val="tx1"/>
                </a:solidFill>
              </a:rPr>
              <a:t>レベルごとの必須条件。1つでも欠けると不合格</a:t>
            </a:r>
            <a:endParaRPr lang="en-US" sz="1200" dirty="0"/>
          </a:p>
        </p:txBody>
      </p:sp>
      <p:sp>
        <p:nvSpPr>
          <p:cNvPr id="7" name="Shape 5"/>
          <p:cNvSpPr/>
          <p:nvPr/>
        </p:nvSpPr>
        <p:spPr>
          <a:xfrm>
            <a:off x="6172200" y="1463040"/>
            <a:ext cx="5468112" cy="676656"/>
          </a:xfrm>
          <a:prstGeom prst="roundRect">
            <a:avLst>
              <a:gd name="adj" fmla="val 10811"/>
            </a:avLst>
          </a:prstGeom>
          <a:solidFill>
            <a:schemeClr val="bg2"/>
          </a:solidFill>
          <a:ln w="6350">
            <a:solidFill>
              <a:schemeClr val="bg2"/>
            </a:solidFill>
            <a:prstDash val="solid"/>
          </a:ln>
        </p:spPr>
      </p:sp>
      <p:sp>
        <p:nvSpPr>
          <p:cNvPr id="8" name="Text 6"/>
          <p:cNvSpPr txBox="1"/>
          <p:nvPr/>
        </p:nvSpPr>
        <p:spPr>
          <a:xfrm>
            <a:off x="6355080" y="1463040"/>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Evidence</a:t>
            </a:r>
            <a:endParaRPr lang="en-US" sz="1400" dirty="0"/>
          </a:p>
        </p:txBody>
      </p:sp>
      <p:sp>
        <p:nvSpPr>
          <p:cNvPr id="9" name="Text 7"/>
          <p:cNvSpPr txBox="1"/>
          <p:nvPr/>
        </p:nvSpPr>
        <p:spPr>
          <a:xfrm>
            <a:off x="8092440" y="1463040"/>
            <a:ext cx="3429000" cy="676656"/>
          </a:xfrm>
          <a:prstGeom prst="rect">
            <a:avLst/>
          </a:prstGeom>
          <a:noFill/>
          <a:ln/>
        </p:spPr>
        <p:txBody>
          <a:bodyPr wrap="square" lIns="0" tIns="0" rIns="0" bIns="0" rtlCol="0" anchor="ctr"/>
          <a:lstStyle/>
          <a:p>
            <a:pPr indent="0" marL="0">
              <a:buNone/>
            </a:pPr>
            <a:r>
              <a:rPr lang="en-US" sz="1200" dirty="0">
                <a:solidFill>
                  <a:schemeClr val="tx1"/>
                </a:solidFill>
              </a:rPr>
              <a:t>申請内容から抜き出した、審査に使う事実（利用期間・他者利用・成果など）</a:t>
            </a:r>
            <a:endParaRPr lang="en-US" sz="1200" dirty="0"/>
          </a:p>
        </p:txBody>
      </p:sp>
      <p:sp>
        <p:nvSpPr>
          <p:cNvPr id="10" name="Shape 8"/>
          <p:cNvSpPr/>
          <p:nvPr/>
        </p:nvSpPr>
        <p:spPr>
          <a:xfrm>
            <a:off x="548640" y="2231136"/>
            <a:ext cx="5468112" cy="676656"/>
          </a:xfrm>
          <a:prstGeom prst="roundRect">
            <a:avLst>
              <a:gd name="adj" fmla="val 10811"/>
            </a:avLst>
          </a:prstGeom>
          <a:solidFill>
            <a:schemeClr val="bg2"/>
          </a:solidFill>
          <a:ln w="6350">
            <a:solidFill>
              <a:schemeClr val="bg2"/>
            </a:solidFill>
            <a:prstDash val="solid"/>
          </a:ln>
        </p:spPr>
      </p:sp>
      <p:sp>
        <p:nvSpPr>
          <p:cNvPr id="11" name="Text 9"/>
          <p:cNvSpPr txBox="1"/>
          <p:nvPr/>
        </p:nvSpPr>
        <p:spPr>
          <a:xfrm>
            <a:off x="731520" y="2231136"/>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ルーブリック</a:t>
            </a:r>
            <a:endParaRPr lang="en-US" sz="1400" dirty="0"/>
          </a:p>
        </p:txBody>
      </p:sp>
      <p:sp>
        <p:nvSpPr>
          <p:cNvPr id="12" name="Text 10"/>
          <p:cNvSpPr txBox="1"/>
          <p:nvPr/>
        </p:nvSpPr>
        <p:spPr>
          <a:xfrm>
            <a:off x="2468880" y="2231136"/>
            <a:ext cx="3429000" cy="676656"/>
          </a:xfrm>
          <a:prstGeom prst="rect">
            <a:avLst/>
          </a:prstGeom>
          <a:noFill/>
          <a:ln/>
        </p:spPr>
        <p:txBody>
          <a:bodyPr wrap="square" lIns="0" tIns="0" rIns="0" bIns="0" rtlCol="0" anchor="ctr"/>
          <a:lstStyle/>
          <a:p>
            <a:pPr indent="0" marL="0">
              <a:buNone/>
            </a:pPr>
            <a:r>
              <a:rPr lang="en-US" sz="1200" dirty="0">
                <a:solidFill>
                  <a:schemeClr val="tx1"/>
                </a:solidFill>
              </a:rPr>
              <a:t>3観点×0〜3点の採点基準表。レベルごとに「2点＝期待水準」を定める</a:t>
            </a:r>
            <a:endParaRPr lang="en-US" sz="1200" dirty="0"/>
          </a:p>
        </p:txBody>
      </p:sp>
      <p:sp>
        <p:nvSpPr>
          <p:cNvPr id="13" name="Shape 11"/>
          <p:cNvSpPr/>
          <p:nvPr/>
        </p:nvSpPr>
        <p:spPr>
          <a:xfrm>
            <a:off x="6172200" y="2231136"/>
            <a:ext cx="5468112" cy="676656"/>
          </a:xfrm>
          <a:prstGeom prst="roundRect">
            <a:avLst>
              <a:gd name="adj" fmla="val 10811"/>
            </a:avLst>
          </a:prstGeom>
          <a:solidFill>
            <a:schemeClr val="bg2"/>
          </a:solidFill>
          <a:ln w="6350">
            <a:solidFill>
              <a:schemeClr val="bg2"/>
            </a:solidFill>
            <a:prstDash val="solid"/>
          </a:ln>
        </p:spPr>
      </p:sp>
      <p:sp>
        <p:nvSpPr>
          <p:cNvPr id="14" name="Text 12"/>
          <p:cNvSpPr txBox="1"/>
          <p:nvPr/>
        </p:nvSpPr>
        <p:spPr>
          <a:xfrm>
            <a:off x="6355080" y="2231136"/>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加重平均</a:t>
            </a:r>
            <a:endParaRPr lang="en-US" sz="1400" dirty="0"/>
          </a:p>
        </p:txBody>
      </p:sp>
      <p:sp>
        <p:nvSpPr>
          <p:cNvPr id="15" name="Text 13"/>
          <p:cNvSpPr txBox="1"/>
          <p:nvPr/>
        </p:nvSpPr>
        <p:spPr>
          <a:xfrm>
            <a:off x="8092440" y="2231136"/>
            <a:ext cx="3429000" cy="676656"/>
          </a:xfrm>
          <a:prstGeom prst="rect">
            <a:avLst/>
          </a:prstGeom>
          <a:noFill/>
          <a:ln/>
        </p:spPr>
        <p:txBody>
          <a:bodyPr wrap="square" lIns="0" tIns="0" rIns="0" bIns="0" rtlCol="0" anchor="ctr"/>
          <a:lstStyle/>
          <a:p>
            <a:pPr indent="0" marL="0">
              <a:buNone/>
            </a:pPr>
            <a:r>
              <a:rPr lang="en-US" sz="1200" dirty="0">
                <a:solidFill>
                  <a:schemeClr val="tx1"/>
                </a:solidFill>
              </a:rPr>
              <a:t>各観点の点数×レベル別の重みの合計。2.0以上が合格条件の一つ</a:t>
            </a:r>
            <a:endParaRPr lang="en-US" sz="1200" dirty="0"/>
          </a:p>
        </p:txBody>
      </p:sp>
      <p:sp>
        <p:nvSpPr>
          <p:cNvPr id="16" name="Shape 14"/>
          <p:cNvSpPr/>
          <p:nvPr/>
        </p:nvSpPr>
        <p:spPr>
          <a:xfrm>
            <a:off x="548640" y="2999232"/>
            <a:ext cx="5468112" cy="676656"/>
          </a:xfrm>
          <a:prstGeom prst="roundRect">
            <a:avLst>
              <a:gd name="adj" fmla="val 10811"/>
            </a:avLst>
          </a:prstGeom>
          <a:solidFill>
            <a:schemeClr val="bg2"/>
          </a:solidFill>
          <a:ln w="6350">
            <a:solidFill>
              <a:schemeClr val="bg2"/>
            </a:solidFill>
            <a:prstDash val="solid"/>
          </a:ln>
        </p:spPr>
      </p:sp>
      <p:sp>
        <p:nvSpPr>
          <p:cNvPr id="17" name="Text 15"/>
          <p:cNvSpPr txBox="1"/>
          <p:nvPr/>
        </p:nvSpPr>
        <p:spPr>
          <a:xfrm>
            <a:off x="731520" y="2999232"/>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所属単位</a:t>
            </a:r>
            <a:endParaRPr lang="en-US" sz="1400" dirty="0"/>
          </a:p>
        </p:txBody>
      </p:sp>
      <p:sp>
        <p:nvSpPr>
          <p:cNvPr id="18" name="Text 16"/>
          <p:cNvSpPr txBox="1"/>
          <p:nvPr/>
        </p:nvSpPr>
        <p:spPr>
          <a:xfrm>
            <a:off x="2468880" y="2999232"/>
            <a:ext cx="3429000" cy="676656"/>
          </a:xfrm>
          <a:prstGeom prst="rect">
            <a:avLst/>
          </a:prstGeom>
          <a:noFill/>
          <a:ln/>
        </p:spPr>
        <p:txBody>
          <a:bodyPr wrap="square" lIns="0" tIns="0" rIns="0" bIns="0" rtlCol="0" anchor="ctr"/>
          <a:lstStyle/>
          <a:p>
            <a:pPr indent="0" marL="0">
              <a:buNone/>
            </a:pPr>
            <a:r>
              <a:rPr lang="en-US" sz="1200" dirty="0">
                <a:solidFill>
                  <a:schemeClr val="tx1"/>
                </a:solidFill>
              </a:rPr>
              <a:t>申請者が所属する案件・チーム・部門など、業務上のまとまり</a:t>
            </a:r>
            <a:endParaRPr lang="en-US" sz="1200" dirty="0"/>
          </a:p>
        </p:txBody>
      </p:sp>
      <p:sp>
        <p:nvSpPr>
          <p:cNvPr id="19" name="Shape 17"/>
          <p:cNvSpPr/>
          <p:nvPr/>
        </p:nvSpPr>
        <p:spPr>
          <a:xfrm>
            <a:off x="6172200" y="2999232"/>
            <a:ext cx="5468112" cy="676656"/>
          </a:xfrm>
          <a:prstGeom prst="roundRect">
            <a:avLst>
              <a:gd name="adj" fmla="val 10811"/>
            </a:avLst>
          </a:prstGeom>
          <a:solidFill>
            <a:schemeClr val="bg2"/>
          </a:solidFill>
          <a:ln w="6350">
            <a:solidFill>
              <a:schemeClr val="bg2"/>
            </a:solidFill>
            <a:prstDash val="solid"/>
          </a:ln>
        </p:spPr>
      </p:sp>
      <p:sp>
        <p:nvSpPr>
          <p:cNvPr id="20" name="Text 18"/>
          <p:cNvSpPr txBox="1"/>
          <p:nvPr/>
        </p:nvSpPr>
        <p:spPr>
          <a:xfrm>
            <a:off x="6355080" y="2999232"/>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領域タグ</a:t>
            </a:r>
            <a:endParaRPr lang="en-US" sz="1400" dirty="0"/>
          </a:p>
        </p:txBody>
      </p:sp>
      <p:sp>
        <p:nvSpPr>
          <p:cNvPr id="21" name="Text 19"/>
          <p:cNvSpPr txBox="1"/>
          <p:nvPr/>
        </p:nvSpPr>
        <p:spPr>
          <a:xfrm>
            <a:off x="8092440" y="2999232"/>
            <a:ext cx="3429000" cy="676656"/>
          </a:xfrm>
          <a:prstGeom prst="rect">
            <a:avLst/>
          </a:prstGeom>
          <a:noFill/>
          <a:ln/>
        </p:spPr>
        <p:txBody>
          <a:bodyPr wrap="square" lIns="0" tIns="0" rIns="0" bIns="0" rtlCol="0" anchor="ctr"/>
          <a:lstStyle/>
          <a:p>
            <a:pPr indent="0" marL="0">
              <a:buNone/>
            </a:pPr>
            <a:r>
              <a:rPr lang="en-US" sz="1200" dirty="0">
                <a:solidFill>
                  <a:schemeClr val="tx1"/>
                </a:solidFill>
              </a:rPr>
              <a:t>成果を出した業務領域（開発・インフラ・運用・セキュリティ）</a:t>
            </a:r>
            <a:endParaRPr lang="en-US" sz="1200" dirty="0"/>
          </a:p>
        </p:txBody>
      </p:sp>
      <p:sp>
        <p:nvSpPr>
          <p:cNvPr id="22" name="Shape 20"/>
          <p:cNvSpPr/>
          <p:nvPr/>
        </p:nvSpPr>
        <p:spPr>
          <a:xfrm>
            <a:off x="548640" y="3767328"/>
            <a:ext cx="5468112" cy="676656"/>
          </a:xfrm>
          <a:prstGeom prst="roundRect">
            <a:avLst>
              <a:gd name="adj" fmla="val 10811"/>
            </a:avLst>
          </a:prstGeom>
          <a:solidFill>
            <a:schemeClr val="bg2"/>
          </a:solidFill>
          <a:ln w="6350">
            <a:solidFill>
              <a:schemeClr val="bg2"/>
            </a:solidFill>
            <a:prstDash val="solid"/>
          </a:ln>
        </p:spPr>
      </p:sp>
      <p:sp>
        <p:nvSpPr>
          <p:cNvPr id="23" name="Text 21"/>
          <p:cNvSpPr txBox="1"/>
          <p:nvPr/>
        </p:nvSpPr>
        <p:spPr>
          <a:xfrm>
            <a:off x="731520" y="3767328"/>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承認者</a:t>
            </a:r>
            <a:endParaRPr lang="en-US" sz="1400" dirty="0"/>
          </a:p>
        </p:txBody>
      </p:sp>
      <p:sp>
        <p:nvSpPr>
          <p:cNvPr id="24" name="Text 22"/>
          <p:cNvSpPr txBox="1"/>
          <p:nvPr/>
        </p:nvSpPr>
        <p:spPr>
          <a:xfrm>
            <a:off x="2468880" y="3767328"/>
            <a:ext cx="3429000" cy="676656"/>
          </a:xfrm>
          <a:prstGeom prst="rect">
            <a:avLst/>
          </a:prstGeom>
          <a:noFill/>
          <a:ln/>
        </p:spPr>
        <p:txBody>
          <a:bodyPr wrap="square" lIns="0" tIns="0" rIns="0" bIns="0" rtlCol="0" anchor="ctr"/>
          <a:lstStyle/>
          <a:p>
            <a:pPr indent="0" marL="0">
              <a:buNone/>
            </a:pPr>
            <a:r>
              <a:rPr lang="en-US" sz="1200" dirty="0">
                <a:solidFill>
                  <a:schemeClr val="tx1"/>
                </a:solidFill>
              </a:rPr>
              <a:t>申請者の業務を把握する上司など。事実確認だけを行い、採点はしない</a:t>
            </a:r>
            <a:endParaRPr lang="en-US" sz="1200" dirty="0"/>
          </a:p>
        </p:txBody>
      </p:sp>
      <p:sp>
        <p:nvSpPr>
          <p:cNvPr id="25" name="Shape 23"/>
          <p:cNvSpPr/>
          <p:nvPr/>
        </p:nvSpPr>
        <p:spPr>
          <a:xfrm>
            <a:off x="6172200" y="3767328"/>
            <a:ext cx="5468112" cy="676656"/>
          </a:xfrm>
          <a:prstGeom prst="roundRect">
            <a:avLst>
              <a:gd name="adj" fmla="val 10811"/>
            </a:avLst>
          </a:prstGeom>
          <a:solidFill>
            <a:schemeClr val="bg2"/>
          </a:solidFill>
          <a:ln w="6350">
            <a:solidFill>
              <a:schemeClr val="bg2"/>
            </a:solidFill>
            <a:prstDash val="solid"/>
          </a:ln>
        </p:spPr>
      </p:sp>
      <p:sp>
        <p:nvSpPr>
          <p:cNvPr id="26" name="Text 24"/>
          <p:cNvSpPr txBox="1"/>
          <p:nvPr/>
        </p:nvSpPr>
        <p:spPr>
          <a:xfrm>
            <a:off x="6355080" y="3767328"/>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情報不足・差し戻し</a:t>
            </a:r>
            <a:endParaRPr lang="en-US" sz="1400" dirty="0"/>
          </a:p>
        </p:txBody>
      </p:sp>
      <p:sp>
        <p:nvSpPr>
          <p:cNvPr id="27" name="Text 25"/>
          <p:cNvSpPr txBox="1"/>
          <p:nvPr/>
        </p:nvSpPr>
        <p:spPr>
          <a:xfrm>
            <a:off x="8092440" y="3767328"/>
            <a:ext cx="3429000" cy="676656"/>
          </a:xfrm>
          <a:prstGeom prst="rect">
            <a:avLst/>
          </a:prstGeom>
          <a:noFill/>
          <a:ln/>
        </p:spPr>
        <p:txBody>
          <a:bodyPr wrap="square" lIns="0" tIns="0" rIns="0" bIns="0" rtlCol="0" anchor="ctr"/>
          <a:lstStyle/>
          <a:p>
            <a:pPr indent="0" marL="0">
              <a:buNone/>
            </a:pPr>
            <a:r>
              <a:rPr lang="en-US" sz="1200" dirty="0">
                <a:solidFill>
                  <a:schemeClr val="tx1"/>
                </a:solidFill>
              </a:rPr>
              <a:t>判断材料が足りないときの結果。不合格とは区別する</a:t>
            </a:r>
            <a:endParaRPr lang="en-US" sz="1200" dirty="0"/>
          </a:p>
        </p:txBody>
      </p:sp>
      <p:sp>
        <p:nvSpPr>
          <p:cNvPr id="28" name="Shape 26"/>
          <p:cNvSpPr/>
          <p:nvPr/>
        </p:nvSpPr>
        <p:spPr>
          <a:xfrm>
            <a:off x="548640" y="4535424"/>
            <a:ext cx="5468112" cy="676656"/>
          </a:xfrm>
          <a:prstGeom prst="roundRect">
            <a:avLst>
              <a:gd name="adj" fmla="val 10811"/>
            </a:avLst>
          </a:prstGeom>
          <a:solidFill>
            <a:schemeClr val="bg2"/>
          </a:solidFill>
          <a:ln w="6350">
            <a:solidFill>
              <a:schemeClr val="bg2"/>
            </a:solidFill>
            <a:prstDash val="solid"/>
          </a:ln>
        </p:spPr>
      </p:sp>
      <p:sp>
        <p:nvSpPr>
          <p:cNvPr id="29" name="Text 27"/>
          <p:cNvSpPr txBox="1"/>
          <p:nvPr/>
        </p:nvSpPr>
        <p:spPr>
          <a:xfrm>
            <a:off x="731520" y="4535424"/>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共通テスト</a:t>
            </a:r>
            <a:endParaRPr lang="en-US" sz="1400" dirty="0"/>
          </a:p>
        </p:txBody>
      </p:sp>
      <p:sp>
        <p:nvSpPr>
          <p:cNvPr id="30" name="Text 28"/>
          <p:cNvSpPr txBox="1"/>
          <p:nvPr/>
        </p:nvSpPr>
        <p:spPr>
          <a:xfrm>
            <a:off x="2468880" y="4535424"/>
            <a:ext cx="3429000" cy="676656"/>
          </a:xfrm>
          <a:prstGeom prst="rect">
            <a:avLst/>
          </a:prstGeom>
          <a:noFill/>
          <a:ln/>
        </p:spPr>
        <p:txBody>
          <a:bodyPr wrap="square" lIns="0" tIns="0" rIns="0" bIns="0" rtlCol="0" anchor="ctr"/>
          <a:lstStyle/>
          <a:p>
            <a:pPr indent="0" marL="0">
              <a:buNone/>
            </a:pPr>
            <a:r>
              <a:rPr lang="en-US" sz="1200" dirty="0">
                <a:solidFill>
                  <a:schemeClr val="tx1"/>
                </a:solidFill>
              </a:rPr>
              <a:t>知識を確認するテスト。実務事例審査を申請するための前提条件</a:t>
            </a:r>
            <a:endParaRPr lang="en-US" sz="1200" dirty="0"/>
          </a:p>
        </p:txBody>
      </p:sp>
      <p:sp>
        <p:nvSpPr>
          <p:cNvPr id="31" name="Shape 29"/>
          <p:cNvSpPr/>
          <p:nvPr/>
        </p:nvSpPr>
        <p:spPr>
          <a:xfrm>
            <a:off x="6172200" y="4535424"/>
            <a:ext cx="5468112" cy="676656"/>
          </a:xfrm>
          <a:prstGeom prst="roundRect">
            <a:avLst>
              <a:gd name="adj" fmla="val 10811"/>
            </a:avLst>
          </a:prstGeom>
          <a:solidFill>
            <a:schemeClr val="bg2"/>
          </a:solidFill>
          <a:ln w="6350">
            <a:solidFill>
              <a:schemeClr val="bg2"/>
            </a:solidFill>
            <a:prstDash val="solid"/>
          </a:ln>
        </p:spPr>
      </p:sp>
      <p:sp>
        <p:nvSpPr>
          <p:cNvPr id="32" name="Text 30"/>
          <p:cNvSpPr txBox="1"/>
          <p:nvPr/>
        </p:nvSpPr>
        <p:spPr>
          <a:xfrm>
            <a:off x="6355080" y="4535424"/>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事例ライブラリ</a:t>
            </a:r>
            <a:endParaRPr lang="en-US" sz="1400" dirty="0"/>
          </a:p>
        </p:txBody>
      </p:sp>
      <p:sp>
        <p:nvSpPr>
          <p:cNvPr id="33" name="Text 31"/>
          <p:cNvSpPr txBox="1"/>
          <p:nvPr/>
        </p:nvSpPr>
        <p:spPr>
          <a:xfrm>
            <a:off x="8092440" y="4535424"/>
            <a:ext cx="3429000" cy="676656"/>
          </a:xfrm>
          <a:prstGeom prst="rect">
            <a:avLst/>
          </a:prstGeom>
          <a:noFill/>
          <a:ln/>
        </p:spPr>
        <p:txBody>
          <a:bodyPr wrap="square" lIns="0" tIns="0" rIns="0" bIns="0" rtlCol="0" anchor="ctr"/>
          <a:lstStyle/>
          <a:p>
            <a:pPr indent="0" marL="0">
              <a:buNone/>
            </a:pPr>
            <a:r>
              <a:rPr lang="en-US" sz="1200" dirty="0">
                <a:solidFill>
                  <a:schemeClr val="tx1"/>
                </a:solidFill>
              </a:rPr>
              <a:t>匿名化した合格事例を検索・閲覧できる社内の仕組み</a:t>
            </a:r>
            <a:endParaRPr lang="en-US" sz="1200" dirty="0"/>
          </a:p>
        </p:txBody>
      </p:sp>
      <p:sp>
        <p:nvSpPr>
          <p:cNvPr id="34" name="Shape 32"/>
          <p:cNvSpPr/>
          <p:nvPr/>
        </p:nvSpPr>
        <p:spPr>
          <a:xfrm>
            <a:off x="548640" y="5303520"/>
            <a:ext cx="5468112" cy="676656"/>
          </a:xfrm>
          <a:prstGeom prst="roundRect">
            <a:avLst>
              <a:gd name="adj" fmla="val 10811"/>
            </a:avLst>
          </a:prstGeom>
          <a:solidFill>
            <a:schemeClr val="bg2"/>
          </a:solidFill>
          <a:ln w="6350">
            <a:solidFill>
              <a:schemeClr val="bg2"/>
            </a:solidFill>
            <a:prstDash val="solid"/>
          </a:ln>
        </p:spPr>
      </p:sp>
      <p:sp>
        <p:nvSpPr>
          <p:cNvPr id="35" name="Text 33"/>
          <p:cNvSpPr txBox="1"/>
          <p:nvPr/>
        </p:nvSpPr>
        <p:spPr>
          <a:xfrm>
            <a:off x="731520" y="5303520"/>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教材メタ情報</a:t>
            </a:r>
            <a:endParaRPr lang="en-US" sz="1400" dirty="0"/>
          </a:p>
        </p:txBody>
      </p:sp>
      <p:sp>
        <p:nvSpPr>
          <p:cNvPr id="36" name="Text 34"/>
          <p:cNvSpPr txBox="1"/>
          <p:nvPr/>
        </p:nvSpPr>
        <p:spPr>
          <a:xfrm>
            <a:off x="2468880" y="5303520"/>
            <a:ext cx="3429000" cy="676656"/>
          </a:xfrm>
          <a:prstGeom prst="rect">
            <a:avLst/>
          </a:prstGeom>
          <a:noFill/>
          <a:ln/>
        </p:spPr>
        <p:txBody>
          <a:bodyPr wrap="square" lIns="0" tIns="0" rIns="0" bIns="0" rtlCol="0" anchor="ctr"/>
          <a:lstStyle/>
          <a:p>
            <a:pPr indent="0" marL="0">
              <a:buNone/>
            </a:pPr>
            <a:r>
              <a:rPr lang="en-US" sz="1200" dirty="0">
                <a:solidFill>
                  <a:schemeClr val="tx1"/>
                </a:solidFill>
              </a:rPr>
              <a:t>検証用サンプルに付けた正解（想定判定・Gate・スコア）。審査AIには渡さない</a:t>
            </a:r>
            <a:endParaRPr lang="en-US" sz="1200" dirty="0"/>
          </a:p>
        </p:txBody>
      </p:sp>
      <p:sp>
        <p:nvSpPr>
          <p:cNvPr id="37" name="Shape 35"/>
          <p:cNvSpPr/>
          <p:nvPr/>
        </p:nvSpPr>
        <p:spPr>
          <a:xfrm>
            <a:off x="6172200" y="5303520"/>
            <a:ext cx="5468112" cy="676656"/>
          </a:xfrm>
          <a:prstGeom prst="roundRect">
            <a:avLst>
              <a:gd name="adj" fmla="val 10811"/>
            </a:avLst>
          </a:prstGeom>
          <a:solidFill>
            <a:schemeClr val="bg2"/>
          </a:solidFill>
          <a:ln w="6350">
            <a:solidFill>
              <a:schemeClr val="bg2"/>
            </a:solidFill>
            <a:prstDash val="solid"/>
          </a:ln>
        </p:spPr>
      </p:sp>
      <p:sp>
        <p:nvSpPr>
          <p:cNvPr id="38" name="Text 36"/>
          <p:cNvSpPr txBox="1"/>
          <p:nvPr/>
        </p:nvSpPr>
        <p:spPr>
          <a:xfrm>
            <a:off x="6355080" y="5303520"/>
            <a:ext cx="1737360" cy="676656"/>
          </a:xfrm>
          <a:prstGeom prst="rect">
            <a:avLst/>
          </a:prstGeom>
          <a:noFill/>
          <a:ln/>
        </p:spPr>
        <p:txBody>
          <a:bodyPr wrap="square" lIns="0" tIns="0" rIns="0" bIns="0" rtlCol="0" anchor="ctr"/>
          <a:lstStyle/>
          <a:p>
            <a:pPr indent="0" marL="0">
              <a:buNone/>
            </a:pPr>
            <a:r>
              <a:rPr lang="en-US" sz="1400" b="1" dirty="0">
                <a:solidFill>
                  <a:schemeClr val="accent1"/>
                </a:solidFill>
              </a:rPr>
              <a:t>境界事例</a:t>
            </a:r>
            <a:endParaRPr lang="en-US" sz="1400" dirty="0"/>
          </a:p>
        </p:txBody>
      </p:sp>
      <p:sp>
        <p:nvSpPr>
          <p:cNvPr id="39" name="Text 37"/>
          <p:cNvSpPr txBox="1"/>
          <p:nvPr/>
        </p:nvSpPr>
        <p:spPr>
          <a:xfrm>
            <a:off x="8092440" y="5303520"/>
            <a:ext cx="3429000" cy="676656"/>
          </a:xfrm>
          <a:prstGeom prst="rect">
            <a:avLst/>
          </a:prstGeom>
          <a:noFill/>
          <a:ln/>
        </p:spPr>
        <p:txBody>
          <a:bodyPr wrap="square" lIns="0" tIns="0" rIns="0" bIns="0" rtlCol="0" anchor="ctr"/>
          <a:lstStyle/>
          <a:p>
            <a:pPr indent="0" marL="0">
              <a:buNone/>
            </a:pPr>
            <a:r>
              <a:rPr lang="en-US" sz="1200" dirty="0">
                <a:solidFill>
                  <a:schemeClr val="tx1"/>
                </a:solidFill>
              </a:rPr>
              <a:t>合否の分かれ目付近のサンプル。1項目だけ違う対比ペアで判定の反転を確かめる</a:t>
            </a:r>
            <a:endParaRPr lang="en-US" sz="1200" dirty="0"/>
          </a:p>
        </p:txBody>
      </p:sp>
      <p:sp>
        <p:nvSpPr>
          <p:cNvPr id="25" name="Slide Number Placeholder 0"/>
          <p:cNvSpPr>
            <a:spLocks noGrp="1"/>
          </p:cNvSpPr>
          <p:nvPr>
            <p:ph type="sldNum" sz="quarter" idx="4294967295"/>
          </p:nvPr>
        </p:nvSpPr>
        <p:spPr>
          <a:xfrm>
            <a:off x="11183112" y="647395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Shinsa Teal">
  <a:themeElements>
    <a:clrScheme name="Shinsa Teal">
      <a:dk1>
        <a:srgbClr val="1F2A2E"/>
      </a:dk1>
      <a:lt1>
        <a:srgbClr val="FFFFFF"/>
      </a:lt1>
      <a:dk2>
        <a:srgbClr val="0F3D3E"/>
      </a:dk2>
      <a:lt2>
        <a:srgbClr val="EEF4F2"/>
      </a:lt2>
      <a:accent1>
        <a:srgbClr val="1F6E6B"/>
      </a:accent1>
      <a:accent2>
        <a:srgbClr val="D98A1E"/>
      </a:accent2>
      <a:accent3>
        <a:srgbClr val="5FA89A"/>
      </a:accent3>
      <a:accent4>
        <a:srgbClr val="C0504D"/>
      </a:accent4>
      <a:accent5>
        <a:srgbClr val="7A8A8F"/>
      </a:accent5>
      <a:accent6>
        <a:srgbClr val="3B5B92"/>
      </a:accent6>
      <a:hlink>
        <a:srgbClr val="1F6E6B"/>
      </a:hlink>
      <a:folHlink>
        <a:srgbClr val="3B5B92"/>
      </a:folHlink>
    </a:clrScheme>
    <a:fontScheme name="Shinsa Teal">
      <a:majorFont>
        <a:latin typeface="Meiryo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AI認定制度 実務事例審査 設計解説</dc:title>
  <dc:subject>PptxGenJS Presentation</dc:subject>
  <dc:creator>PptxGenJS</dc:creator>
  <cp:lastModifiedBy>PptxGenJS</cp:lastModifiedBy>
  <cp:revision>1</cp:revision>
  <dcterms:created xsi:type="dcterms:W3CDTF">2026-10-08T08:19:44Z</dcterms:created>
  <dcterms:modified xsi:type="dcterms:W3CDTF">2026-10-08T08:19:44Z</dcterms:modified>
</cp:coreProperties>
</file>